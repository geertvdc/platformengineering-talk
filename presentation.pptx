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6383000" y="10210800"/>
            <a:ext cx="1905000" cy="76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6954500" y="1904999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7335500" y="1904999"/>
            <a:ext cx="152400" cy="152400"/>
          </a:xfrm>
          <a:prstGeom prst="ellipse">
            <a:avLst/>
          </a:prstGeom>
          <a:solidFill>
            <a:srgbClr val="FFFFFF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7716500" y="1904999"/>
            <a:ext cx="152400" cy="152400"/>
          </a:xfrm>
          <a:prstGeom prst="ellipse">
            <a:avLst/>
          </a:prstGeom>
          <a:solidFill>
            <a:srgbClr val="FFFFFF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6954500" y="2286000"/>
            <a:ext cx="152400" cy="152400"/>
          </a:xfrm>
          <a:prstGeom prst="ellipse">
            <a:avLst/>
          </a:prstGeom>
          <a:solidFill>
            <a:srgbClr val="FFFFFF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7335500" y="2286000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7716500" y="2286000"/>
            <a:ext cx="152400" cy="152400"/>
          </a:xfrm>
          <a:prstGeom prst="ellipse">
            <a:avLst/>
          </a:prstGeom>
          <a:solidFill>
            <a:srgbClr val="FFFFFF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37310" y="1049655"/>
            <a:ext cx="6667499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FFFFFF"/>
                </a:solidFill>
                <a:latin typeface="Inter SemiBold"/>
              </a:rPr>
              <a:t>TECHORAMA BELGIUM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2240279"/>
            <a:ext cx="14287500" cy="11715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0" b="1">
                <a:solidFill>
                  <a:srgbClr val="FFFFFF"/>
                </a:solidFill>
                <a:latin typeface="Inter Black"/>
              </a:rPr>
              <a:t>CLOUD NATIVE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3411855"/>
            <a:ext cx="14287500" cy="11715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0" b="1">
                <a:solidFill>
                  <a:srgbClr val="FFFFFF"/>
                </a:solidFill>
                <a:latin typeface="Inter Black"/>
              </a:rPr>
              <a:t>PLATFORM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4583430"/>
            <a:ext cx="14287500" cy="11715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0" b="1">
                <a:solidFill>
                  <a:srgbClr val="666666"/>
                </a:solidFill>
                <a:latin typeface="Inter Black"/>
              </a:rPr>
              <a:t>ENGINEERING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5850255"/>
            <a:ext cx="8572500" cy="8191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444444"/>
                </a:solidFill>
                <a:latin typeface="Inter Black"/>
              </a:rPr>
              <a:t>ON AZURE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143000" y="8229600"/>
            <a:ext cx="761999" cy="381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8288655"/>
            <a:ext cx="8572500" cy="43814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150" b="1">
                <a:solidFill>
                  <a:srgbClr val="FFFFFF"/>
                </a:solidFill>
                <a:latin typeface="Inter ExtraBold"/>
              </a:rPr>
              <a:t>Geert van der Cruijsen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" y="8764905"/>
            <a:ext cx="8572500" cy="2667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 spc="75">
                <a:solidFill>
                  <a:srgbClr val="888888"/>
                </a:solidFill>
                <a:latin typeface="Inter"/>
              </a:rPr>
              <a:t>CEO &amp; Co-founder · Zure NL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243560" y="-1760220"/>
            <a:ext cx="3810000" cy="92201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000" b="1">
                <a:solidFill>
                  <a:srgbClr val="FFFFFF">
                    <a:alpha val="4000"/>
                  </a:srgbClr>
                </a:solidFill>
                <a:latin typeface="Inter Black"/>
              </a:rPr>
              <a:t>!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6383000" y="10096500"/>
            <a:ext cx="1905000" cy="76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6954500" y="1523999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7335500" y="1523999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7716500" y="1523999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954500" y="1904999"/>
            <a:ext cx="152400" cy="152400"/>
          </a:xfrm>
          <a:prstGeom prst="ellipse">
            <a:avLst/>
          </a:prstGeom>
          <a:solidFill>
            <a:srgbClr val="FFFFFF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7335500" y="1904999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7716500" y="1904999"/>
            <a:ext cx="152400" cy="152400"/>
          </a:xfrm>
          <a:prstGeom prst="ellipse">
            <a:avLst/>
          </a:prstGeom>
          <a:solidFill>
            <a:srgbClr val="FFFFFF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6954500" y="2286000"/>
            <a:ext cx="152400" cy="152400"/>
          </a:xfrm>
          <a:prstGeom prst="ellipse">
            <a:avLst/>
          </a:prstGeom>
          <a:solidFill>
            <a:srgbClr val="FFFFFF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7335500" y="2286000"/>
            <a:ext cx="152400" cy="152400"/>
          </a:xfrm>
          <a:prstGeom prst="ellipse">
            <a:avLst/>
          </a:prstGeom>
          <a:solidFill>
            <a:srgbClr val="FFFFFF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7716500" y="2286000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37310" y="1049655"/>
            <a:ext cx="47625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FFFFFF"/>
                </a:solidFill>
                <a:latin typeface="Inter SemiBold"/>
              </a:rPr>
              <a:t>01 / THE CHAOS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3659505"/>
            <a:ext cx="15240000" cy="18859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0" b="1">
                <a:solidFill>
                  <a:srgbClr val="FFFFFF"/>
                </a:solidFill>
                <a:latin typeface="Inter Black"/>
              </a:rPr>
              <a:t>THE CHAOS.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5735955"/>
            <a:ext cx="15240000" cy="6858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666666"/>
                </a:solidFill>
                <a:latin typeface="Inter Black"/>
              </a:rPr>
              <a:t>BEFORE THE PLATFORM.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143000" y="8601075"/>
            <a:ext cx="1143000" cy="571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1560" y="8774430"/>
            <a:ext cx="16002000" cy="2952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50" b="0">
                <a:solidFill>
                  <a:srgbClr val="AAAAAA"/>
                </a:solidFill>
                <a:latin typeface="Inter"/>
              </a:rPr>
              <a:t>What happens when platform teams become the bottleneck — and how to think differently.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433560" y="-1188720"/>
            <a:ext cx="7620000" cy="806767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2500" b="1">
                <a:solidFill>
                  <a:srgbClr val="000000">
                    <a:alpha val="3000"/>
                  </a:srgbClr>
                </a:solidFill>
                <a:latin typeface="Inter Black"/>
              </a:rPr>
              <a:t>01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37310" y="1049655"/>
            <a:ext cx="47625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000000"/>
                </a:solidFill>
                <a:latin typeface="Inter SemiBold"/>
              </a:rPr>
              <a:t>02 / DAY 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3326129"/>
            <a:ext cx="15240000" cy="200977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0" b="1">
                <a:solidFill>
                  <a:srgbClr val="000000"/>
                </a:solidFill>
                <a:latin typeface="Inter Black"/>
              </a:rPr>
              <a:t>DAY ONE.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5583555"/>
            <a:ext cx="7620000" cy="3429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50" b="0">
                <a:solidFill>
                  <a:srgbClr val="AAAAAA"/>
                </a:solidFill>
                <a:latin typeface="Inter"/>
              </a:rPr>
              <a:t>Three things. Zero answers.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7993380"/>
            <a:ext cx="4952999" cy="8286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DDDDDD"/>
                </a:solidFill>
                <a:latin typeface="Inter Black"/>
              </a:rPr>
              <a:t>01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8963025"/>
            <a:ext cx="4952999" cy="190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9003030"/>
            <a:ext cx="4952999" cy="2571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1" spc="150">
                <a:solidFill>
                  <a:srgbClr val="000000"/>
                </a:solidFill>
                <a:latin typeface="Inter ExtraBold"/>
              </a:rPr>
              <a:t>NAMESPACE.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76060" y="7993380"/>
            <a:ext cx="4952999" cy="8286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DDDDDD"/>
                </a:solidFill>
                <a:latin typeface="Inter Black"/>
              </a:rPr>
              <a:t>02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667499" y="8963025"/>
            <a:ext cx="4952999" cy="190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76060" y="9003030"/>
            <a:ext cx="4952999" cy="2571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1" spc="150">
                <a:solidFill>
                  <a:srgbClr val="000000"/>
                </a:solidFill>
                <a:latin typeface="Inter ExtraBold"/>
              </a:rPr>
              <a:t>DATABASE.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100560" y="7993380"/>
            <a:ext cx="4952999" cy="8286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DDDDDD"/>
                </a:solidFill>
                <a:latin typeface="Inter Black"/>
              </a:rPr>
              <a:t>03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2191999" y="8963025"/>
            <a:ext cx="4952999" cy="190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100560" y="9003030"/>
            <a:ext cx="4952999" cy="2571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1" spc="150">
                <a:solidFill>
                  <a:srgbClr val="000000"/>
                </a:solidFill>
                <a:latin typeface="Inter ExtraBold"/>
              </a:rPr>
              <a:t>PIPELINE.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100560" y="-617219"/>
            <a:ext cx="4762500" cy="806767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2500" b="1">
                <a:solidFill>
                  <a:srgbClr val="FFFFFF">
                    <a:alpha val="5000"/>
                  </a:srgbClr>
                </a:solidFill>
                <a:latin typeface="Inter Black"/>
              </a:rPr>
              <a:t>?</a:t>
            </a:r>
          </a:p>
        </p:txBody>
      </p:sp>
      <p:sp>
        <p:nvSpPr>
          <p:cNvPr id="4" name="Rectangle 3"/>
          <p:cNvSpPr/>
          <p:nvPr/>
        </p:nvSpPr>
        <p:spPr>
          <a:xfrm>
            <a:off x="18211800" y="0"/>
            <a:ext cx="762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0096500"/>
            <a:ext cx="1905000" cy="76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71500" y="1523999"/>
            <a:ext cx="152400" cy="152400"/>
          </a:xfrm>
          <a:prstGeom prst="ellipse">
            <a:avLst/>
          </a:prstGeom>
          <a:solidFill>
            <a:srgbClr val="FFFFFF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571500" y="1904999"/>
            <a:ext cx="152400" cy="152400"/>
          </a:xfrm>
          <a:prstGeom prst="ellipse">
            <a:avLst/>
          </a:prstGeom>
          <a:solidFill>
            <a:srgbClr val="FFFFFF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71500" y="2286000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37310" y="1049655"/>
            <a:ext cx="57150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FFFFFF"/>
                </a:solidFill>
                <a:latin typeface="Inter SemiBold"/>
              </a:rPr>
              <a:t>03 / WHO DO YOU CALL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373630"/>
            <a:ext cx="15240000" cy="17145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0" b="1">
                <a:solidFill>
                  <a:srgbClr val="FFFFFF"/>
                </a:solidFill>
                <a:latin typeface="Inter Black"/>
              </a:rPr>
              <a:t>WHO 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4088130"/>
            <a:ext cx="15240000" cy="17145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0" b="1">
                <a:solidFill>
                  <a:srgbClr val="666666"/>
                </a:solidFill>
                <a:latin typeface="Inter Black"/>
              </a:rPr>
              <a:t>YOU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5802630"/>
            <a:ext cx="15240000" cy="17145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0" b="1">
                <a:solidFill>
                  <a:srgbClr val="FFFFFF"/>
                </a:solidFill>
                <a:latin typeface="Inter Black"/>
              </a:rPr>
              <a:t>CALL?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43000" y="8601075"/>
            <a:ext cx="1143000" cy="571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8774430"/>
            <a:ext cx="16002000" cy="2952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50" b="0">
                <a:solidFill>
                  <a:srgbClr val="AAAAAA"/>
                </a:solidFill>
                <a:latin typeface="Inter"/>
              </a:rPr>
              <a:t>When your team needs infrastructure. Today. Not next week.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242560" y="716280"/>
            <a:ext cx="11430000" cy="47625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0" b="1">
                <a:solidFill>
                  <a:srgbClr val="FFFFFF">
                    <a:alpha val="5000"/>
                  </a:srgbClr>
                </a:solidFill>
                <a:latin typeface="Inter Black"/>
              </a:rPr>
              <a:t>QUEUE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6383000" y="10210800"/>
            <a:ext cx="1905000" cy="76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6954500" y="1523999"/>
            <a:ext cx="133350" cy="133350"/>
          </a:xfrm>
          <a:prstGeom prst="ellipse">
            <a:avLst/>
          </a:prstGeom>
          <a:solidFill>
            <a:srgbClr val="FFFFFF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7335500" y="1523999"/>
            <a:ext cx="133350" cy="133350"/>
          </a:xfrm>
          <a:prstGeom prst="ellipse">
            <a:avLst/>
          </a:prstGeom>
          <a:solidFill>
            <a:srgbClr val="FFFFFF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6954500" y="1904999"/>
            <a:ext cx="133350" cy="133350"/>
          </a:xfrm>
          <a:prstGeom prst="ellipse">
            <a:avLst/>
          </a:prstGeom>
          <a:solidFill>
            <a:srgbClr val="FFFFFF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7335500" y="1904999"/>
            <a:ext cx="133350" cy="133350"/>
          </a:xfrm>
          <a:prstGeom prst="ellipse">
            <a:avLst/>
          </a:prstGeom>
          <a:solidFill>
            <a:srgbClr val="FFFFFF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37310" y="1049655"/>
            <a:ext cx="47625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FFFFFF"/>
                </a:solidFill>
                <a:latin typeface="Inter SemiBold"/>
              </a:rPr>
              <a:t>01 / THE CHAOS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859405"/>
            <a:ext cx="8572500" cy="7619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444444"/>
                </a:solidFill>
                <a:latin typeface="Inter ExtraBold"/>
              </a:rPr>
              <a:t>THE TICKET QUEUE.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3554730"/>
            <a:ext cx="7620000" cy="17145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0" b="1">
                <a:solidFill>
                  <a:srgbClr val="FFFFFF"/>
                </a:solidFill>
                <a:latin typeface="Inter Black"/>
              </a:rPr>
              <a:t>SLOW.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5326380"/>
            <a:ext cx="11430000" cy="8572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0" b="1">
                <a:solidFill>
                  <a:srgbClr val="444444"/>
                </a:solidFill>
                <a:latin typeface="Inter Black"/>
              </a:rPr>
              <a:t>INCONSISTENT.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6126480"/>
            <a:ext cx="11430000" cy="11430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600" b="1">
                <a:solidFill>
                  <a:srgbClr val="FFFFFF"/>
                </a:solidFill>
                <a:latin typeface="Inter Black"/>
              </a:rPr>
              <a:t>BOTTLENECK.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8905874"/>
            <a:ext cx="761999" cy="381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9003030"/>
            <a:ext cx="13334999" cy="2857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555555"/>
                </a:solidFill>
                <a:latin typeface="Inter"/>
              </a:rPr>
              <a:t>The ticket queue is where developer velocity goes to die.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4386560" y="7098030"/>
            <a:ext cx="2381250" cy="28575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0" b="1">
                <a:solidFill>
                  <a:srgbClr val="FFFFFF">
                    <a:alpha val="5000"/>
                  </a:srgbClr>
                </a:solidFill>
                <a:latin typeface="Inter Black"/>
              </a:rPr>
              <a:t>*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863060" y="4526280"/>
            <a:ext cx="1143000" cy="13335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00" b="1">
                <a:solidFill>
                  <a:srgbClr val="FFFFFF">
                    <a:alpha val="7000"/>
                  </a:srgbClr>
                </a:solidFill>
                <a:latin typeface="Inter Black"/>
              </a:rPr>
              <a:t>*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624809" y="6145530"/>
            <a:ext cx="1714500" cy="20954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0" b="1">
                <a:solidFill>
                  <a:srgbClr val="FFFFFF">
                    <a:alpha val="10000"/>
                  </a:srgbClr>
                </a:solidFill>
                <a:latin typeface="Inter Black"/>
              </a:rPr>
              <a:t>*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11800" y="0"/>
            <a:ext cx="762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10096500"/>
            <a:ext cx="1905000" cy="76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71500" y="1523999"/>
            <a:ext cx="152400" cy="152400"/>
          </a:xfrm>
          <a:prstGeom prst="ellipse">
            <a:avLst/>
          </a:prstGeom>
          <a:solidFill>
            <a:srgbClr val="FFFFFF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71500" y="1904999"/>
            <a:ext cx="152400" cy="152400"/>
          </a:xfrm>
          <a:prstGeom prst="ellipse">
            <a:avLst/>
          </a:prstGeom>
          <a:solidFill>
            <a:srgbClr val="FFFFFF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71500" y="2286000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37310" y="1049655"/>
            <a:ext cx="47625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FFFFFF"/>
                </a:solidFill>
                <a:latin typeface="Inter SemiBold"/>
              </a:rPr>
              <a:t>01 / THE CHAOS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2621280"/>
            <a:ext cx="14287500" cy="15716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0" b="1">
                <a:solidFill>
                  <a:srgbClr val="FFFFFF"/>
                </a:solidFill>
                <a:latin typeface="Inter Black"/>
              </a:rPr>
              <a:t>EVERY TEAM.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4259580"/>
            <a:ext cx="8572500" cy="15716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0" b="1">
                <a:solidFill>
                  <a:srgbClr val="666666"/>
                </a:solidFill>
                <a:latin typeface="Inter Black"/>
              </a:rPr>
              <a:t>EVERY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5897880"/>
            <a:ext cx="14287500" cy="15716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0" b="1">
                <a:solidFill>
                  <a:srgbClr val="FFFFFF"/>
                </a:solidFill>
                <a:latin typeface="Inter Black"/>
              </a:rPr>
              <a:t>SNOWFLAKE.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8601075"/>
            <a:ext cx="1143000" cy="571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8774430"/>
            <a:ext cx="16002000" cy="32384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50" b="0">
                <a:solidFill>
                  <a:srgbClr val="AAAAAA"/>
                </a:solidFill>
                <a:latin typeface="Inter"/>
              </a:rPr>
              <a:t>No two teams build their infrastructure the same way. The platform team inherits the chaos.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70560" y="1859280"/>
            <a:ext cx="4762500" cy="6191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750" b="1">
                <a:solidFill>
                  <a:srgbClr val="FFFFFF">
                    <a:alpha val="11000"/>
                  </a:srgbClr>
                </a:solidFill>
                <a:latin typeface="Inter ExtraBold"/>
              </a:rPr>
              <a:t>FEATURES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100560" y="1287780"/>
            <a:ext cx="4762500" cy="5143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150" b="1">
                <a:solidFill>
                  <a:srgbClr val="FFFFFF">
                    <a:alpha val="9000"/>
                  </a:srgbClr>
                </a:solidFill>
                <a:latin typeface="Inter ExtraBold"/>
              </a:rPr>
              <a:t>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42560" y="8241029"/>
            <a:ext cx="4762500" cy="4191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50" b="1">
                <a:solidFill>
                  <a:srgbClr val="FFFFFF">
                    <a:alpha val="8000"/>
                  </a:srgbClr>
                </a:solidFill>
                <a:latin typeface="Inter ExtraBold"/>
              </a:rPr>
              <a:t>INFRASTRUCTURE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053060" y="6621780"/>
            <a:ext cx="4762500" cy="5429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FFFFFF">
                    <a:alpha val="10000"/>
                  </a:srgbClr>
                </a:solidFill>
                <a:latin typeface="Inter ExtraBold"/>
              </a:rPr>
              <a:t>COMPLIANCE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0560" y="7764780"/>
            <a:ext cx="4762500" cy="4667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50" b="1">
                <a:solidFill>
                  <a:srgbClr val="FFFFFF">
                    <a:alpha val="9000"/>
                  </a:srgbClr>
                </a:solidFill>
                <a:latin typeface="Inter ExtraBold"/>
              </a:rPr>
              <a:t>MONITORING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76560" y="8907780"/>
            <a:ext cx="4762500" cy="3905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>
                    <a:alpha val="7000"/>
                  </a:srgbClr>
                </a:solidFill>
                <a:latin typeface="Inter ExtraBold"/>
              </a:rPr>
              <a:t>NETWORKING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339059" y="2621280"/>
            <a:ext cx="4762500" cy="7619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650" b="1">
                <a:solidFill>
                  <a:srgbClr val="FFFFFF">
                    <a:alpha val="12000"/>
                  </a:srgbClr>
                </a:solidFill>
                <a:latin typeface="Inter ExtraBold"/>
              </a:rPr>
              <a:t>COST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09810" y="5478780"/>
            <a:ext cx="4762500" cy="37147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50" b="1">
                <a:solidFill>
                  <a:srgbClr val="FFFFFF">
                    <a:alpha val="8000"/>
                  </a:srgbClr>
                </a:solidFill>
                <a:latin typeface="Inter ExtraBold"/>
              </a:rPr>
              <a:t>OBSERVABILITY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6383000" y="10210800"/>
            <a:ext cx="1905000" cy="76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37310" y="1049655"/>
            <a:ext cx="47625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FFFFFF"/>
                </a:solidFill>
                <a:latin typeface="Inter SemiBold"/>
              </a:rPr>
              <a:t>01 / THE CHAOS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2535555"/>
            <a:ext cx="14287500" cy="15716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0" b="1">
                <a:solidFill>
                  <a:srgbClr val="FFFFFF"/>
                </a:solidFill>
                <a:latin typeface="Inter Black"/>
              </a:rPr>
              <a:t>TOO MUCH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4154804"/>
            <a:ext cx="4762500" cy="15716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0" b="1">
                <a:solidFill>
                  <a:srgbClr val="555555"/>
                </a:solidFill>
                <a:latin typeface="Inter Black"/>
              </a:rPr>
              <a:t>TO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5774055"/>
            <a:ext cx="8572500" cy="15716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0" b="1">
                <a:solidFill>
                  <a:srgbClr val="FFFFFF"/>
                </a:solidFill>
                <a:latin typeface="Inter Black"/>
              </a:rPr>
              <a:t>HOLD.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43000" y="8610600"/>
            <a:ext cx="1143000" cy="381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8707755"/>
            <a:ext cx="16002000" cy="59055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666666"/>
                </a:solidFill>
                <a:latin typeface="Inter"/>
              </a:rPr>
              <a:t>Developers are asked to master features, security, and infrastructure simultaneously. Cognitive overload isn’t a weakness — it’s an architectural problem.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72500" y="-2857500"/>
            <a:ext cx="13334999" cy="13335000"/>
          </a:xfrm>
          <a:prstGeom prst="ellipse">
            <a:avLst/>
          </a:prstGeom>
          <a:solidFill>
            <a:srgbClr val="FFFFFF">
              <a:alpha val="3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0210800"/>
            <a:ext cx="1905000" cy="76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6954500" y="7810500"/>
            <a:ext cx="133350" cy="133350"/>
          </a:xfrm>
          <a:prstGeom prst="ellipse">
            <a:avLst/>
          </a:prstGeom>
          <a:solidFill>
            <a:srgbClr val="FFFFFF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7335500" y="7810500"/>
            <a:ext cx="133350" cy="133350"/>
          </a:xfrm>
          <a:prstGeom prst="ellipse">
            <a:avLst/>
          </a:prstGeom>
          <a:solidFill>
            <a:srgbClr val="FFFFFF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7716500" y="7810500"/>
            <a:ext cx="133350" cy="133350"/>
          </a:xfrm>
          <a:prstGeom prst="ellipse">
            <a:avLst/>
          </a:prstGeom>
          <a:solidFill>
            <a:srgbClr val="FFFF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954500" y="8191500"/>
            <a:ext cx="133350" cy="133350"/>
          </a:xfrm>
          <a:prstGeom prst="ellipse">
            <a:avLst/>
          </a:prstGeom>
          <a:solidFill>
            <a:srgbClr val="FFFFFF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7335500" y="8191500"/>
            <a:ext cx="133350" cy="133350"/>
          </a:xfrm>
          <a:prstGeom prst="ellipse">
            <a:avLst/>
          </a:prstGeom>
          <a:solidFill>
            <a:srgbClr val="FFFFFF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7716500" y="8191500"/>
            <a:ext cx="133350" cy="133350"/>
          </a:xfrm>
          <a:prstGeom prst="ellipse">
            <a:avLst/>
          </a:prstGeom>
          <a:solidFill>
            <a:srgbClr val="FFFFFF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37310" y="1049655"/>
            <a:ext cx="47625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FFFFFF"/>
                </a:solidFill>
                <a:latin typeface="Inter SemiBold"/>
              </a:rPr>
              <a:t>01 / THE CHAOS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2954654"/>
            <a:ext cx="13334999" cy="13811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850" b="1">
                <a:solidFill>
                  <a:srgbClr val="FFFFFF"/>
                </a:solidFill>
                <a:latin typeface="Inter Black"/>
              </a:rPr>
              <a:t>WHAT IF THEY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4335780"/>
            <a:ext cx="13334999" cy="13811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850" b="1">
                <a:solidFill>
                  <a:srgbClr val="404040"/>
                </a:solidFill>
                <a:latin typeface="Inter Black"/>
              </a:rPr>
              <a:t>NEVER NEEDED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5716905"/>
            <a:ext cx="13334999" cy="13811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850" b="1">
                <a:solidFill>
                  <a:srgbClr val="FFFFFF"/>
                </a:solidFill>
                <a:latin typeface="Inter Black"/>
              </a:rPr>
              <a:t>TO CALL YOU?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143000" y="8886825"/>
            <a:ext cx="1143000" cy="381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8983980"/>
            <a:ext cx="11430000" cy="32384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555555"/>
                </a:solidFill>
                <a:latin typeface="Inter"/>
              </a:rPr>
              <a:t>The platform team’s job isn’t to say no. It’s to make yes the default.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33060" y="2240279"/>
            <a:ext cx="13334999" cy="61912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7500" b="1">
                <a:solidFill>
                  <a:srgbClr val="000000">
                    <a:alpha val="5000"/>
                  </a:srgbClr>
                </a:solidFill>
                <a:latin typeface="Inter Black"/>
              </a:rPr>
              <a:t>SCALE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6383000" y="10096500"/>
            <a:ext cx="1905000" cy="762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6954500" y="952499"/>
            <a:ext cx="133350" cy="133350"/>
          </a:xfrm>
          <a:prstGeom prst="ellipse">
            <a:avLst/>
          </a:prstGeom>
          <a:solidFill>
            <a:srgbClr val="000000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7335500" y="952499"/>
            <a:ext cx="133350" cy="133350"/>
          </a:xfrm>
          <a:prstGeom prst="ellipse">
            <a:avLst/>
          </a:prstGeom>
          <a:solidFill>
            <a:srgbClr val="000000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7716500" y="952499"/>
            <a:ext cx="133350" cy="133350"/>
          </a:xfrm>
          <a:prstGeom prst="ellipse">
            <a:avLst/>
          </a:prstGeom>
          <a:solidFill>
            <a:srgbClr val="000000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954500" y="1333500"/>
            <a:ext cx="133350" cy="133350"/>
          </a:xfrm>
          <a:prstGeom prst="ellipse">
            <a:avLst/>
          </a:prstGeom>
          <a:solidFill>
            <a:srgbClr val="000000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7335500" y="1333500"/>
            <a:ext cx="133350" cy="133350"/>
          </a:xfrm>
          <a:prstGeom prst="ellipse">
            <a:avLst/>
          </a:prstGeom>
          <a:solidFill>
            <a:srgbClr val="000000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7716500" y="1333500"/>
            <a:ext cx="133350" cy="133350"/>
          </a:xfrm>
          <a:prstGeom prst="ellipse">
            <a:avLst/>
          </a:prstGeom>
          <a:solidFill>
            <a:srgbClr val="000000">
              <a:alpha val="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37310" y="1049655"/>
            <a:ext cx="57150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000000"/>
                </a:solidFill>
                <a:latin typeface="Inter SemiBold"/>
              </a:rPr>
              <a:t>02 / PLATFORM ENGINEERING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3649980"/>
            <a:ext cx="8572500" cy="7143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200" b="1">
                <a:solidFill>
                  <a:srgbClr val="CCCCCC"/>
                </a:solidFill>
                <a:latin typeface="Inter Black"/>
              </a:rPr>
              <a:t>YOU BUILD IT. YOU RUN IT.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43000" y="4562475"/>
            <a:ext cx="1523999" cy="762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783454"/>
            <a:ext cx="11430000" cy="17145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0" b="1">
                <a:solidFill>
                  <a:srgbClr val="000000"/>
                </a:solidFill>
                <a:latin typeface="Inter Black"/>
              </a:rPr>
              <a:t>AT SCALE.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9012555"/>
            <a:ext cx="13334999" cy="2667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888888"/>
                </a:solidFill>
                <a:latin typeface="Inter Medium"/>
              </a:rPr>
              <a:t>Platform engineering is DevOps that scales — built for large teams and large organisations.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81060" y="3288029"/>
            <a:ext cx="10477499" cy="36195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500" b="1">
                <a:solidFill>
                  <a:srgbClr val="FFFFFF">
                    <a:alpha val="6000"/>
                  </a:srgbClr>
                </a:solidFill>
                <a:latin typeface="Inter Black"/>
              </a:rPr>
              <a:t>TICKET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6383000" y="10096500"/>
            <a:ext cx="1905000" cy="762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3144500" y="4286250"/>
            <a:ext cx="4762500" cy="47624"/>
          </a:xfrm>
          <a:prstGeom prst="rect">
            <a:avLst/>
          </a:prstGeom>
          <a:solidFill>
            <a:srgbClr val="333333">
              <a:alpha val="5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4287500" y="4572000"/>
            <a:ext cx="3429000" cy="47624"/>
          </a:xfrm>
          <a:prstGeom prst="rect">
            <a:avLst/>
          </a:prstGeom>
          <a:solidFill>
            <a:srgbClr val="333333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5240000" y="4857750"/>
            <a:ext cx="2095499" cy="47624"/>
          </a:xfrm>
          <a:prstGeom prst="rect">
            <a:avLst/>
          </a:prstGeom>
          <a:solidFill>
            <a:srgbClr val="333333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37310" y="1049655"/>
            <a:ext cx="57150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666666"/>
                </a:solidFill>
                <a:latin typeface="Inter SemiBold"/>
              </a:rPr>
              <a:t>02 / PLATFORM ENGINEERING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954780"/>
            <a:ext cx="11430000" cy="15430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0" b="1">
                <a:solidFill>
                  <a:srgbClr val="FFFFFF"/>
                </a:solidFill>
                <a:latin typeface="Inter Black"/>
              </a:rPr>
              <a:t>A PRODUCT.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5602605"/>
            <a:ext cx="11430000" cy="7143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200" b="1">
                <a:solidFill>
                  <a:srgbClr val="444444"/>
                </a:solidFill>
                <a:latin typeface="Inter Black"/>
              </a:rPr>
              <a:t>NOT A TICKET QUEUE.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9012555"/>
            <a:ext cx="8572500" cy="2667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75">
                <a:solidFill>
                  <a:srgbClr val="555555"/>
                </a:solidFill>
                <a:latin typeface="Inter Medium"/>
              </a:rPr>
              <a:t>The platform team ships. Developers self-serve.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433560" y="2335530"/>
            <a:ext cx="10477499" cy="72390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5000" b="1">
                <a:solidFill>
                  <a:srgbClr val="FFFFFF">
                    <a:alpha val="4000"/>
                  </a:srgbClr>
                </a:solidFill>
                <a:latin typeface="Inter Black"/>
              </a:rPr>
              <a:t>IDP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6383000" y="10096500"/>
            <a:ext cx="1905000" cy="76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37310" y="1049655"/>
            <a:ext cx="57150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666666"/>
                </a:solidFill>
                <a:latin typeface="Inter SemiBold"/>
              </a:rPr>
              <a:t>02 / PLATFORM ENGINEERING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507105"/>
            <a:ext cx="5715000" cy="13811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0" b="1">
                <a:solidFill>
                  <a:srgbClr val="FFFFFF"/>
                </a:solidFill>
                <a:latin typeface="Inter Black"/>
              </a:rPr>
              <a:t>THE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4850130"/>
            <a:ext cx="10477499" cy="13811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0" b="1">
                <a:solidFill>
                  <a:srgbClr val="FFFFFF"/>
                </a:solidFill>
                <a:latin typeface="Inter Black"/>
              </a:rPr>
              <a:t>PLATFORM.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8593455"/>
            <a:ext cx="13334999" cy="2857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AAAAAA"/>
                </a:solidFill>
                <a:latin typeface="Inter"/>
              </a:rPr>
              <a:t>A product your developers consume — not a system they wait for.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9003030"/>
            <a:ext cx="13334999" cy="2857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666666"/>
                </a:solidFill>
                <a:latin typeface="Inter"/>
              </a:rPr>
              <a:t>Abstractions, golden path, self-service — built once, used by every team.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19060" y="2811779"/>
            <a:ext cx="12382500" cy="61912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7500" b="1">
                <a:solidFill>
                  <a:srgbClr val="000000">
                    <a:alpha val="5000"/>
                  </a:srgbClr>
                </a:solidFill>
                <a:latin typeface="Inter Black"/>
              </a:rPr>
              <a:t>PATH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6383000" y="10096500"/>
            <a:ext cx="1905000" cy="762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37310" y="1049655"/>
            <a:ext cx="57150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000000"/>
                </a:solidFill>
                <a:latin typeface="Inter SemiBold"/>
              </a:rPr>
              <a:t>02 / PLATFORM ENGINEERING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4021454"/>
            <a:ext cx="12382500" cy="13811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0" b="1">
                <a:solidFill>
                  <a:srgbClr val="000000"/>
                </a:solidFill>
                <a:latin typeface="Inter Black"/>
              </a:rPr>
              <a:t>OPINIONATED.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5478780"/>
            <a:ext cx="9525000" cy="74294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00" b="1">
                <a:solidFill>
                  <a:srgbClr val="CCCCCC"/>
                </a:solidFill>
                <a:latin typeface="Inter Black"/>
              </a:rPr>
              <a:t>NOT MANDATORY.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9003030"/>
            <a:ext cx="9525000" cy="2857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888888"/>
                </a:solidFill>
                <a:latin typeface="Inter"/>
              </a:rPr>
              <a:t>Make the right thing easy. Make the wrong thing intentional.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338560" y="430530"/>
            <a:ext cx="9525000" cy="83819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2500" b="1">
                <a:solidFill>
                  <a:srgbClr val="FFFFFF">
                    <a:alpha val="5000"/>
                  </a:srgbClr>
                </a:solidFill>
                <a:latin typeface="Inter Black"/>
              </a:rPr>
              <a:t>03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6383000" y="10096500"/>
            <a:ext cx="1905000" cy="76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37310" y="1049655"/>
            <a:ext cx="57150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666666"/>
                </a:solidFill>
                <a:latin typeface="Inter SemiBold"/>
              </a:rPr>
              <a:t>02 / PLATFORM ENGINEERING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544955"/>
            <a:ext cx="8572500" cy="8762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0" b="1">
                <a:solidFill>
                  <a:srgbClr val="FFFFFF"/>
                </a:solidFill>
                <a:latin typeface="Inter Black"/>
              </a:rPr>
              <a:t>SELF-SERVICE.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611755"/>
            <a:ext cx="7620000" cy="24764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666666"/>
                </a:solidFill>
                <a:latin typeface="Inter"/>
              </a:rPr>
              <a:t>Developers provision what they need — on demand.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3219449"/>
            <a:ext cx="6838950" cy="1905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3497579"/>
            <a:ext cx="9525000" cy="8762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0" b="1">
                <a:solidFill>
                  <a:srgbClr val="FFFFFF"/>
                </a:solidFill>
                <a:latin typeface="Inter Black"/>
              </a:rPr>
              <a:t>CONSISTENCY.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4564380"/>
            <a:ext cx="8572500" cy="24764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666666"/>
                </a:solidFill>
                <a:latin typeface="Inter"/>
              </a:rPr>
              <a:t>Every team’s infrastructure follows the same platform standards.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143000" y="5172075"/>
            <a:ext cx="6838950" cy="1905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5450205"/>
            <a:ext cx="8572500" cy="8762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0" b="1">
                <a:solidFill>
                  <a:srgbClr val="FFFFFF"/>
                </a:solidFill>
                <a:latin typeface="Inter Black"/>
              </a:rPr>
              <a:t>BOUNDARIES.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6517005"/>
            <a:ext cx="7620000" cy="24764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55555"/>
                </a:solidFill>
                <a:latin typeface="Inter"/>
              </a:rPr>
              <a:t>Clear ownership between platform team and product team.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386060" y="430530"/>
            <a:ext cx="13334999" cy="76199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2500" b="1">
                <a:solidFill>
                  <a:srgbClr val="FFFFFF">
                    <a:alpha val="5000"/>
                  </a:srgbClr>
                </a:solidFill>
                <a:latin typeface="Inter Black"/>
              </a:rPr>
              <a:t>API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6383000" y="10096500"/>
            <a:ext cx="1905000" cy="76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6954500" y="1523999"/>
            <a:ext cx="133350" cy="13335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7335500" y="1523999"/>
            <a:ext cx="133350" cy="133350"/>
          </a:xfrm>
          <a:prstGeom prst="ellipse">
            <a:avLst/>
          </a:prstGeom>
          <a:solidFill>
            <a:srgbClr val="FFFFFF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7716500" y="1523999"/>
            <a:ext cx="133350" cy="133350"/>
          </a:xfrm>
          <a:prstGeom prst="ellipse">
            <a:avLst/>
          </a:prstGeom>
          <a:solidFill>
            <a:srgbClr val="FFFFFF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954500" y="1904999"/>
            <a:ext cx="133350" cy="133350"/>
          </a:xfrm>
          <a:prstGeom prst="ellipse">
            <a:avLst/>
          </a:prstGeom>
          <a:solidFill>
            <a:srgbClr val="FFFFFF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7335500" y="1904999"/>
            <a:ext cx="133350" cy="13335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7716500" y="1904999"/>
            <a:ext cx="133350" cy="133350"/>
          </a:xfrm>
          <a:prstGeom prst="ellipse">
            <a:avLst/>
          </a:prstGeom>
          <a:solidFill>
            <a:srgbClr val="FFFFFF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37310" y="1049655"/>
            <a:ext cx="57150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888888"/>
                </a:solidFill>
                <a:latin typeface="Inter SemiBold"/>
              </a:rPr>
              <a:t>03 / CLOUD NATIVE + GITOPS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6717030"/>
            <a:ext cx="16192499" cy="16764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0" b="1">
                <a:solidFill>
                  <a:srgbClr val="FFFFFF"/>
                </a:solidFill>
                <a:latin typeface="Inter Black"/>
              </a:rPr>
              <a:t>KUBERNETES.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8469630"/>
            <a:ext cx="16192499" cy="8191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0" b="1">
                <a:solidFill>
                  <a:srgbClr val="666666"/>
                </a:solidFill>
                <a:latin typeface="Inter Black"/>
              </a:rPr>
              <a:t>AN API. NOT A SCHEDULER.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242560" y="2811779"/>
            <a:ext cx="13334999" cy="47625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500" b="1">
                <a:solidFill>
                  <a:srgbClr val="000000">
                    <a:alpha val="5000"/>
                  </a:srgbClr>
                </a:solidFill>
                <a:latin typeface="Inter Black"/>
              </a:rPr>
              <a:t>INTENT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18211800" y="0"/>
            <a:ext cx="762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0096500"/>
            <a:ext cx="1905000" cy="762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6954500" y="1523999"/>
            <a:ext cx="133350" cy="133350"/>
          </a:xfrm>
          <a:prstGeom prst="ellipse">
            <a:avLst/>
          </a:prstGeom>
          <a:solidFill>
            <a:srgbClr val="000000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7335500" y="1523999"/>
            <a:ext cx="133350" cy="133350"/>
          </a:xfrm>
          <a:prstGeom prst="ellipse">
            <a:avLst/>
          </a:prstGeom>
          <a:solidFill>
            <a:srgbClr val="000000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7716500" y="1523999"/>
            <a:ext cx="133350" cy="133350"/>
          </a:xfrm>
          <a:prstGeom prst="ellipse">
            <a:avLst/>
          </a:prstGeom>
          <a:solidFill>
            <a:srgbClr val="000000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954500" y="1904999"/>
            <a:ext cx="133350" cy="133350"/>
          </a:xfrm>
          <a:prstGeom prst="ellipse">
            <a:avLst/>
          </a:prstGeom>
          <a:solidFill>
            <a:srgbClr val="000000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7335500" y="1904999"/>
            <a:ext cx="133350" cy="133350"/>
          </a:xfrm>
          <a:prstGeom prst="ellipse">
            <a:avLst/>
          </a:prstGeom>
          <a:solidFill>
            <a:srgbClr val="000000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37310" y="1049655"/>
            <a:ext cx="57150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000000"/>
                </a:solidFill>
                <a:latin typeface="Inter SemiBold"/>
              </a:rPr>
              <a:t>03 / CLOUD NATIVE + GITOPS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6821805"/>
            <a:ext cx="16192499" cy="13430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0" b="1">
                <a:solidFill>
                  <a:srgbClr val="000000"/>
                </a:solidFill>
                <a:latin typeface="Inter Black"/>
              </a:rPr>
              <a:t>YOU DECLARE IT.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8374380"/>
            <a:ext cx="16192499" cy="10096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0" b="1">
                <a:solidFill>
                  <a:srgbClr val="CCCCCC"/>
                </a:solidFill>
                <a:latin typeface="Inter Black"/>
              </a:rPr>
              <a:t>KUBERNETES CONVERGES IT.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6383000" y="10096500"/>
            <a:ext cx="1905000" cy="76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100560" y="1287780"/>
            <a:ext cx="7620000" cy="19049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FFFFFF">
                    <a:alpha val="10000"/>
                  </a:srgbClr>
                </a:solidFill>
                <a:latin typeface="Inter ExtraBold"/>
              </a:rPr>
              <a:t>ARGO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0560" y="1859280"/>
            <a:ext cx="7620000" cy="19049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>
                    <a:alpha val="8000"/>
                  </a:srgbClr>
                </a:solidFill>
                <a:latin typeface="Inter ExtraBold"/>
              </a:rPr>
              <a:t>PROMETHEUS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39059" y="2430780"/>
            <a:ext cx="7620000" cy="19049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50" b="1">
                <a:solidFill>
                  <a:srgbClr val="FFFFFF">
                    <a:alpha val="10000"/>
                  </a:srgbClr>
                </a:solidFill>
                <a:latin typeface="Inter ExtraBold"/>
              </a:rPr>
              <a:t>ISTIO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42060" y="7764780"/>
            <a:ext cx="7620000" cy="19049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650" b="1">
                <a:solidFill>
                  <a:srgbClr val="FFFFFF">
                    <a:alpha val="10000"/>
                  </a:srgbClr>
                </a:solidFill>
                <a:latin typeface="Inter ExtraBold"/>
              </a:rPr>
              <a:t>FLUX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910060" y="8336280"/>
            <a:ext cx="7620000" cy="19049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FFFFFF">
                    <a:alpha val="8000"/>
                  </a:srgbClr>
                </a:solidFill>
                <a:latin typeface="Inter ExtraBold"/>
              </a:rPr>
              <a:t>CROSSPLANE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42560" y="8717280"/>
            <a:ext cx="7620000" cy="19049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50" b="1">
                <a:solidFill>
                  <a:srgbClr val="FFFFFF">
                    <a:alpha val="7000"/>
                  </a:srgbClr>
                </a:solidFill>
                <a:latin typeface="Inter ExtraBold"/>
              </a:rPr>
              <a:t>OPENTELEMETRY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96060" y="5288280"/>
            <a:ext cx="7620000" cy="19049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50" b="1">
                <a:solidFill>
                  <a:srgbClr val="FFFFFF">
                    <a:alpha val="9000"/>
                  </a:srgbClr>
                </a:solidFill>
                <a:latin typeface="Inter ExtraBold"/>
              </a:rPr>
              <a:t>CILIUM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86060" y="5478780"/>
            <a:ext cx="7620000" cy="19049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FFFFFF">
                    <a:alpha val="10000"/>
                  </a:srgbClr>
                </a:solidFill>
                <a:latin typeface="Inter ExtraBold"/>
              </a:rPr>
              <a:t>OPA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0060" y="5288280"/>
            <a:ext cx="7620000" cy="19049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50" b="1">
                <a:solidFill>
                  <a:srgbClr val="FFFFFF">
                    <a:alpha val="7000"/>
                  </a:srgbClr>
                </a:solidFill>
                <a:latin typeface="Inter ExtraBold"/>
              </a:rPr>
              <a:t>KEDA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910559" y="7383780"/>
            <a:ext cx="7620000" cy="19049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50" b="1">
                <a:solidFill>
                  <a:srgbClr val="FFFFFF">
                    <a:alpha val="8000"/>
                  </a:srgbClr>
                </a:solidFill>
                <a:latin typeface="Inter ExtraBold"/>
              </a:rPr>
              <a:t>BACKSTAGE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37310" y="1049655"/>
            <a:ext cx="57150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888888"/>
                </a:solidFill>
                <a:latin typeface="Inter SemiBold"/>
              </a:rPr>
              <a:t>03 / CLOUD NATIVE + GITOPS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6717030"/>
            <a:ext cx="16192499" cy="16764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0" b="1">
                <a:solidFill>
                  <a:srgbClr val="FFFFFF"/>
                </a:solidFill>
                <a:latin typeface="Inter Black"/>
              </a:rPr>
              <a:t>CNCF TOOLKIT.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8469630"/>
            <a:ext cx="16192499" cy="8191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0" b="1">
                <a:solidFill>
                  <a:srgbClr val="555555"/>
                </a:solidFill>
                <a:latin typeface="Inter Black"/>
              </a:rPr>
              <a:t>BUILD ON KUBERNETES.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52060" y="3192779"/>
            <a:ext cx="13334999" cy="57150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500" b="1">
                <a:solidFill>
                  <a:srgbClr val="000000">
                    <a:alpha val="5000"/>
                  </a:srgbClr>
                </a:solidFill>
                <a:latin typeface="Inter Black"/>
              </a:rPr>
              <a:t>GITOPS</a:t>
            </a:r>
          </a:p>
        </p:txBody>
      </p:sp>
      <p:sp>
        <p:nvSpPr>
          <p:cNvPr id="4" name="Rectangle 3"/>
          <p:cNvSpPr/>
          <p:nvPr/>
        </p:nvSpPr>
        <p:spPr>
          <a:xfrm>
            <a:off x="18211800" y="0"/>
            <a:ext cx="762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0096500"/>
            <a:ext cx="1905000" cy="762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37310" y="1049655"/>
            <a:ext cx="57150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000000"/>
                </a:solidFill>
                <a:latin typeface="Inter SemiBold"/>
              </a:rPr>
              <a:t>03 / CLOUD NATIVE + GITOPS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392555"/>
            <a:ext cx="16192499" cy="13430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0" b="1">
                <a:solidFill>
                  <a:srgbClr val="000000"/>
                </a:solidFill>
                <a:latin typeface="Inter Black"/>
              </a:rPr>
              <a:t>GIT 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726055"/>
            <a:ext cx="16192499" cy="13430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0" b="1">
                <a:solidFill>
                  <a:srgbClr val="CCCCCC"/>
                </a:solidFill>
                <a:latin typeface="Inter Black"/>
              </a:rPr>
              <a:t>THE TRUTH.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421505"/>
            <a:ext cx="3619499" cy="4191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000000"/>
                </a:solidFill>
                <a:latin typeface="Inter Black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4869180"/>
            <a:ext cx="3619499" cy="2571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000000"/>
                </a:solidFill>
                <a:latin typeface="Inter ExtraBold"/>
              </a:rPr>
              <a:t>DECLARATIVE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5164455"/>
            <a:ext cx="3619499" cy="380999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66666"/>
                </a:solidFill>
                <a:latin typeface="Inter Medium"/>
              </a:rPr>
              <a:t>Desired state as data, not steps.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9659" y="4421505"/>
            <a:ext cx="3619499" cy="4191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000000"/>
                </a:solidFill>
                <a:latin typeface="Inter Black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99659" y="4869180"/>
            <a:ext cx="3619499" cy="2571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000000"/>
                </a:solidFill>
                <a:latin typeface="Inter ExtraBold"/>
              </a:rPr>
              <a:t>VERSIONED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99659" y="5164455"/>
            <a:ext cx="3619499" cy="380999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66666"/>
                </a:solidFill>
                <a:latin typeface="Inter Medium"/>
              </a:rPr>
              <a:t>Every change is a Git commit.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47760" y="4421505"/>
            <a:ext cx="3619499" cy="4191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000000"/>
                </a:solidFill>
                <a:latin typeface="Inter Black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47760" y="4869180"/>
            <a:ext cx="3619499" cy="2571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000000"/>
                </a:solidFill>
                <a:latin typeface="Inter ExtraBold"/>
              </a:rPr>
              <a:t>PULLED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47760" y="5164455"/>
            <a:ext cx="3619499" cy="380999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66666"/>
                </a:solidFill>
                <a:latin typeface="Inter Medium"/>
              </a:rPr>
              <a:t>The cluster fetches; CI never pushes.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595860" y="4421505"/>
            <a:ext cx="3619499" cy="4191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000000"/>
                </a:solidFill>
                <a:latin typeface="Inter Black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595860" y="4869180"/>
            <a:ext cx="3619499" cy="2571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000000"/>
                </a:solidFill>
                <a:latin typeface="Inter ExtraBold"/>
              </a:rPr>
              <a:t>RECONCILED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595860" y="5164455"/>
            <a:ext cx="3619499" cy="380999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66666"/>
                </a:solidFill>
                <a:latin typeface="Inter Medium"/>
              </a:rPr>
              <a:t>Drift heals itself, continuously.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242560" y="2240279"/>
            <a:ext cx="13334999" cy="66675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9000" b="1">
                <a:solidFill>
                  <a:srgbClr val="FFFFFF">
                    <a:alpha val="5000"/>
                  </a:srgbClr>
                </a:solidFill>
                <a:latin typeface="Inter Black"/>
              </a:rPr>
              <a:t>ARGO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6383000" y="10096500"/>
            <a:ext cx="1905000" cy="76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6954500" y="1523999"/>
            <a:ext cx="133350" cy="13335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7335500" y="1523999"/>
            <a:ext cx="133350" cy="133350"/>
          </a:xfrm>
          <a:prstGeom prst="ellipse">
            <a:avLst/>
          </a:prstGeom>
          <a:solidFill>
            <a:srgbClr val="FFFFFF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7716500" y="1523999"/>
            <a:ext cx="133350" cy="133350"/>
          </a:xfrm>
          <a:prstGeom prst="ellipse">
            <a:avLst/>
          </a:prstGeom>
          <a:solidFill>
            <a:srgbClr val="FFFFFF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37310" y="1049655"/>
            <a:ext cx="6667499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888888"/>
                </a:solidFill>
                <a:latin typeface="Inter SemiBold"/>
              </a:rPr>
              <a:t>03 / CLOUD NATIVE + GITOPS  ·  DEMO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6812280"/>
            <a:ext cx="16192499" cy="16764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0" b="1">
                <a:solidFill>
                  <a:srgbClr val="FFFFFF"/>
                </a:solidFill>
                <a:latin typeface="Inter Black"/>
              </a:rPr>
              <a:t>ARGO CD.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8564880"/>
            <a:ext cx="16192499" cy="7239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00" b="1">
                <a:solidFill>
                  <a:srgbClr val="666666"/>
                </a:solidFill>
                <a:latin typeface="Inter Black"/>
              </a:rPr>
              <a:t>DRIFT? RECONCILE.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23560" y="2621280"/>
            <a:ext cx="13334999" cy="57150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500" b="1">
                <a:solidFill>
                  <a:srgbClr val="000000">
                    <a:alpha val="5000"/>
                  </a:srgbClr>
                </a:solidFill>
                <a:latin typeface="Inter Black"/>
              </a:rPr>
              <a:t>AZURE</a:t>
            </a:r>
          </a:p>
        </p:txBody>
      </p:sp>
      <p:sp>
        <p:nvSpPr>
          <p:cNvPr id="4" name="Oval 3"/>
          <p:cNvSpPr/>
          <p:nvPr/>
        </p:nvSpPr>
        <p:spPr>
          <a:xfrm>
            <a:off x="11430000" y="-1904999"/>
            <a:ext cx="11430000" cy="11430000"/>
          </a:xfrm>
          <a:prstGeom prst="ellipse">
            <a:avLst/>
          </a:prstGeom>
          <a:solidFill>
            <a:srgbClr val="000000">
              <a:alpha val="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211800" y="0"/>
            <a:ext cx="762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10096500"/>
            <a:ext cx="1905000" cy="762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6954500" y="1523999"/>
            <a:ext cx="133350" cy="133350"/>
          </a:xfrm>
          <a:prstGeom prst="ellipse">
            <a:avLst/>
          </a:prstGeom>
          <a:solidFill>
            <a:srgbClr val="000000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7335500" y="1523999"/>
            <a:ext cx="133350" cy="133350"/>
          </a:xfrm>
          <a:prstGeom prst="ellipse">
            <a:avLst/>
          </a:prstGeom>
          <a:solidFill>
            <a:srgbClr val="000000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7716500" y="1523999"/>
            <a:ext cx="133350" cy="133350"/>
          </a:xfrm>
          <a:prstGeom prst="ellipse">
            <a:avLst/>
          </a:prstGeom>
          <a:solidFill>
            <a:srgbClr val="000000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37310" y="1049655"/>
            <a:ext cx="57150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000000"/>
                </a:solidFill>
                <a:latin typeface="Inter SemiBold"/>
              </a:rPr>
              <a:t>03 / CLOUD NATIVE + GITOPS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6107430"/>
            <a:ext cx="16192499" cy="11715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0" b="1">
                <a:solidFill>
                  <a:srgbClr val="000000"/>
                </a:solidFill>
                <a:latin typeface="Inter Black"/>
              </a:rPr>
              <a:t>AKS IS WHERE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7259955"/>
            <a:ext cx="16192499" cy="11715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0" b="1">
                <a:solidFill>
                  <a:srgbClr val="000000"/>
                </a:solidFill>
                <a:latin typeface="Inter Black"/>
              </a:rPr>
              <a:t>IT RUNS.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8507730"/>
            <a:ext cx="16192499" cy="6858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00" b="1">
                <a:solidFill>
                  <a:srgbClr val="CCCCCC"/>
                </a:solidFill>
                <a:latin typeface="Inter Black"/>
              </a:rPr>
              <a:t>NOT WHERE IT STOPS.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37310" y="-617219"/>
            <a:ext cx="13334999" cy="66675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0" b="1">
                <a:solidFill>
                  <a:srgbClr val="FFFFFF">
                    <a:alpha val="4000"/>
                  </a:srgbClr>
                </a:solidFill>
                <a:latin typeface="Inter Black"/>
              </a:rPr>
              <a:t>LOOP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6306800" y="10134600"/>
            <a:ext cx="1905000" cy="76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37310" y="1049655"/>
            <a:ext cx="6667499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FFFFFF"/>
                </a:solidFill>
                <a:latin typeface="Inter SemiBold"/>
              </a:rPr>
              <a:t>SECTION 3  ·  GITOPS ARCHITECTURE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068705"/>
            <a:ext cx="8572500" cy="8762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00" b="1">
                <a:solidFill>
                  <a:srgbClr val="FFFFFF"/>
                </a:solidFill>
                <a:latin typeface="Inter Black"/>
              </a:rPr>
              <a:t>HOW GITOPS WORKS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51810" y="3097530"/>
            <a:ext cx="2095499" cy="1904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5" b="0">
                <a:solidFill>
                  <a:srgbClr val="FFFFFF">
                    <a:alpha val="47000"/>
                  </a:srgbClr>
                </a:solidFill>
                <a:latin typeface="Inter"/>
              </a:rPr>
              <a:t>1  git push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66509" y="3097530"/>
            <a:ext cx="2095499" cy="1904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5" b="0">
                <a:solidFill>
                  <a:srgbClr val="FFFFFF">
                    <a:alpha val="47000"/>
                  </a:srgbClr>
                </a:solidFill>
                <a:latin typeface="Inter"/>
              </a:rPr>
              <a:t>2  argo pulls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9410" y="3097530"/>
            <a:ext cx="1714500" cy="1904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5" b="0">
                <a:solidFill>
                  <a:srgbClr val="FFFFFF">
                    <a:alpha val="47000"/>
                  </a:srgbClr>
                </a:solidFill>
                <a:latin typeface="Inter"/>
              </a:rPr>
              <a:t>3  apply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4210" y="3449955"/>
            <a:ext cx="761999" cy="5715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0">
                <a:solidFill>
                  <a:srgbClr val="FFFFFF">
                    <a:alpha val="33000"/>
                  </a:srgbClr>
                </a:solidFill>
                <a:latin typeface="Inter"/>
              </a:rPr>
              <a:t>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33210" y="3449955"/>
            <a:ext cx="761999" cy="5715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0">
                <a:solidFill>
                  <a:srgbClr val="FFFFFF">
                    <a:alpha val="33000"/>
                  </a:srgbClr>
                </a:solidFill>
                <a:latin typeface="Inter"/>
              </a:rPr>
              <a:t>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43235" y="3449955"/>
            <a:ext cx="761999" cy="5715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0">
                <a:solidFill>
                  <a:srgbClr val="FFFFFF">
                    <a:alpha val="33000"/>
                  </a:srgbClr>
                </a:solidFill>
                <a:latin typeface="Inter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43000" y="2943225"/>
            <a:ext cx="2095499" cy="1523999"/>
          </a:xfrm>
          <a:prstGeom prst="rect">
            <a:avLst/>
          </a:prstGeom>
          <a:noFill/>
          <a:ln w="9525">
            <a:solidFill>
              <a:srgbClr val="FFFFFF">
                <a:alpha val="27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095750" y="2943225"/>
            <a:ext cx="2476499" cy="1523999"/>
          </a:xfrm>
          <a:prstGeom prst="rect">
            <a:avLst/>
          </a:prstGeom>
          <a:noFill/>
          <a:ln w="9525">
            <a:solidFill>
              <a:srgbClr val="FFFFFF">
                <a:alpha val="27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620000" y="2752725"/>
            <a:ext cx="2857500" cy="190499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1620499" y="2562225"/>
            <a:ext cx="5334000" cy="2286000"/>
          </a:xfrm>
          <a:prstGeom prst="rect">
            <a:avLst/>
          </a:prstGeom>
          <a:noFill/>
          <a:ln w="9525">
            <a:solidFill>
              <a:srgbClr val="FFFFFF">
                <a:alpha val="27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61135" y="3526155"/>
            <a:ext cx="1333500" cy="1904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CCCCCC"/>
                </a:solidFill>
                <a:latin typeface="Inter Bold"/>
              </a:rPr>
              <a:t>DEVELOPER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04385" y="3526155"/>
            <a:ext cx="1143000" cy="1904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CCCCCC"/>
                </a:solidFill>
                <a:latin typeface="Inter Bold"/>
              </a:rPr>
              <a:t>GIT REPO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85784" y="3497579"/>
            <a:ext cx="1523999" cy="2667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0D0D0D"/>
                </a:solidFill>
                <a:latin typeface="Inter Bold"/>
              </a:rPr>
              <a:t>ARGO CD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157710" y="3507105"/>
            <a:ext cx="32385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CCCCCC"/>
                </a:solidFill>
                <a:latin typeface="Inter Bold"/>
              </a:rPr>
              <a:t>KUBERNETES CLUSTER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143000" y="6943725"/>
            <a:ext cx="5143500" cy="666750"/>
          </a:xfrm>
          <a:prstGeom prst="rect">
            <a:avLst/>
          </a:prstGeom>
          <a:solidFill>
            <a:srgbClr val="1414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280160" y="7078980"/>
            <a:ext cx="46863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Inter ExtraBold"/>
              </a:rPr>
              <a:t>PULL NOT PUSH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72250" y="6943725"/>
            <a:ext cx="5143500" cy="666750"/>
          </a:xfrm>
          <a:prstGeom prst="rect">
            <a:avLst/>
          </a:prstGeom>
          <a:solidFill>
            <a:srgbClr val="1414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09410" y="7078980"/>
            <a:ext cx="46863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Inter ExtraBold"/>
              </a:rPr>
              <a:t>GIT = SOURCE OF TRUTH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2001500" y="6943725"/>
            <a:ext cx="5143500" cy="666750"/>
          </a:xfrm>
          <a:prstGeom prst="rect">
            <a:avLst/>
          </a:prstGeom>
          <a:solidFill>
            <a:srgbClr val="1414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2138660" y="7078980"/>
            <a:ext cx="46863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Inter ExtraBold"/>
              </a:rPr>
              <a:t>ALWAYS CONVERGING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70560" y="-236219"/>
            <a:ext cx="13334999" cy="66675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1500" b="1">
                <a:solidFill>
                  <a:srgbClr val="000000">
                    <a:alpha val="4000"/>
                  </a:srgbClr>
                </a:solidFill>
                <a:latin typeface="Inter Black"/>
              </a:rPr>
              <a:t>ARGO</a:t>
            </a:r>
          </a:p>
        </p:txBody>
      </p:sp>
      <p:sp>
        <p:nvSpPr>
          <p:cNvPr id="4" name="Rectangle 3"/>
          <p:cNvSpPr/>
          <p:nvPr/>
        </p:nvSpPr>
        <p:spPr>
          <a:xfrm>
            <a:off x="18211800" y="0"/>
            <a:ext cx="762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6306800" y="10134600"/>
            <a:ext cx="1905000" cy="762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37310" y="1049655"/>
            <a:ext cx="6667499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000000"/>
                </a:solidFill>
                <a:latin typeface="Inter SemiBold"/>
              </a:rPr>
              <a:t>SECTION 3  ·  ARGO CD PATTERNS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706880"/>
            <a:ext cx="11430000" cy="7143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650" b="1">
                <a:solidFill>
                  <a:srgbClr val="000000"/>
                </a:solidFill>
                <a:latin typeface="Inter Black"/>
              </a:rPr>
              <a:t>APP OF APPS.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421255"/>
            <a:ext cx="11430000" cy="7143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650" b="1">
                <a:solidFill>
                  <a:srgbClr val="000000"/>
                </a:solidFill>
                <a:latin typeface="Inter Black"/>
              </a:rPr>
              <a:t>APPLICATIONSETS.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297554"/>
            <a:ext cx="3810000" cy="2571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000000"/>
                </a:solidFill>
                <a:latin typeface="Inter ExtraBold"/>
              </a:rPr>
              <a:t>APP OF APPS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743325" y="3762375"/>
            <a:ext cx="2667000" cy="66675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56709" y="3916680"/>
            <a:ext cx="1657350" cy="1809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Inter ExtraBold"/>
              </a:rPr>
              <a:t>ROOT-APP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67300" y="4429125"/>
            <a:ext cx="19050" cy="476249"/>
          </a:xfrm>
          <a:prstGeom prst="rect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047875" y="4905375"/>
            <a:ext cx="6057900" cy="19050"/>
          </a:xfrm>
          <a:prstGeom prst="rect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047875" y="4924424"/>
            <a:ext cx="19050" cy="266700"/>
          </a:xfrm>
          <a:prstGeom prst="rect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67300" y="4924424"/>
            <a:ext cx="19050" cy="266700"/>
          </a:xfrm>
          <a:prstGeom prst="rect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86725" y="4924424"/>
            <a:ext cx="19050" cy="266700"/>
          </a:xfrm>
          <a:prstGeom prst="rect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143000" y="5191125"/>
            <a:ext cx="1828800" cy="571500"/>
          </a:xfrm>
          <a:prstGeom prst="rect">
            <a:avLst/>
          </a:prstGeom>
          <a:noFill/>
          <a:ln w="9525">
            <a:solidFill>
              <a:srgbClr val="000000">
                <a:alpha val="2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52900" y="5191125"/>
            <a:ext cx="1828800" cy="571500"/>
          </a:xfrm>
          <a:prstGeom prst="rect">
            <a:avLst/>
          </a:prstGeom>
          <a:noFill/>
          <a:ln w="9525">
            <a:solidFill>
              <a:srgbClr val="000000">
                <a:alpha val="2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181849" y="5191125"/>
            <a:ext cx="1828800" cy="571500"/>
          </a:xfrm>
          <a:prstGeom prst="rect">
            <a:avLst/>
          </a:prstGeom>
          <a:noFill/>
          <a:ln w="9525">
            <a:solidFill>
              <a:srgbClr val="000000">
                <a:alpha val="2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80160" y="5307330"/>
            <a:ext cx="1371600" cy="1619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5" b="1">
                <a:solidFill>
                  <a:srgbClr val="333333"/>
                </a:solidFill>
                <a:latin typeface="Inter Bold"/>
              </a:rPr>
              <a:t>INFRA-APP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37659" y="5307330"/>
            <a:ext cx="1676400" cy="1619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5" b="1">
                <a:solidFill>
                  <a:srgbClr val="333333"/>
                </a:solidFill>
                <a:latin typeface="Inter Bold"/>
              </a:rPr>
              <a:t>PLATFORM-APP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9010" y="5307330"/>
            <a:ext cx="1371600" cy="1619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5" b="1">
                <a:solidFill>
                  <a:srgbClr val="333333"/>
                </a:solidFill>
                <a:latin typeface="Inter Bold"/>
              </a:rPr>
              <a:t>APPS-APP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105900" y="3371850"/>
            <a:ext cx="19050" cy="2809875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62110" y="3297554"/>
            <a:ext cx="5715000" cy="2571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000000"/>
                </a:solidFill>
                <a:latin typeface="Inter ExtraBold"/>
              </a:rPr>
              <a:t>APPLICATIONSETS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353550" y="4752974"/>
            <a:ext cx="2667000" cy="761999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490710" y="4945380"/>
            <a:ext cx="2209800" cy="1809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5" b="1" spc="75">
                <a:solidFill>
                  <a:srgbClr val="FFFFFF"/>
                </a:solidFill>
                <a:latin typeface="Inter ExtraBold"/>
              </a:rPr>
              <a:t>APPSET TEMPLATE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976735" y="4897755"/>
            <a:ext cx="571500" cy="47624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0">
                <a:solidFill>
                  <a:srgbClr val="444444"/>
                </a:solidFill>
                <a:latin typeface="Inter"/>
              </a:rPr>
              <a:t>→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2782550" y="3990974"/>
            <a:ext cx="1905000" cy="666750"/>
          </a:xfrm>
          <a:prstGeom prst="rect">
            <a:avLst/>
          </a:prstGeom>
          <a:noFill/>
          <a:ln w="9525">
            <a:solidFill>
              <a:srgbClr val="000000">
                <a:alpha val="2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2919710" y="4145280"/>
            <a:ext cx="1447800" cy="1619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5" b="1">
                <a:solidFill>
                  <a:srgbClr val="333333"/>
                </a:solidFill>
                <a:latin typeface="Inter Bold"/>
              </a:rPr>
              <a:t>dev-cluster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2782550" y="4752974"/>
            <a:ext cx="1905000" cy="666750"/>
          </a:xfrm>
          <a:prstGeom prst="rect">
            <a:avLst/>
          </a:prstGeom>
          <a:noFill/>
          <a:ln w="9525">
            <a:solidFill>
              <a:srgbClr val="000000">
                <a:alpha val="2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2919710" y="4907280"/>
            <a:ext cx="1447800" cy="1619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5" b="1">
                <a:solidFill>
                  <a:srgbClr val="333333"/>
                </a:solidFill>
                <a:latin typeface="Inter Bold"/>
              </a:rPr>
              <a:t>staging-cluster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782550" y="5514975"/>
            <a:ext cx="1905000" cy="666750"/>
          </a:xfrm>
          <a:prstGeom prst="rect">
            <a:avLst/>
          </a:prstGeom>
          <a:noFill/>
          <a:ln w="9525">
            <a:solidFill>
              <a:srgbClr val="000000">
                <a:alpha val="2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2919710" y="5669280"/>
            <a:ext cx="1447800" cy="1619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5" b="1">
                <a:solidFill>
                  <a:srgbClr val="333333"/>
                </a:solidFill>
                <a:latin typeface="Inter Bold"/>
              </a:rPr>
              <a:t>prod-cluster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143000" y="8134350"/>
            <a:ext cx="16002000" cy="476249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280409" y="8231505"/>
            <a:ext cx="11553825" cy="1809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spc="225">
                <a:solidFill>
                  <a:srgbClr val="FFFFFF"/>
                </a:solidFill>
                <a:latin typeface="Inter Bold"/>
              </a:rPr>
              <a:t>DRIFT DETECTED  →  ARGO RECONCILES WITHIN SECONDS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76060" y="716280"/>
            <a:ext cx="13334999" cy="66675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0" b="1">
                <a:solidFill>
                  <a:srgbClr val="FFFFFF">
                    <a:alpha val="5000"/>
                  </a:srgbClr>
                </a:solidFill>
                <a:latin typeface="Inter Black"/>
              </a:rPr>
              <a:t>MESSY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6383000" y="10210800"/>
            <a:ext cx="1905000" cy="76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37310" y="1049655"/>
            <a:ext cx="6667499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FFFFFF"/>
                </a:solidFill>
                <a:latin typeface="Inter SemiBold"/>
              </a:rPr>
              <a:t>04 / REAL-WORLD COMPLEXITY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002280"/>
            <a:ext cx="8572500" cy="6667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444444"/>
                </a:solidFill>
                <a:latin typeface="Inter ExtraBold"/>
              </a:rPr>
              <a:t>THE MESSY REALITY.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697605"/>
            <a:ext cx="16192499" cy="16764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0" b="1">
                <a:solidFill>
                  <a:srgbClr val="FFFFFF"/>
                </a:solidFill>
                <a:latin typeface="Inter Black"/>
              </a:rPr>
              <a:t>MULTIPLE.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5374005"/>
            <a:ext cx="8572500" cy="7524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50" b="1">
                <a:solidFill>
                  <a:srgbClr val="444444"/>
                </a:solidFill>
                <a:latin typeface="Inter Black"/>
              </a:rPr>
              <a:t>EXISTING.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6126480"/>
            <a:ext cx="13334999" cy="8382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0" b="1">
                <a:solidFill>
                  <a:srgbClr val="FFFFFF"/>
                </a:solidFill>
                <a:latin typeface="Inter Black"/>
              </a:rPr>
              <a:t>CONSTRAINED.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8905874"/>
            <a:ext cx="761999" cy="381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9003030"/>
            <a:ext cx="13334999" cy="2571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555555"/>
                </a:solidFill>
                <a:latin typeface="Inter"/>
              </a:rPr>
              <a:t>Multiple teams, existing Terraform, real compliance. Platforms must work with what exists.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242560" y="1383029"/>
            <a:ext cx="15240000" cy="57150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0" b="1">
                <a:solidFill>
                  <a:srgbClr val="000000">
                    <a:alpha val="4000"/>
                  </a:srgbClr>
                </a:solidFill>
                <a:latin typeface="Inter Black"/>
              </a:rPr>
              <a:t>TENSION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6383000" y="10210800"/>
            <a:ext cx="1905000" cy="762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37310" y="1049655"/>
            <a:ext cx="6667499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888888"/>
                </a:solidFill>
                <a:latin typeface="Inter SemiBold"/>
              </a:rPr>
              <a:t>04 / REAL-WORLD COMPLEXITY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887980"/>
            <a:ext cx="571500" cy="1619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spc="300">
                <a:solidFill>
                  <a:srgbClr val="CCCCCC"/>
                </a:solidFill>
                <a:latin typeface="Inter Bol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135630"/>
            <a:ext cx="7238999" cy="8572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0" b="1">
                <a:solidFill>
                  <a:srgbClr val="000000"/>
                </a:solidFill>
                <a:latin typeface="Inter Black"/>
              </a:rPr>
              <a:t>SELF-SERVICE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81060" y="3583304"/>
            <a:ext cx="761999" cy="3809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AAAAAA"/>
                </a:solidFill>
                <a:latin typeface="Inter Bold"/>
              </a:rPr>
              <a:t>vs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57360" y="3373755"/>
            <a:ext cx="4762500" cy="6191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888888"/>
                </a:solidFill>
                <a:latin typeface="Inter Black"/>
              </a:rPr>
              <a:t>GUARDRAILS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4305300"/>
            <a:ext cx="16002000" cy="1905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4497705"/>
            <a:ext cx="571500" cy="1619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spc="300">
                <a:solidFill>
                  <a:srgbClr val="CCCCCC"/>
                </a:solidFill>
                <a:latin typeface="Inter Bold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4745355"/>
            <a:ext cx="7238999" cy="8572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0" b="1">
                <a:solidFill>
                  <a:srgbClr val="000000"/>
                </a:solidFill>
                <a:latin typeface="Inter Black"/>
              </a:rPr>
              <a:t>CONSISTENCY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90560" y="5193030"/>
            <a:ext cx="761999" cy="3809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AAAAAA"/>
                </a:solidFill>
                <a:latin typeface="Inter Bold"/>
              </a:rPr>
              <a:t>vs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66859" y="4983480"/>
            <a:ext cx="4762500" cy="6191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888888"/>
                </a:solidFill>
                <a:latin typeface="Inter Black"/>
              </a:rPr>
              <a:t>FLEXIBILITY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143000" y="5915024"/>
            <a:ext cx="16002000" cy="1905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6107430"/>
            <a:ext cx="571500" cy="1619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spc="300">
                <a:solidFill>
                  <a:srgbClr val="CCCCCC"/>
                </a:solidFill>
                <a:latin typeface="Inter Bol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" y="6355080"/>
            <a:ext cx="5524499" cy="8572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0" b="1">
                <a:solidFill>
                  <a:srgbClr val="000000"/>
                </a:solidFill>
                <a:latin typeface="Inter Black"/>
              </a:rPr>
              <a:t>VELOCITY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90360" y="6802755"/>
            <a:ext cx="761999" cy="3809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AAAAAA"/>
                </a:solidFill>
                <a:latin typeface="Inter Bold"/>
              </a:rPr>
              <a:t>vs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66660" y="6593205"/>
            <a:ext cx="3619499" cy="6191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888888"/>
                </a:solidFill>
                <a:latin typeface="Inter Black"/>
              </a:rPr>
              <a:t>CONTROL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" y="8983980"/>
            <a:ext cx="13334999" cy="2762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888888"/>
                </a:solidFill>
                <a:latin typeface="Inter"/>
              </a:rPr>
              <a:t>Every platform decision lives at the intersection of these three tensions.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04810" y="1859280"/>
            <a:ext cx="11430000" cy="66675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9000" b="1">
                <a:solidFill>
                  <a:srgbClr val="FFFFFF">
                    <a:alpha val="5000"/>
                  </a:srgbClr>
                </a:solidFill>
                <a:latin typeface="Inter Black"/>
              </a:rPr>
              <a:t>OWN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6383000" y="10210800"/>
            <a:ext cx="1905000" cy="76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37310" y="1049655"/>
            <a:ext cx="6667499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FFFFFF"/>
                </a:solidFill>
                <a:latin typeface="Inter SemiBold"/>
              </a:rPr>
              <a:t>04 / REAL-WORLD COMPLEXITY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868929"/>
            <a:ext cx="16192499" cy="13430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0" b="1">
                <a:solidFill>
                  <a:srgbClr val="FFFFFF"/>
                </a:solidFill>
                <a:latin typeface="Inter Black"/>
              </a:rPr>
              <a:t>SOVEREIGNTY.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4288155"/>
            <a:ext cx="11430000" cy="5143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500" b="1">
                <a:solidFill>
                  <a:srgbClr val="555555"/>
                </a:solidFill>
                <a:latin typeface="Inter Black"/>
              </a:rPr>
              <a:t>WHO CONTROLS THE API?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6581775"/>
            <a:ext cx="5334000" cy="85725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80160" y="6831330"/>
            <a:ext cx="4762500" cy="2095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spc="150">
                <a:solidFill>
                  <a:srgbClr val="FFFFFF"/>
                </a:solidFill>
                <a:latin typeface="Inter ExtraBold"/>
              </a:rPr>
              <a:t>WHERE IS THE STATE?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77000" y="6581775"/>
            <a:ext cx="5334000" cy="85725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14159" y="6831330"/>
            <a:ext cx="4762500" cy="2095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spc="150">
                <a:solidFill>
                  <a:srgbClr val="FFFFFF"/>
                </a:solidFill>
                <a:latin typeface="Inter ExtraBold"/>
              </a:rPr>
              <a:t>WHO OWNS THE AUDIT TRAIL?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811000" y="6581775"/>
            <a:ext cx="5334000" cy="85725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948160" y="6831330"/>
            <a:ext cx="4762500" cy="2095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spc="150">
                <a:solidFill>
                  <a:srgbClr val="FFFFFF"/>
                </a:solidFill>
                <a:latin typeface="Inter ExtraBold"/>
              </a:rPr>
              <a:t>WHAT IF THE VENDOR LEAVES?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8905874"/>
            <a:ext cx="761999" cy="381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9003030"/>
            <a:ext cx="13334999" cy="2571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555555"/>
                </a:solidFill>
                <a:latin typeface="Inter"/>
              </a:rPr>
              <a:t>All four tools share one property: the control plane stays inside your Kubernetes API.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6383000" y="10210800"/>
            <a:ext cx="1905000" cy="762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37310" y="1049655"/>
            <a:ext cx="6667499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888888"/>
                </a:solidFill>
                <a:latin typeface="Inter SemiBold"/>
              </a:rPr>
              <a:t>04 / REAL-WORLD COMPLEXITY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1849755"/>
            <a:ext cx="15240000" cy="6858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00" b="1">
                <a:solidFill>
                  <a:srgbClr val="000000"/>
                </a:solidFill>
                <a:latin typeface="Inter Black"/>
              </a:rPr>
              <a:t>THE FLEXIBLE CONTROL PLANE.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583180"/>
            <a:ext cx="11430000" cy="3429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50" b="1">
                <a:solidFill>
                  <a:srgbClr val="888888"/>
                </a:solidFill>
                <a:latin typeface="Inter Bold"/>
              </a:rPr>
              <a:t>ONE ENGINE. FOUR TOOLS. YOUR CHOICE.</a:t>
            </a:r>
          </a:p>
        </p:txBody>
      </p:sp>
      <p:sp>
        <p:nvSpPr>
          <p:cNvPr id="9" name="Rectangle 8"/>
          <p:cNvSpPr/>
          <p:nvPr/>
        </p:nvSpPr>
        <p:spPr>
          <a:xfrm>
            <a:off x="1143000" y="3724275"/>
            <a:ext cx="16002000" cy="5143500"/>
          </a:xfrm>
          <a:prstGeom prst="rect">
            <a:avLst/>
          </a:prstGeom>
          <a:noFill/>
          <a:ln w="9525">
            <a:solidFill>
              <a:srgbClr val="326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257300" y="3581400"/>
            <a:ext cx="1619250" cy="200025"/>
          </a:xfrm>
          <a:prstGeom prst="rect">
            <a:avLst/>
          </a:prstGeom>
          <a:solidFill>
            <a:srgbClr val="326C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61110" y="3507105"/>
            <a:ext cx="1428750" cy="1619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5" b="1" spc="150">
                <a:solidFill>
                  <a:srgbClr val="FFFFFF"/>
                </a:solidFill>
                <a:latin typeface="Inter Bold"/>
              </a:rPr>
              <a:t>KUBERNETES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57300" y="3838575"/>
            <a:ext cx="3886200" cy="1704975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933700" y="3990974"/>
            <a:ext cx="533400" cy="533400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37510" y="4078605"/>
            <a:ext cx="209550" cy="2095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Inter Bold"/>
              </a:rPr>
              <a:t>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94460" y="4478655"/>
            <a:ext cx="3429000" cy="2571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000000"/>
                </a:solidFill>
                <a:latin typeface="Inter Black"/>
              </a:rPr>
              <a:t>ASO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94460" y="4754880"/>
            <a:ext cx="3429000" cy="323849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888888"/>
                </a:solidFill>
                <a:latin typeface="Inter Medium"/>
              </a:rPr>
              <a:t>Azure resources as K8s CRDs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485900" y="5191125"/>
            <a:ext cx="571500" cy="20955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51610" y="5126355"/>
            <a:ext cx="476250" cy="1428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50">
                <a:solidFill>
                  <a:srgbClr val="FFFFFF"/>
                </a:solidFill>
                <a:latin typeface="Inter Bold"/>
              </a:rPr>
              <a:t>DEMO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219700" y="3838575"/>
            <a:ext cx="3886200" cy="1704975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896099" y="3990974"/>
            <a:ext cx="533400" cy="53340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99909" y="4078605"/>
            <a:ext cx="209550" cy="2095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Inter Bold"/>
              </a:rPr>
              <a:t>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56860" y="4478655"/>
            <a:ext cx="3429000" cy="2571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000000"/>
                </a:solidFill>
                <a:latin typeface="Inter Black"/>
              </a:rPr>
              <a:t>CROSSPLANE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56860" y="4754880"/>
            <a:ext cx="3429000" cy="323849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888888"/>
                </a:solidFill>
                <a:latin typeface="Inter Medium"/>
              </a:rPr>
              <a:t>Build your own platform API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48300" y="5191125"/>
            <a:ext cx="571500" cy="20955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14009" y="5126355"/>
            <a:ext cx="476250" cy="1428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50">
                <a:solidFill>
                  <a:srgbClr val="FFFFFF"/>
                </a:solidFill>
                <a:latin typeface="Inter Bold"/>
              </a:rPr>
              <a:t>DEMO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182100" y="3838575"/>
            <a:ext cx="3886200" cy="1704975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0858500" y="3990974"/>
            <a:ext cx="533400" cy="53340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862310" y="4078605"/>
            <a:ext cx="209550" cy="2095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Inter Bold"/>
              </a:rPr>
              <a:t>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19260" y="4478655"/>
            <a:ext cx="3429000" cy="2571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000000"/>
                </a:solidFill>
                <a:latin typeface="Inter Black"/>
              </a:rPr>
              <a:t>KRO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19260" y="4754880"/>
            <a:ext cx="3429000" cy="323849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888888"/>
                </a:solidFill>
                <a:latin typeface="Inter Medium"/>
              </a:rPr>
              <a:t>Compose multi-resource app concepts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410700" y="5191125"/>
            <a:ext cx="571500" cy="20955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76410" y="5126355"/>
            <a:ext cx="476250" cy="1428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50">
                <a:solidFill>
                  <a:srgbClr val="FFFFFF"/>
                </a:solidFill>
                <a:latin typeface="Inter Bold"/>
              </a:rPr>
              <a:t>DEMO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3144500" y="3838575"/>
            <a:ext cx="3886200" cy="1704975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4820899" y="3990974"/>
            <a:ext cx="533400" cy="5334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4824710" y="4078605"/>
            <a:ext cx="209550" cy="2095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Inter Bold"/>
              </a:rPr>
              <a:t>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281660" y="4478655"/>
            <a:ext cx="3429000" cy="2571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000000"/>
                </a:solidFill>
                <a:latin typeface="Inter Black"/>
              </a:rPr>
              <a:t>TERRANETES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281660" y="4754880"/>
            <a:ext cx="3429000" cy="323849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888888"/>
                </a:solidFill>
                <a:latin typeface="Inter Medium"/>
              </a:rPr>
              <a:t>Terraform under K8s control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3373100" y="5191125"/>
            <a:ext cx="571500" cy="20955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3338810" y="5126355"/>
            <a:ext cx="476250" cy="1428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50">
                <a:solidFill>
                  <a:srgbClr val="FFFFFF"/>
                </a:solidFill>
                <a:latin typeface="Inter Bold"/>
              </a:rPr>
              <a:t>DEMO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023235" y="5507355"/>
            <a:ext cx="285750" cy="32384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CCCCCC"/>
                </a:solidFill>
                <a:latin typeface="Inter"/>
              </a:rPr>
              <a:t>↓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66584" y="5507355"/>
            <a:ext cx="285750" cy="32384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CCCCCC"/>
                </a:solidFill>
                <a:latin typeface="Inter"/>
              </a:rPr>
              <a:t>↓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09935" y="5507355"/>
            <a:ext cx="285750" cy="32384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CCCCCC"/>
                </a:solidFill>
                <a:latin typeface="Inter"/>
              </a:rPr>
              <a:t>↓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4853285" y="5507355"/>
            <a:ext cx="285750" cy="32384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CCCCCC"/>
                </a:solidFill>
                <a:latin typeface="Inter"/>
              </a:rPr>
              <a:t>↓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257300" y="6019800"/>
            <a:ext cx="15773400" cy="1143000"/>
          </a:xfrm>
          <a:prstGeom prst="rect">
            <a:avLst/>
          </a:prstGeom>
          <a:solidFill>
            <a:srgbClr val="1A33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6257925" y="6324600"/>
            <a:ext cx="533400" cy="533400"/>
          </a:xfrm>
          <a:prstGeom prst="ellipse">
            <a:avLst/>
          </a:prstGeom>
          <a:solidFill>
            <a:srgbClr val="326C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271259" y="6374130"/>
            <a:ext cx="285750" cy="1524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5" b="1">
                <a:solidFill>
                  <a:srgbClr val="FFFFFF"/>
                </a:solidFill>
                <a:latin typeface="Inter Bold"/>
              </a:rPr>
              <a:t>K8s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61810" y="6202680"/>
            <a:ext cx="5715000" cy="32384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FFFFFF"/>
                </a:solidFill>
                <a:latin typeface="Inter Black"/>
              </a:rPr>
              <a:t>KUBERNETES API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61810" y="6507480"/>
            <a:ext cx="7620000" cy="1619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spc="150">
                <a:solidFill>
                  <a:srgbClr val="4A7AB5"/>
                </a:solidFill>
                <a:latin typeface="Inter SemiBold"/>
              </a:rPr>
              <a:t>THE CONTROL PLANE — ALL TOOLS RUN AS OPERATORS HERE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938259" y="7145655"/>
            <a:ext cx="285750" cy="32384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CCCCCC"/>
                </a:solidFill>
                <a:latin typeface="Inter"/>
              </a:rPr>
              <a:t>↓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257300" y="7600950"/>
            <a:ext cx="15773400" cy="1143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6581775" y="7905749"/>
            <a:ext cx="533400" cy="533400"/>
          </a:xfrm>
          <a:prstGeom prst="ellipse">
            <a:avLst/>
          </a:prstGeom>
          <a:solidFill>
            <a:srgbClr val="EF7B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671310" y="7974330"/>
            <a:ext cx="133350" cy="1904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Inter Bold"/>
              </a:rPr>
              <a:t>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166609" y="7650480"/>
            <a:ext cx="3810000" cy="32384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FFFFFF"/>
                </a:solidFill>
                <a:latin typeface="Inter Black"/>
              </a:rPr>
              <a:t>ARGO CD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166609" y="7955280"/>
            <a:ext cx="6667499" cy="1619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spc="150">
                <a:solidFill>
                  <a:srgbClr val="666666"/>
                </a:solidFill>
                <a:latin typeface="Inter SemiBold"/>
              </a:rPr>
              <a:t>GITOPS DELIVERY LAYER — SITS BENEATH ALL TOOLS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51560" y="8983980"/>
            <a:ext cx="8572500" cy="2762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888888"/>
                </a:solidFill>
                <a:latin typeface="Inter"/>
              </a:rPr>
              <a:t>Use one. Use all four. The control plane is flexible.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6383000" y="10210800"/>
            <a:ext cx="1905000" cy="762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37310" y="1049655"/>
            <a:ext cx="57150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888888"/>
                </a:solidFill>
                <a:latin typeface="Inter SemiBold"/>
              </a:rPr>
              <a:t>05 / DECISION FRAMEWORK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45030"/>
            <a:ext cx="8572500" cy="6858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00" b="1">
                <a:solidFill>
                  <a:srgbClr val="000000"/>
                </a:solidFill>
                <a:latin typeface="Inter Black"/>
              </a:rPr>
              <a:t>FOUR TOOLS.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097530"/>
            <a:ext cx="123825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75">
                <a:solidFill>
                  <a:srgbClr val="AAAAAA"/>
                </a:solidFill>
                <a:latin typeface="Inter SemiBold"/>
              </a:rPr>
              <a:t>CHOOSE BY ABSTRACTION, SKILLS, AND EXISTING INVESTMENTS.</a:t>
            </a:r>
          </a:p>
        </p:txBody>
      </p:sp>
      <p:sp>
        <p:nvSpPr>
          <p:cNvPr id="9" name="Rectangle 8"/>
          <p:cNvSpPr/>
          <p:nvPr/>
        </p:nvSpPr>
        <p:spPr>
          <a:xfrm>
            <a:off x="1143000" y="4152900"/>
            <a:ext cx="16002000" cy="876299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371600" y="4343400"/>
            <a:ext cx="495300" cy="495299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61135" y="4345305"/>
            <a:ext cx="190499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FFFFFF"/>
                </a:solidFill>
                <a:latin typeface="Inter Bold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65960" y="4288155"/>
            <a:ext cx="12382500" cy="2571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000000"/>
                </a:solidFill>
                <a:latin typeface="Inter Black"/>
              </a:rPr>
              <a:t>ASO — AZURE SERVICE OPERATOR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65960" y="4554855"/>
            <a:ext cx="12382500" cy="28575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5" b="0">
                <a:solidFill>
                  <a:srgbClr val="666666"/>
                </a:solidFill>
                <a:latin typeface="Inter"/>
              </a:rPr>
              <a:t>Azure resources in Git as Kubernetes YAML. If you think in Azure terms and want GitOps, start here.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5763874" y="4381500"/>
            <a:ext cx="571500" cy="190499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5720060" y="4307205"/>
            <a:ext cx="476250" cy="1333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50">
                <a:solidFill>
                  <a:srgbClr val="FFFFFF"/>
                </a:solidFill>
                <a:latin typeface="Inter ExtraBold"/>
              </a:rPr>
              <a:t>LOW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672435" y="4516755"/>
            <a:ext cx="1143000" cy="1333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75">
                <a:solidFill>
                  <a:srgbClr val="0078D4"/>
                </a:solidFill>
                <a:latin typeface="Inter Bold"/>
              </a:rPr>
              <a:t>✅ AZURE NATIVE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143000" y="5086350"/>
            <a:ext cx="16002000" cy="87629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143000" y="5086350"/>
            <a:ext cx="16002000" cy="876299"/>
          </a:xfrm>
          <a:prstGeom prst="rect">
            <a:avLst/>
          </a:prstGeom>
          <a:noFill/>
          <a:ln w="9525">
            <a:solidFill>
              <a:srgbClr val="F0F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371600" y="5276850"/>
            <a:ext cx="495300" cy="495299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61135" y="5278755"/>
            <a:ext cx="190499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FFFFFF"/>
                </a:solidFill>
                <a:latin typeface="Inter Bold"/>
              </a:rPr>
              <a:t>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65960" y="5221605"/>
            <a:ext cx="12382500" cy="2571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000000"/>
                </a:solidFill>
                <a:latin typeface="Inter Black"/>
              </a:rPr>
              <a:t>CROSSPLANE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65960" y="5488305"/>
            <a:ext cx="12382500" cy="28575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5" b="0">
                <a:solidFill>
                  <a:srgbClr val="666666"/>
                </a:solidFill>
                <a:latin typeface="Inter"/>
              </a:rPr>
              <a:t>You design the API your developers use. Everything Azure is hidden behind your abstractions. Own the platform contract.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5763874" y="5314950"/>
            <a:ext cx="571500" cy="190499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5720060" y="5240655"/>
            <a:ext cx="476250" cy="1333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50">
                <a:solidFill>
                  <a:srgbClr val="FFFFFF"/>
                </a:solidFill>
                <a:latin typeface="Inter ExtraBold"/>
              </a:rPr>
              <a:t>HIGH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672435" y="5450205"/>
            <a:ext cx="1143000" cy="1333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75">
                <a:solidFill>
                  <a:srgbClr val="888888"/>
                </a:solidFill>
                <a:latin typeface="Inter Bold"/>
              </a:rPr>
              <a:t>PARTIAL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6019800"/>
            <a:ext cx="16002000" cy="876299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371600" y="6210300"/>
            <a:ext cx="495300" cy="495299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461135" y="6212205"/>
            <a:ext cx="190499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FFFFFF"/>
                </a:solidFill>
                <a:latin typeface="Inter Bold"/>
              </a:rPr>
              <a:t>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965960" y="6155055"/>
            <a:ext cx="12382500" cy="2571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000000"/>
                </a:solidFill>
                <a:latin typeface="Inter Black"/>
              </a:rPr>
              <a:t>KRO — KUBERNETES RESOURCE ORCHESTRATOR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965960" y="6421755"/>
            <a:ext cx="12382500" cy="28575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5" b="0">
                <a:solidFill>
                  <a:srgbClr val="666666"/>
                </a:solidFill>
                <a:latin typeface="Inter"/>
              </a:rPr>
              <a:t>One CR expands into many. Compose app-level concepts without full Crossplane complexity. Pairs perfectly with ASO.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5763874" y="6248400"/>
            <a:ext cx="571500" cy="190499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5720060" y="6174105"/>
            <a:ext cx="476250" cy="1333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50">
                <a:solidFill>
                  <a:srgbClr val="FFFFFF"/>
                </a:solidFill>
                <a:latin typeface="Inter ExtraBold"/>
              </a:rPr>
              <a:t>MEDIUM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5672435" y="6383655"/>
            <a:ext cx="1143000" cy="1333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75">
                <a:solidFill>
                  <a:srgbClr val="8B5CF6"/>
                </a:solidFill>
                <a:latin typeface="Inter Bold"/>
              </a:rPr>
              <a:t>✅ + ASO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143000" y="6953250"/>
            <a:ext cx="16002000" cy="87629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143000" y="6953250"/>
            <a:ext cx="16002000" cy="876299"/>
          </a:xfrm>
          <a:prstGeom prst="rect">
            <a:avLst/>
          </a:prstGeom>
          <a:noFill/>
          <a:ln w="9525">
            <a:solidFill>
              <a:srgbClr val="F0F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371600" y="7143750"/>
            <a:ext cx="495300" cy="495299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461135" y="7145655"/>
            <a:ext cx="190499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FFFFFF"/>
                </a:solidFill>
                <a:latin typeface="Inter Bold"/>
              </a:rPr>
              <a:t>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965960" y="7088505"/>
            <a:ext cx="12382500" cy="2571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000000"/>
                </a:solidFill>
                <a:latin typeface="Inter Black"/>
              </a:rPr>
              <a:t>TERRANETES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965960" y="7355205"/>
            <a:ext cx="12382500" cy="28575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5" b="0">
                <a:solidFill>
                  <a:srgbClr val="666666"/>
                </a:solidFill>
                <a:latin typeface="Inter"/>
              </a:rPr>
              <a:t>Your Terraform, under Kubernetes control. Policy-gated, Git-tracked, no rewrite required. The pragmatic choice.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5763874" y="7181850"/>
            <a:ext cx="571500" cy="190499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5720060" y="7107555"/>
            <a:ext cx="476250" cy="1333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50">
                <a:solidFill>
                  <a:srgbClr val="FFFFFF"/>
                </a:solidFill>
                <a:latin typeface="Inter ExtraBold"/>
              </a:rPr>
              <a:t>MEDIUM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5672435" y="7317105"/>
            <a:ext cx="1143000" cy="1333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75">
                <a:solidFill>
                  <a:srgbClr val="10B981"/>
                </a:solidFill>
                <a:latin typeface="Inter Bold"/>
              </a:rPr>
              <a:t>✅ AZURE NATIVE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143000" y="8839200"/>
            <a:ext cx="16002000" cy="495299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371600" y="8953500"/>
            <a:ext cx="266700" cy="266700"/>
          </a:xfrm>
          <a:prstGeom prst="ellipse">
            <a:avLst/>
          </a:prstGeom>
          <a:solidFill>
            <a:srgbClr val="EF7B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375410" y="8936355"/>
            <a:ext cx="95249" cy="1428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Inter Bold"/>
              </a:rPr>
              <a:t>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661160" y="8793480"/>
            <a:ext cx="8572500" cy="1619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spc="150">
                <a:solidFill>
                  <a:srgbClr val="FFFFFF"/>
                </a:solidFill>
                <a:latin typeface="Inter Bold"/>
              </a:rPr>
              <a:t>ARGO CD — DELIVERS ALL OF THE ABOVE THROUGH GITOPS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147310" y="1668780"/>
            <a:ext cx="14287500" cy="57150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500" b="1">
                <a:solidFill>
                  <a:srgbClr val="000000">
                    <a:alpha val="3000"/>
                  </a:srgbClr>
                </a:solidFill>
                <a:latin typeface="Inter Black"/>
              </a:rPr>
              <a:t>LAYERS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6383000" y="10210800"/>
            <a:ext cx="1905000" cy="762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37310" y="1049655"/>
            <a:ext cx="57150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888888"/>
                </a:solidFill>
                <a:latin typeface="Inter SemiBold"/>
              </a:rPr>
              <a:t>05 / DECISION FRAMEWORK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630805"/>
            <a:ext cx="15240000" cy="6191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000000"/>
                </a:solidFill>
                <a:latin typeface="Inter Black"/>
              </a:rPr>
              <a:t>NOT MUTUALLY EXCLUSIVE.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278505"/>
            <a:ext cx="12382500" cy="2571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0" spc="75">
                <a:solidFill>
                  <a:srgbClr val="AAAAAA"/>
                </a:solidFill>
                <a:latin typeface="Inter SemiBold"/>
              </a:rPr>
              <a:t>USE ONE. USE ALL FOUR. REAL PLATFORMS MIX AND MATCH.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0" y="5105400"/>
            <a:ext cx="14401800" cy="533400"/>
          </a:xfrm>
          <a:prstGeom prst="rect">
            <a:avLst/>
          </a:prstGeom>
          <a:solidFill>
            <a:srgbClr val="F0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5078730"/>
            <a:ext cx="1476375" cy="1238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1" spc="225">
                <a:solidFill>
                  <a:srgbClr val="AAAAAA"/>
                </a:solidFill>
                <a:latin typeface="Inter Bold"/>
              </a:rPr>
              <a:t>DEVELOPER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42259" y="5135880"/>
            <a:ext cx="14020800" cy="2857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333333"/>
                </a:solidFill>
                <a:latin typeface="Inter SemiBold"/>
              </a:rPr>
              <a:t>Simple CR — give me an AppDatabase  ·  One KRO ResourceGroup  ·  No YAML knowledge required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0" y="5715000"/>
            <a:ext cx="14401800" cy="647699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5688330"/>
            <a:ext cx="1476375" cy="1238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1" spc="225">
                <a:solidFill>
                  <a:srgbClr val="AAAAAA"/>
                </a:solidFill>
                <a:latin typeface="Inter Bold"/>
              </a:rPr>
              <a:t>PROVISIONING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895600" y="5829300"/>
            <a:ext cx="590550" cy="419100"/>
          </a:xfrm>
          <a:prstGeom prst="rect">
            <a:avLst/>
          </a:prstGeom>
          <a:solidFill>
            <a:srgbClr val="EB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990850" y="5924550"/>
            <a:ext cx="228600" cy="228600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56559" y="5878830"/>
            <a:ext cx="114300" cy="1428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Inter Bold"/>
              </a:rPr>
              <a:t>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4210" y="5831205"/>
            <a:ext cx="257175" cy="2095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78D4"/>
                </a:solidFill>
                <a:latin typeface="Inter ExtraBold"/>
              </a:rPr>
              <a:t>ASO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562350" y="5829300"/>
            <a:ext cx="1257300" cy="419100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657600" y="5924550"/>
            <a:ext cx="228600" cy="22860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23310" y="5878830"/>
            <a:ext cx="114300" cy="1428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Inter Bold"/>
              </a:rPr>
              <a:t>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70959" y="5831205"/>
            <a:ext cx="857250" cy="2095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EF4444"/>
                </a:solidFill>
                <a:latin typeface="Inter ExtraBold"/>
              </a:rPr>
              <a:t>CROSSPLANE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95849" y="5829300"/>
            <a:ext cx="590550" cy="419100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991100" y="5924550"/>
            <a:ext cx="228600" cy="22860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956810" y="5878830"/>
            <a:ext cx="114300" cy="1428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Inter Bold"/>
              </a:rPr>
              <a:t>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04460" y="5831205"/>
            <a:ext cx="257175" cy="2095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8B5CF6"/>
                </a:solidFill>
                <a:latin typeface="Inter ExtraBold"/>
              </a:rPr>
              <a:t>KRO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562600" y="5829300"/>
            <a:ext cx="1257300" cy="41910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657850" y="5924550"/>
            <a:ext cx="228600" cy="2286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23560" y="5878830"/>
            <a:ext cx="114300" cy="1428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Inter Bold"/>
              </a:rPr>
              <a:t>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71210" y="5831205"/>
            <a:ext cx="857250" cy="2095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0B981"/>
                </a:solidFill>
                <a:latin typeface="Inter ExtraBold"/>
              </a:rPr>
              <a:t>TERRANETES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43200" y="6438899"/>
            <a:ext cx="14401800" cy="6096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1560" y="6412230"/>
            <a:ext cx="1476375" cy="1238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1" spc="225">
                <a:solidFill>
                  <a:srgbClr val="AAAAAA"/>
                </a:solidFill>
                <a:latin typeface="Inter Bold"/>
              </a:rPr>
              <a:t>DELIVERY</a:t>
            </a:r>
          </a:p>
        </p:txBody>
      </p:sp>
      <p:sp>
        <p:nvSpPr>
          <p:cNvPr id="33" name="Oval 32"/>
          <p:cNvSpPr/>
          <p:nvPr/>
        </p:nvSpPr>
        <p:spPr>
          <a:xfrm>
            <a:off x="2933700" y="6591300"/>
            <a:ext cx="304800" cy="304800"/>
          </a:xfrm>
          <a:prstGeom prst="ellipse">
            <a:avLst/>
          </a:prstGeom>
          <a:solidFill>
            <a:srgbClr val="EF7B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947035" y="6564630"/>
            <a:ext cx="114300" cy="1619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Inter Bold"/>
              </a:rPr>
              <a:t>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42309" y="6431280"/>
            <a:ext cx="13334999" cy="1809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spc="150">
                <a:solidFill>
                  <a:srgbClr val="FFFFFF"/>
                </a:solidFill>
                <a:latin typeface="Inter Bold"/>
              </a:rPr>
              <a:t>ARGO CD — WATCHES GIT  ·  SYNCS TO KUBERNETES  ·  DELIVERS EVERYTHING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0" y="7124699"/>
            <a:ext cx="14401800" cy="485775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51560" y="7098030"/>
            <a:ext cx="1476375" cy="1238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1" spc="225">
                <a:solidFill>
                  <a:srgbClr val="AAAAAA"/>
                </a:solidFill>
                <a:latin typeface="Inter Bold"/>
              </a:rPr>
              <a:t>SOURCE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842259" y="7155180"/>
            <a:ext cx="2476499" cy="1809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spc="75">
                <a:solidFill>
                  <a:srgbClr val="333333"/>
                </a:solidFill>
                <a:latin typeface="Inter ExtraBold"/>
              </a:rPr>
              <a:t>GIT REPOSITORY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394959" y="7155180"/>
            <a:ext cx="8572500" cy="1809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888888"/>
                </a:solidFill>
                <a:latin typeface="Inter"/>
              </a:rPr>
              <a:t>— single source of truth for all resource definitions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51560" y="9012555"/>
            <a:ext cx="13334999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888888"/>
                </a:solidFill>
                <a:latin typeface="Inter"/>
              </a:rPr>
              <a:t>The platform team’s job is to assemble these layers thoughtfully — not to standardise on a single tool.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814060" y="906780"/>
            <a:ext cx="13334999" cy="66675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0" b="1">
                <a:solidFill>
                  <a:srgbClr val="FFFFFF">
                    <a:alpha val="5000"/>
                  </a:srgbClr>
                </a:solidFill>
                <a:latin typeface="Inter Black"/>
              </a:rPr>
              <a:t>BUILD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6383000" y="10210800"/>
            <a:ext cx="1905000" cy="76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37310" y="1049655"/>
            <a:ext cx="6667499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FFFFFF"/>
                </a:solidFill>
                <a:latin typeface="Inter SemiBold"/>
              </a:rPr>
              <a:t>05 / DECISION FRAMEWORK  ·  DEMO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764280"/>
            <a:ext cx="16192499" cy="16764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0" b="1">
                <a:solidFill>
                  <a:srgbClr val="FFFFFF"/>
                </a:solidFill>
                <a:latin typeface="Inter Black"/>
              </a:rPr>
              <a:t>LET’S BUILD.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5516880"/>
            <a:ext cx="15240000" cy="6191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444444"/>
                </a:solidFill>
                <a:latin typeface="Inter Black"/>
              </a:rPr>
              <a:t>FOUR TOOLS. FOUR PROBLEMS. LIVE.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8801100"/>
            <a:ext cx="1104900" cy="5334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333500" y="8934449"/>
            <a:ext cx="266700" cy="266700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27785" y="8917305"/>
            <a:ext cx="114300" cy="1428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Inter Bold"/>
              </a:rP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4010" y="8793480"/>
            <a:ext cx="533400" cy="1809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spc="75">
                <a:solidFill>
                  <a:srgbClr val="FFFFFF"/>
                </a:solidFill>
                <a:latin typeface="Inter ExtraBold"/>
              </a:rPr>
              <a:t>ASO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362200" y="8801100"/>
            <a:ext cx="1885950" cy="5334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552700" y="8934449"/>
            <a:ext cx="266700" cy="26670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546985" y="8917305"/>
            <a:ext cx="114300" cy="1428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Inter Bold"/>
              </a:rPr>
              <a:t>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23209" y="8793480"/>
            <a:ext cx="1314450" cy="1809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spc="75">
                <a:solidFill>
                  <a:srgbClr val="FFFFFF"/>
                </a:solidFill>
                <a:latin typeface="Inter ExtraBold"/>
              </a:rPr>
              <a:t>CROSSPLANE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62450" y="8801100"/>
            <a:ext cx="1104900" cy="5334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552950" y="8934449"/>
            <a:ext cx="266700" cy="26670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47235" y="8917305"/>
            <a:ext cx="114300" cy="1428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Inter Bold"/>
              </a:rPr>
              <a:t>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23459" y="8793480"/>
            <a:ext cx="533400" cy="1809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spc="75">
                <a:solidFill>
                  <a:srgbClr val="FFFFFF"/>
                </a:solidFill>
                <a:latin typeface="Inter ExtraBold"/>
              </a:rPr>
              <a:t>KRO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581650" y="8801100"/>
            <a:ext cx="1866899" cy="5334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772150" y="8934449"/>
            <a:ext cx="266700" cy="2667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66435" y="8917305"/>
            <a:ext cx="114300" cy="1428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Inter Bold"/>
              </a:rPr>
              <a:t>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42659" y="8793480"/>
            <a:ext cx="1295399" cy="1809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spc="75">
                <a:solidFill>
                  <a:srgbClr val="FFFFFF"/>
                </a:solidFill>
                <a:latin typeface="Inter ExtraBold"/>
              </a:rPr>
              <a:t>TERRANETES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6383000" y="10096500"/>
            <a:ext cx="1905000" cy="76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6954500" y="1523999"/>
            <a:ext cx="133350" cy="13335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7335500" y="1523999"/>
            <a:ext cx="133350" cy="133350"/>
          </a:xfrm>
          <a:prstGeom prst="ellipse">
            <a:avLst/>
          </a:prstGeom>
          <a:solidFill>
            <a:srgbClr val="FFFFFF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7716500" y="1523999"/>
            <a:ext cx="133350" cy="133350"/>
          </a:xfrm>
          <a:prstGeom prst="ellipse">
            <a:avLst/>
          </a:prstGeom>
          <a:solidFill>
            <a:srgbClr val="FFFFFF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33060" y="2049780"/>
            <a:ext cx="9953625" cy="57626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7500" b="1">
                <a:solidFill>
                  <a:srgbClr val="FFFFFF">
                    <a:alpha val="5000"/>
                  </a:srgbClr>
                </a:solidFill>
                <a:latin typeface="Inter Black"/>
              </a:rPr>
              <a:t>ASO</a:t>
            </a:r>
          </a:p>
        </p:txBody>
      </p:sp>
      <p:sp>
        <p:nvSpPr>
          <p:cNvPr id="9" name="Rectangle 8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37310" y="1049655"/>
            <a:ext cx="38100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FFFFFF"/>
                </a:solidFill>
                <a:latin typeface="Inter SemiBold"/>
              </a:rPr>
              <a:t>06 / ASO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6812280"/>
            <a:ext cx="16002000" cy="16764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0" b="1">
                <a:solidFill>
                  <a:srgbClr val="FFFFFF"/>
                </a:solidFill>
                <a:latin typeface="Inter Black"/>
              </a:rPr>
              <a:t>ASO.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8564880"/>
            <a:ext cx="16002000" cy="7239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00" b="1">
                <a:solidFill>
                  <a:srgbClr val="666666"/>
                </a:solidFill>
                <a:latin typeface="Inter Black"/>
              </a:rPr>
              <a:t>YOUR AZURE. YAML-DRIVEN.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6383000" y="10096500"/>
            <a:ext cx="1905000" cy="76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37310" y="1049655"/>
            <a:ext cx="38100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FFFFFF"/>
                </a:solidFill>
                <a:latin typeface="Inter SemiBold"/>
              </a:rPr>
              <a:t>06 / ASO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3354704"/>
            <a:ext cx="16002000" cy="6191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FFFFFF"/>
                </a:solidFill>
                <a:latin typeface="Inter Black"/>
              </a:rPr>
              <a:t>WHAT WE'RE BUILDING.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983354"/>
            <a:ext cx="160020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spc="150">
                <a:solidFill>
                  <a:srgbClr val="555555"/>
                </a:solidFill>
                <a:latin typeface="Inter SemiBold"/>
              </a:rPr>
              <a:t>GIT COMMIT  →  ARGO CD  →  ASO CONTROLLER  →  AZURE RESOURCE</a:t>
            </a:r>
          </a:p>
        </p:txBody>
      </p:sp>
      <p:sp>
        <p:nvSpPr>
          <p:cNvPr id="9" name="Rectangle 8"/>
          <p:cNvSpPr/>
          <p:nvPr/>
        </p:nvSpPr>
        <p:spPr>
          <a:xfrm>
            <a:off x="1143000" y="6477000"/>
            <a:ext cx="3524250" cy="28575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6477000"/>
            <a:ext cx="3524250" cy="47624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42060" y="6621780"/>
            <a:ext cx="3143250" cy="1524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1" spc="225">
                <a:solidFill>
                  <a:srgbClr val="888888"/>
                </a:solidFill>
                <a:latin typeface="Inter Bold"/>
              </a:rPr>
              <a:t>GIT REPO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42060" y="6850380"/>
            <a:ext cx="3143250" cy="2667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Inter ExtraBold"/>
              </a:rPr>
              <a:t>storageaccount.yaml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42060" y="7231380"/>
            <a:ext cx="3143250" cy="1904999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5" b="0">
                <a:solidFill>
                  <a:srgbClr val="555555"/>
                </a:solidFill>
                <a:latin typeface="Inter"/>
              </a:rPr>
              <a:t>Developer commits a Kubernetes manifest to the main branch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05425" y="6477000"/>
            <a:ext cx="3524250" cy="28575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305425" y="6477000"/>
            <a:ext cx="3524250" cy="47624"/>
          </a:xfrm>
          <a:prstGeom prst="rect">
            <a:avLst/>
          </a:prstGeom>
          <a:solidFill>
            <a:srgbClr val="EF7B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04485" y="6621780"/>
            <a:ext cx="3143250" cy="1524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1" spc="225">
                <a:solidFill>
                  <a:srgbClr val="EF7B4D"/>
                </a:solidFill>
                <a:latin typeface="Inter Bold"/>
              </a:rPr>
              <a:t>ARGO CD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04485" y="6850380"/>
            <a:ext cx="3143250" cy="2667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Inter ExtraBold"/>
              </a:rPr>
              <a:t>Detects &amp; deploys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04485" y="7231380"/>
            <a:ext cx="3143250" cy="1904999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5" b="0">
                <a:solidFill>
                  <a:srgbClr val="555555"/>
                </a:solidFill>
                <a:latin typeface="Inter"/>
              </a:rPr>
              <a:t>Watches the Git repo and applies the manifest to the cluster on every push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467850" y="6477000"/>
            <a:ext cx="3524250" cy="28575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467850" y="6477000"/>
            <a:ext cx="3524250" cy="4762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566909" y="6621780"/>
            <a:ext cx="3143250" cy="1524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1" spc="225">
                <a:solidFill>
                  <a:srgbClr val="0078D4"/>
                </a:solidFill>
                <a:latin typeface="Inter Bold"/>
              </a:rPr>
              <a:t>ASO CONTROLLER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66909" y="6850380"/>
            <a:ext cx="3143250" cy="2667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Inter ExtraBold"/>
              </a:rPr>
              <a:t>Reads CRD, calls API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66909" y="7231380"/>
            <a:ext cx="3143250" cy="1904999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5" b="0">
                <a:solidFill>
                  <a:srgbClr val="555555"/>
                </a:solidFill>
                <a:latin typeface="Inter"/>
              </a:rPr>
              <a:t>Azure Service Operator reconciles the StorageAccount CRD via Azure ARM API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3630275" y="6477000"/>
            <a:ext cx="3524250" cy="28575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3630275" y="6477000"/>
            <a:ext cx="3524250" cy="4762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729335" y="6621780"/>
            <a:ext cx="3143250" cy="1524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1" spc="225">
                <a:solidFill>
                  <a:srgbClr val="10B981"/>
                </a:solidFill>
                <a:latin typeface="Inter Bold"/>
              </a:rPr>
              <a:t>AZURE RESOURCE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729335" y="6850380"/>
            <a:ext cx="3143250" cy="2667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Inter ExtraBold"/>
              </a:rPr>
              <a:t>Storage Account ready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29335" y="7231380"/>
            <a:ext cx="3143250" cy="1904999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5" b="0">
                <a:solidFill>
                  <a:srgbClr val="555555"/>
                </a:solidFill>
                <a:latin typeface="Inter"/>
              </a:rPr>
              <a:t>Azure Storage Account is provisioned and managed through the GitOps loop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66310" y="7698105"/>
            <a:ext cx="257175" cy="32384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333333"/>
                </a:solidFill>
                <a:latin typeface="Inter Bold"/>
              </a:rPr>
              <a:t>→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28735" y="7698105"/>
            <a:ext cx="257175" cy="32384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333333"/>
                </a:solidFill>
                <a:latin typeface="Inter Bold"/>
              </a:rPr>
              <a:t>→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091160" y="7698105"/>
            <a:ext cx="257175" cy="32384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333333"/>
                </a:solidFill>
                <a:latin typeface="Inter Bold"/>
              </a:rPr>
              <a:t>→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671060" y="716280"/>
            <a:ext cx="12506324" cy="53054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500" b="1">
                <a:solidFill>
                  <a:srgbClr val="FFFFFF">
                    <a:alpha val="5000"/>
                  </a:srgbClr>
                </a:solidFill>
                <a:latin typeface="Inter Black"/>
              </a:rPr>
              <a:t>YAML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6383000" y="10096500"/>
            <a:ext cx="1905000" cy="76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37310" y="1049655"/>
            <a:ext cx="47625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FFFFFF"/>
                </a:solidFill>
                <a:latin typeface="Inter SemiBold"/>
              </a:rPr>
              <a:t>06 / ASO · DEMO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488055"/>
            <a:ext cx="16002000" cy="11715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0" b="1">
                <a:solidFill>
                  <a:srgbClr val="FFFFFF"/>
                </a:solidFill>
                <a:latin typeface="Inter Black"/>
              </a:rPr>
              <a:t>APPLY YAML.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4735830"/>
            <a:ext cx="16002000" cy="11715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0" b="1">
                <a:solidFill>
                  <a:srgbClr val="FFFFFF"/>
                </a:solidFill>
                <a:latin typeface="Inter Black"/>
              </a:rPr>
              <a:t>GET AZURE.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5983605"/>
            <a:ext cx="16002000" cy="47624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444444"/>
                </a:solidFill>
                <a:latin typeface="Inter Black"/>
              </a:rPr>
              <a:t>NO TERRAFORM. NO BICEP. NO ARM.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43000" y="8801100"/>
            <a:ext cx="2124075" cy="5334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333500" y="8934449"/>
            <a:ext cx="266700" cy="266700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7785" y="8917305"/>
            <a:ext cx="114300" cy="1524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Inter Bold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4010" y="8793480"/>
            <a:ext cx="1457325" cy="1809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Inter ExtraBold"/>
              </a:rPr>
              <a:t>KUBECTL APPLY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714750" y="8801100"/>
            <a:ext cx="2162174" cy="5334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905249" y="8934449"/>
            <a:ext cx="266700" cy="266700"/>
          </a:xfrm>
          <a:prstGeom prst="ellipse">
            <a:avLst/>
          </a:prstGeom>
          <a:solidFill>
            <a:srgbClr val="EF7B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99535" y="8917305"/>
            <a:ext cx="114300" cy="1524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Inter Bold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75760" y="8793480"/>
            <a:ext cx="1495425" cy="1809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Inter ExtraBold"/>
              </a:rPr>
              <a:t>ARGO CD SYNCS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24599" y="8801100"/>
            <a:ext cx="2886075" cy="5334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515100" y="8934449"/>
            <a:ext cx="266700" cy="2667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09384" y="8917305"/>
            <a:ext cx="114300" cy="1524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Inter Bol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85610" y="8793480"/>
            <a:ext cx="2219325" cy="1809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Inter ExtraBold"/>
              </a:rPr>
              <a:t>AZURE RESOURCE READY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89935" y="8888730"/>
            <a:ext cx="219075" cy="2762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444444"/>
                </a:solidFill>
                <a:latin typeface="Inter Bold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99784" y="8888730"/>
            <a:ext cx="219075" cy="2762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444444"/>
                </a:solidFill>
                <a:latin typeface="Inter Bold"/>
              </a:rPr>
              <a:t>→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33060" y="1859280"/>
            <a:ext cx="9163050" cy="53054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500" b="1">
                <a:solidFill>
                  <a:srgbClr val="000000">
                    <a:alpha val="3000"/>
                  </a:srgbClr>
                </a:solidFill>
                <a:latin typeface="Inter Black"/>
              </a:rPr>
              <a:t>ASO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6383000" y="10210800"/>
            <a:ext cx="1905000" cy="762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37310" y="1049655"/>
            <a:ext cx="38100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888888"/>
                </a:solidFill>
                <a:latin typeface="Inter SemiBold"/>
              </a:rPr>
              <a:t>06 / ASO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592704"/>
            <a:ext cx="16002000" cy="5524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0" b="1">
                <a:solidFill>
                  <a:srgbClr val="000000"/>
                </a:solidFill>
                <a:latin typeface="Inter Black"/>
              </a:rPr>
              <a:t>FAST. TRANSPARENT. COMPOSABLE.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154679"/>
            <a:ext cx="160020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75">
                <a:solidFill>
                  <a:srgbClr val="AAAAAA"/>
                </a:solidFill>
                <a:latin typeface="Inter SemiBold"/>
              </a:rPr>
              <a:t>THREE THINGS TO KNOW BEFORE YOU CHOOSE ASO.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4933950"/>
            <a:ext cx="16002000" cy="80010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371600" y="5162550"/>
            <a:ext cx="342900" cy="3429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84935" y="5164455"/>
            <a:ext cx="152400" cy="1904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Inter Bold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13560" y="5031105"/>
            <a:ext cx="13906499" cy="2095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00000"/>
                </a:solidFill>
                <a:latin typeface="Inter ExtraBold"/>
              </a:rPr>
              <a:t>FAST TO START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3560" y="5326380"/>
            <a:ext cx="13906499" cy="304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5" b="0">
                <a:solidFill>
                  <a:srgbClr val="666666"/>
                </a:solidFill>
                <a:latin typeface="Inter"/>
              </a:rPr>
              <a:t>Zero abstractions to design. Install ASO, configure workload identity, start provisioning.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43000" y="5810249"/>
            <a:ext cx="16002000" cy="800100"/>
          </a:xfrm>
          <a:prstGeom prst="rect">
            <a:avLst/>
          </a:prstGeom>
          <a:solidFill>
            <a:srgbClr val="FFFFFF"/>
          </a:solidFill>
          <a:ln w="9525">
            <a:solidFill>
              <a:srgbClr val="F0F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371600" y="6038849"/>
            <a:ext cx="342900" cy="3429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4935" y="6040755"/>
            <a:ext cx="152400" cy="1904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Inter Bold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13560" y="5907405"/>
            <a:ext cx="13906499" cy="2095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00000"/>
                </a:solidFill>
                <a:latin typeface="Inter ExtraBold"/>
              </a:rPr>
              <a:t>TRANSPARENT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13560" y="6202680"/>
            <a:ext cx="13906499" cy="304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5" b="0">
                <a:solidFill>
                  <a:srgbClr val="666666"/>
                </a:solidFill>
                <a:latin typeface="Inter"/>
              </a:rPr>
              <a:t>Developers see Azure resource types directly. A feature for Azure-native teams; a limitation when you want to hide the cloud layer.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6686550"/>
            <a:ext cx="16002000" cy="80010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371600" y="6915150"/>
            <a:ext cx="342900" cy="3429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84935" y="6917055"/>
            <a:ext cx="152400" cy="1904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Inter Bold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13560" y="6783705"/>
            <a:ext cx="13906499" cy="2095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00000"/>
                </a:solidFill>
                <a:latin typeface="Inter ExtraBold"/>
              </a:rPr>
              <a:t>COMPOSABLE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13560" y="7078980"/>
            <a:ext cx="13906499" cy="304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5" b="0">
                <a:solidFill>
                  <a:srgbClr val="666666"/>
                </a:solidFill>
                <a:latin typeface="Inter"/>
              </a:rPr>
              <a:t>Pairs naturally with KRO for higher-level developer APIs. ASO handles the Azure layer; KRO composes the experience.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8943975"/>
            <a:ext cx="16002000" cy="390525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80160" y="8964930"/>
            <a:ext cx="3486150" cy="1619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spc="150">
                <a:solidFill>
                  <a:srgbClr val="FFFFFF"/>
                </a:solidFill>
                <a:latin typeface="Inter Bold"/>
              </a:rPr>
              <a:t>WANT CLOUD-AGNOSTIC ABSTRACTIONS?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18710" y="8964930"/>
            <a:ext cx="2857500" cy="1619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spc="75">
                <a:solidFill>
                  <a:srgbClr val="666666"/>
                </a:solidFill>
                <a:latin typeface="Inter SemiBold"/>
              </a:rPr>
              <a:t>→  CROSSPLANE IS NEXT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6383000" y="10096500"/>
            <a:ext cx="1905000" cy="76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6954500" y="1523999"/>
            <a:ext cx="133350" cy="13335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7335500" y="1523999"/>
            <a:ext cx="133350" cy="133350"/>
          </a:xfrm>
          <a:prstGeom prst="ellipse">
            <a:avLst/>
          </a:prstGeom>
          <a:solidFill>
            <a:srgbClr val="FFFFFF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7716500" y="1523999"/>
            <a:ext cx="133350" cy="133350"/>
          </a:xfrm>
          <a:prstGeom prst="ellipse">
            <a:avLst/>
          </a:prstGeom>
          <a:solidFill>
            <a:srgbClr val="FFFFFF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147060" y="2049780"/>
            <a:ext cx="15830550" cy="57626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7500" b="1">
                <a:solidFill>
                  <a:srgbClr val="FFFFFF">
                    <a:alpha val="5000"/>
                  </a:srgbClr>
                </a:solidFill>
                <a:latin typeface="Inter Black"/>
              </a:rPr>
              <a:t>CROSS</a:t>
            </a:r>
          </a:p>
        </p:txBody>
      </p:sp>
      <p:sp>
        <p:nvSpPr>
          <p:cNvPr id="9" name="Rectangle 8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37310" y="1049655"/>
            <a:ext cx="57150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FFFFFF"/>
                </a:solidFill>
                <a:latin typeface="Inter SemiBold"/>
              </a:rPr>
              <a:t>07 / CROSSPLANE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6812280"/>
            <a:ext cx="16002000" cy="16764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0" b="1">
                <a:solidFill>
                  <a:srgbClr val="FFFFFF"/>
                </a:solidFill>
                <a:latin typeface="Inter Black"/>
              </a:rPr>
              <a:t>CROSSPLANE.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8564880"/>
            <a:ext cx="16002000" cy="7239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00" b="1">
                <a:solidFill>
                  <a:srgbClr val="666666"/>
                </a:solidFill>
                <a:latin typeface="Inter Black"/>
              </a:rPr>
              <a:t>YOU DESIGN THE API.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