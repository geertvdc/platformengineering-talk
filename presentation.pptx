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54500" y="1904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35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16500" y="1904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54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35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716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TECHORAMA BELGIUM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79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CLOUD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11855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/>
                </a:solidFill>
                <a:latin typeface="Inter Black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83430"/>
            <a:ext cx="14287500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666666"/>
                </a:solidFill>
                <a:latin typeface="Inter Black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850255"/>
            <a:ext cx="8572500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444444"/>
                </a:solidFill>
                <a:latin typeface="Inter Black"/>
              </a:rPr>
              <a:t>ON AZURE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229600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8288655"/>
            <a:ext cx="8572500" cy="4381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FFFFFF"/>
                </a:solidFill>
                <a:latin typeface="Inter ExtraBold"/>
              </a:rPr>
              <a:t>Geert van der Cruijsen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8764905"/>
            <a:ext cx="857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75">
                <a:solidFill>
                  <a:srgbClr val="888888"/>
                </a:solidFill>
                <a:latin typeface="Inter"/>
              </a:rPr>
              <a:t>CEO &amp; Co-founder · Zure 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43560" y="-1760220"/>
            <a:ext cx="3810000" cy="92201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0" b="1">
                <a:solidFill>
                  <a:srgbClr val="FFFFFF">
                    <a:alpha val="4000"/>
                  </a:srgbClr>
                </a:solidFill>
                <a:latin typeface="Inter Black"/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16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54500" y="2286000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35500" y="2286000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716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9505"/>
            <a:ext cx="15240000" cy="18859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>
                <a:solidFill>
                  <a:srgbClr val="FFFFFF"/>
                </a:solidFill>
                <a:latin typeface="Inter Black"/>
              </a:rPr>
              <a:t>THE CHAOS.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35955"/>
            <a:ext cx="152400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666666"/>
                </a:solidFill>
                <a:latin typeface="Inter Black"/>
              </a:rPr>
              <a:t>BEFORE THE PLATFORM.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8774430"/>
            <a:ext cx="16002000" cy="2952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AAAAAA"/>
                </a:solidFill>
                <a:latin typeface="Inter"/>
              </a:rPr>
              <a:t>What happens when platform teams become the bottleneck — and how to think differently.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33560" y="-1188720"/>
            <a:ext cx="7620000" cy="80676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000000">
                    <a:alpha val="3000"/>
                  </a:srgbClr>
                </a:solidFill>
                <a:latin typeface="Inter Black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02 / DAY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26129"/>
            <a:ext cx="15240000" cy="20097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0" b="1">
                <a:solidFill>
                  <a:srgbClr val="000000"/>
                </a:solidFill>
                <a:latin typeface="Inter Black"/>
              </a:rPr>
              <a:t>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83555"/>
            <a:ext cx="7620000" cy="342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AAAAAA"/>
                </a:solidFill>
                <a:latin typeface="Inter"/>
              </a:rPr>
              <a:t>Three things. Zero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NAMESPACE.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60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499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60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0" y="7993380"/>
            <a:ext cx="4952999" cy="8286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DDDDDD"/>
                </a:solidFill>
                <a:latin typeface="Inter Black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1999" y="8963025"/>
            <a:ext cx="495299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00560" y="9003030"/>
            <a:ext cx="4952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50">
                <a:solidFill>
                  <a:srgbClr val="000000"/>
                </a:solidFill>
                <a:latin typeface="Inter ExtraBold"/>
              </a:rPr>
              <a:t>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00560" y="-617219"/>
            <a:ext cx="4762500" cy="80676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500" y="1523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1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03 / WHO DO YOU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36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WHO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881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666666"/>
                </a:solidFill>
                <a:latin typeface="Inter Black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02630"/>
            <a:ext cx="1524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CALL?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8774430"/>
            <a:ext cx="16002000" cy="2952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AAAAAA"/>
                </a:solidFill>
                <a:latin typeface="Inter"/>
              </a:rPr>
              <a:t>When your team needs infrastructure. Today. Not next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42560" y="716280"/>
            <a:ext cx="11430000" cy="4762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59405"/>
            <a:ext cx="8572500" cy="761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444444"/>
                </a:solidFill>
                <a:latin typeface="Inter ExtraBold"/>
              </a:rPr>
              <a:t>THE TICKET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54730"/>
            <a:ext cx="762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SLOW.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26380"/>
            <a:ext cx="11430000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444444"/>
                </a:solidFill>
                <a:latin typeface="Inter Black"/>
              </a:rPr>
              <a:t>INCONSISTENT.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26480"/>
            <a:ext cx="11430000" cy="1143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Inter Black"/>
              </a:rPr>
              <a:t>BOTTLENECK.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9003030"/>
            <a:ext cx="13334999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55555"/>
                </a:solidFill>
                <a:latin typeface="Inter"/>
              </a:rPr>
              <a:t>The ticket queue is where developer velocity goes to die.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386560" y="7098030"/>
            <a:ext cx="2381250" cy="285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3060" y="4526280"/>
            <a:ext cx="1143000" cy="1333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>
                    <a:alpha val="7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4809" y="6145530"/>
            <a:ext cx="1714500" cy="2095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FFFFFF">
                    <a:alpha val="10000"/>
                  </a:srgbClr>
                </a:solidFill>
                <a:latin typeface="Inter Black"/>
              </a:rPr>
              <a:t>*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" y="1523999"/>
            <a:ext cx="152400" cy="1524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" y="1904999"/>
            <a:ext cx="152400" cy="15240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" y="22860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21280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EVERY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59580"/>
            <a:ext cx="857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666666"/>
                </a:solidFill>
                <a:latin typeface="Inter Black"/>
              </a:rPr>
              <a:t>EVERY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97880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SNOWFLAKE.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601075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8774430"/>
            <a:ext cx="16002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AAAAAA"/>
                </a:solidFill>
                <a:latin typeface="Inter"/>
              </a:rPr>
              <a:t>No two teams build their infrastructure the same way. The platform team inherits the chaos.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60" y="1859280"/>
            <a:ext cx="47625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FFFFFF">
                    <a:alpha val="11000"/>
                  </a:srgbClr>
                </a:solidFill>
                <a:latin typeface="Inter ExtraBold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00560" y="1287780"/>
            <a:ext cx="4762500" cy="514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8241029"/>
            <a:ext cx="4762500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53060" y="6621780"/>
            <a:ext cx="4762500" cy="5429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7764780"/>
            <a:ext cx="4762500" cy="4667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6560" y="8907780"/>
            <a:ext cx="4762500" cy="3905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9059" y="2621280"/>
            <a:ext cx="4762500" cy="761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FFFFFF">
                    <a:alpha val="12000"/>
                  </a:srgbClr>
                </a:solidFill>
                <a:latin typeface="Inter ExtraBold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9810" y="5478780"/>
            <a:ext cx="4762500" cy="37147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OBSERVABILITY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35555"/>
            <a:ext cx="14287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TOO MUCH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4804"/>
            <a:ext cx="476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555555"/>
                </a:solidFill>
                <a:latin typeface="Inter Black"/>
              </a:rPr>
              <a:t>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74055"/>
            <a:ext cx="8572500" cy="15716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610600"/>
            <a:ext cx="1143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8707755"/>
            <a:ext cx="16002000" cy="5905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Inter"/>
              </a:rPr>
              <a:t>Developers are asked to master features, security, and infrastructure simultaneously. Cognitive overload isn’t a weakness — it’s an architectural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72500" y="-2857500"/>
            <a:ext cx="13334999" cy="1333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7810500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7810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7810500"/>
            <a:ext cx="133350" cy="13335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54500" y="8191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35500" y="8191500"/>
            <a:ext cx="133350" cy="1333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16500" y="8191500"/>
            <a:ext cx="133350" cy="1333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476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01 / THE CHAOS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54654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>
                <a:solidFill>
                  <a:srgbClr val="FFFFFF"/>
                </a:solidFill>
                <a:latin typeface="Inter Black"/>
              </a:rPr>
              <a:t>WHAT IF THEY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35780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>
                <a:solidFill>
                  <a:srgbClr val="404040"/>
                </a:solidFill>
                <a:latin typeface="Inter Black"/>
              </a:rPr>
              <a:t>NEVER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16905"/>
            <a:ext cx="133349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50" b="1">
                <a:solidFill>
                  <a:srgbClr val="FFFFFF"/>
                </a:solidFill>
                <a:latin typeface="Inter Black"/>
              </a:rPr>
              <a:t>TO CALL YOU?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886825"/>
            <a:ext cx="1143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8983980"/>
            <a:ext cx="11430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Inter"/>
              </a:rPr>
              <a:t>The platform team’s job isn’t to say no. It’s to make yes the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33060" y="2240279"/>
            <a:ext cx="13334999" cy="6191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9524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54500" y="1333500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35500" y="1333500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16500" y="1333500"/>
            <a:ext cx="133350" cy="133350"/>
          </a:xfrm>
          <a:prstGeom prst="ellipse">
            <a:avLst/>
          </a:prstGeom>
          <a:solidFill>
            <a:srgbClr val="0000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49980"/>
            <a:ext cx="85725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CCCCCC"/>
                </a:solidFill>
                <a:latin typeface="Inter Black"/>
              </a:rPr>
              <a:t>YOU BUILD IT. YOU RUN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562475"/>
            <a:ext cx="1523999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83454"/>
            <a:ext cx="11430000" cy="1714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000000"/>
                </a:solidFill>
                <a:latin typeface="Inter Black"/>
              </a:rPr>
              <a:t>AT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9012555"/>
            <a:ext cx="13334999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88888"/>
                </a:solidFill>
                <a:latin typeface="Inter Medium"/>
              </a:rPr>
              <a:t>Platform engineering is DevOps that scales — built for large teams and large organisations.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81060" y="3288029"/>
            <a:ext cx="10477499" cy="3619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0" b="1">
                <a:solidFill>
                  <a:srgbClr val="FFFFFF">
                    <a:alpha val="6000"/>
                  </a:srgbClr>
                </a:solidFill>
                <a:latin typeface="Inter Black"/>
              </a:rPr>
              <a:t>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144500" y="4286250"/>
            <a:ext cx="4762500" cy="47624"/>
          </a:xfrm>
          <a:prstGeom prst="rect">
            <a:avLst/>
          </a:prstGeom>
          <a:solidFill>
            <a:srgbClr val="3333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87500" y="4572000"/>
            <a:ext cx="3429000" cy="47624"/>
          </a:xfrm>
          <a:prstGeom prst="rect">
            <a:avLst/>
          </a:prstGeom>
          <a:solidFill>
            <a:srgbClr val="33333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0" y="4857750"/>
            <a:ext cx="2095499" cy="47624"/>
          </a:xfrm>
          <a:prstGeom prst="rect">
            <a:avLst/>
          </a:prstGeom>
          <a:solidFill>
            <a:srgbClr val="33333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4780"/>
            <a:ext cx="11430000" cy="15430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0" b="1">
                <a:solidFill>
                  <a:srgbClr val="FFFFFF"/>
                </a:solidFill>
                <a:latin typeface="Inter Black"/>
              </a:rPr>
              <a:t>A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602605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444444"/>
                </a:solidFill>
                <a:latin typeface="Inter Black"/>
              </a:rPr>
              <a:t>NOT A TICKET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9012555"/>
            <a:ext cx="8572500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75">
                <a:solidFill>
                  <a:srgbClr val="555555"/>
                </a:solidFill>
                <a:latin typeface="Inter Medium"/>
              </a:rPr>
              <a:t>The platform team ships. Developers self-serve.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33560" y="2335530"/>
            <a:ext cx="10477499" cy="7239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5000" b="1">
                <a:solidFill>
                  <a:srgbClr val="FFFFFF">
                    <a:alpha val="4000"/>
                  </a:srgbClr>
                </a:solidFill>
                <a:latin typeface="Inter Black"/>
              </a:rPr>
              <a:t>IDP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07105"/>
            <a:ext cx="5715000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Inter Black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50130"/>
            <a:ext cx="10477499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Inter Black"/>
              </a:rPr>
              <a:t>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8593455"/>
            <a:ext cx="13334999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AAAAA"/>
                </a:solidFill>
                <a:latin typeface="Inter"/>
              </a:rPr>
              <a:t>A product your developers consume — not a system they wait for.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9003030"/>
            <a:ext cx="13334999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6666"/>
                </a:solidFill>
                <a:latin typeface="Inter"/>
              </a:rPr>
              <a:t>Abstractions, golden path, self-service — built once, used by every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19060" y="2811779"/>
            <a:ext cx="12382500" cy="6191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1454"/>
            <a:ext cx="12382500" cy="13811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000000"/>
                </a:solidFill>
                <a:latin typeface="Inter Black"/>
              </a:rPr>
              <a:t>OPINIONATED.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78780"/>
            <a:ext cx="9525000" cy="7429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CCCCCC"/>
                </a:solidFill>
                <a:latin typeface="Inter Black"/>
              </a:rPr>
              <a:t>NOT MANDATORY.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003030"/>
            <a:ext cx="952500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88888"/>
                </a:solidFill>
                <a:latin typeface="Inter"/>
              </a:rPr>
              <a:t>Make the right thing easy. Make the wrong thing intentional.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30530"/>
            <a:ext cx="9525000" cy="8381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666666"/>
                </a:solidFill>
                <a:latin typeface="Inter SemiBold"/>
              </a:rPr>
              <a:t>02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44955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FFFFFF"/>
                </a:solidFill>
                <a:latin typeface="Inter Black"/>
              </a:rPr>
              <a:t>SELF-SERVICE.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11755"/>
            <a:ext cx="76200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66666"/>
                </a:solidFill>
                <a:latin typeface="Inter"/>
              </a:rPr>
              <a:t>Developers provision what they need — on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219449"/>
            <a:ext cx="6838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97579"/>
            <a:ext cx="95250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FFFFFF"/>
                </a:solidFill>
                <a:latin typeface="Inter Black"/>
              </a:rPr>
              <a:t>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64380"/>
            <a:ext cx="85725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66666"/>
                </a:solidFill>
                <a:latin typeface="Inter"/>
              </a:rPr>
              <a:t>Every team’s infrastructure follows the same platform standards.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5172075"/>
            <a:ext cx="6838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50205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FFFFFF"/>
                </a:solidFill>
                <a:latin typeface="Inter Black"/>
              </a:rPr>
              <a:t>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517005"/>
            <a:ext cx="7620000" cy="2476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Inter"/>
              </a:rPr>
              <a:t>Clear ownership between platform team and product team.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86060" y="430530"/>
            <a:ext cx="13334999" cy="7619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5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16500" y="1904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71703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KUBERNETES.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8469630"/>
            <a:ext cx="16192499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666666"/>
                </a:solidFill>
                <a:latin typeface="Inter Black"/>
              </a:rPr>
              <a:t>AN API. NOT A SCHEDULER.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42560" y="2811779"/>
            <a:ext cx="13334999" cy="4762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INTENT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54500" y="1904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35500" y="1904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821805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000000"/>
                </a:solidFill>
                <a:latin typeface="Inter Black"/>
              </a:rPr>
              <a:t>YOU DECLARE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8374380"/>
            <a:ext cx="16192499" cy="10096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0" b="1">
                <a:solidFill>
                  <a:srgbClr val="CCCCCC"/>
                </a:solidFill>
                <a:latin typeface="Inter Black"/>
              </a:rPr>
              <a:t>KUBERNETES CONVERGES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00560" y="1287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ARGO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1859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9059" y="2430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5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ISTIO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2060" y="7764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FLUX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0060" y="8336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CROSSPLANE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560" y="8717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OPENTELEMETRY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6060" y="5288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>
                    <a:alpha val="9000"/>
                  </a:srgbClr>
                </a:solidFill>
                <a:latin typeface="Inter ExtraBold"/>
              </a:rPr>
              <a:t>CILIUM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6060" y="5478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>
                    <a:alpha val="10000"/>
                  </a:srgbClr>
                </a:solidFill>
                <a:latin typeface="Inter ExtraBold"/>
              </a:rPr>
              <a:t>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52882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>
                    <a:alpha val="7000"/>
                  </a:srgbClr>
                </a:solidFill>
                <a:latin typeface="Inter ExtraBold"/>
              </a:rPr>
              <a:t>KEDA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59" y="7383780"/>
            <a:ext cx="7620000" cy="1904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>
                    <a:alpha val="8000"/>
                  </a:srgbClr>
                </a:solidFill>
                <a:latin typeface="Inter ExtraBold"/>
              </a:rPr>
              <a:t>BACKSTAGE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71703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CNCF TOOLKIT.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8469630"/>
            <a:ext cx="16192499" cy="8191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555555"/>
                </a:solidFill>
                <a:latin typeface="Inter Black"/>
              </a:rPr>
              <a:t>BUILD ON KUBERNETES.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52060" y="3192779"/>
            <a:ext cx="13334999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GITOPS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92555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000000"/>
                </a:solidFill>
                <a:latin typeface="Inter Black"/>
              </a:rPr>
              <a:t>GIT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26055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CCCCCC"/>
                </a:solidFill>
                <a:latin typeface="Inter Black"/>
              </a:rPr>
              <a:t>THE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21505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69180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DECLARATIVE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64455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Desired state as data, not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9659" y="4421505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9659" y="4869180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VERSIONED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9659" y="5164455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Every change is a Git commit.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7760" y="4421505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7760" y="4869180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PULLED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760" y="5164455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The cluster fetches; CI never pushes.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5860" y="4421505"/>
            <a:ext cx="3619499" cy="4191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Inter Blac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5860" y="4869180"/>
            <a:ext cx="36194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RECONCILED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5860" y="5164455"/>
            <a:ext cx="3619499" cy="380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 Medium"/>
              </a:rPr>
              <a:t>Drift heals itself, continuously.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42560" y="224027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ARGO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0965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03 / CLOUD NATIVE + GITOPS  · 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81228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ARGO 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8564880"/>
            <a:ext cx="16192499" cy="723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0" b="1">
                <a:solidFill>
                  <a:srgbClr val="666666"/>
                </a:solidFill>
                <a:latin typeface="Inter Black"/>
              </a:rPr>
              <a:t>DRIFT? RECONCILE.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23560" y="2621280"/>
            <a:ext cx="13334999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0" b="1">
                <a:solidFill>
                  <a:srgbClr val="000000">
                    <a:alpha val="5000"/>
                  </a:srgbClr>
                </a:solidFill>
                <a:latin typeface="Inter Black"/>
              </a:rPr>
              <a:t>AZURE</a:t>
            </a:r>
          </a:p>
        </p:txBody>
      </p:sp>
      <p:sp>
        <p:nvSpPr>
          <p:cNvPr id="4" name="Oval 3"/>
          <p:cNvSpPr/>
          <p:nvPr/>
        </p:nvSpPr>
        <p:spPr>
          <a:xfrm>
            <a:off x="11430000" y="-1904999"/>
            <a:ext cx="11430000" cy="11430000"/>
          </a:xfrm>
          <a:prstGeom prst="ellipse">
            <a:avLst/>
          </a:prstGeom>
          <a:solidFill>
            <a:srgbClr val="0000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0965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54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35500" y="1523999"/>
            <a:ext cx="133350" cy="133350"/>
          </a:xfrm>
          <a:prstGeom prst="ellipse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716500" y="1523999"/>
            <a:ext cx="133350" cy="133350"/>
          </a:xfrm>
          <a:prstGeom prst="ellipse">
            <a:avLst/>
          </a:prstGeom>
          <a:solidFill>
            <a:srgbClr val="000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03 / CLOUD NATIVE + GITOPS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6107430"/>
            <a:ext cx="16192499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000000"/>
                </a:solidFill>
                <a:latin typeface="Inter Black"/>
              </a:rPr>
              <a:t>AKS IS 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7259955"/>
            <a:ext cx="16192499" cy="11715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0" b="1">
                <a:solidFill>
                  <a:srgbClr val="000000"/>
                </a:solidFill>
                <a:latin typeface="Inter Black"/>
              </a:rPr>
              <a:t>IT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8507730"/>
            <a:ext cx="16192499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CCCCCC"/>
                </a:solidFill>
                <a:latin typeface="Inter Black"/>
              </a:rPr>
              <a:t>NOT WHERE IT STOPS.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7310" y="-61721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4000"/>
                  </a:srgbClr>
                </a:solidFill>
                <a:latin typeface="Inter Black"/>
              </a:rPr>
              <a:t>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06800" y="101346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SECTION 3  ·  GITOPS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68705"/>
            <a:ext cx="8572500" cy="8762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0" b="1">
                <a:solidFill>
                  <a:srgbClr val="FFFFFF"/>
                </a:solidFill>
                <a:latin typeface="Inter Black"/>
              </a:rPr>
              <a:t>HOW GITOPS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1810" y="3097530"/>
            <a:ext cx="2095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>
                    <a:alpha val="47000"/>
                  </a:srgbClr>
                </a:solidFill>
                <a:latin typeface="Inter"/>
              </a:rPr>
              <a:t>1  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6509" y="3097530"/>
            <a:ext cx="2095499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>
                    <a:alpha val="47000"/>
                  </a:srgbClr>
                </a:solidFill>
                <a:latin typeface="Inter"/>
              </a:rPr>
              <a:t>2  argo pulls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9410" y="3097530"/>
            <a:ext cx="17145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>
                    <a:alpha val="47000"/>
                  </a:srgbClr>
                </a:solidFill>
                <a:latin typeface="Inter"/>
              </a:rPr>
              <a:t>3 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210" y="3449955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>
                    <a:alpha val="33000"/>
                  </a:srgbClr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3210" y="3449955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>
                    <a:alpha val="33000"/>
                  </a:srgbClr>
                </a:solidFill>
                <a:latin typeface="Inter"/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43235" y="3449955"/>
            <a:ext cx="761999" cy="571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>
                    <a:alpha val="33000"/>
                  </a:srgbClr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943225"/>
            <a:ext cx="2095499" cy="1523999"/>
          </a:xfrm>
          <a:prstGeom prst="rect">
            <a:avLst/>
          </a:prstGeom>
          <a:noFill/>
          <a:ln w="9525">
            <a:solidFill>
              <a:srgbClr val="FFFFFF">
                <a:alpha val="2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5750" y="2943225"/>
            <a:ext cx="2476499" cy="1523999"/>
          </a:xfrm>
          <a:prstGeom prst="rect">
            <a:avLst/>
          </a:prstGeom>
          <a:noFill/>
          <a:ln w="9525">
            <a:solidFill>
              <a:srgbClr val="FFFFFF">
                <a:alpha val="2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0" y="2752725"/>
            <a:ext cx="2857500" cy="1904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20499" y="2562225"/>
            <a:ext cx="5334000" cy="2286000"/>
          </a:xfrm>
          <a:prstGeom prst="rect">
            <a:avLst/>
          </a:prstGeom>
          <a:noFill/>
          <a:ln w="9525">
            <a:solidFill>
              <a:srgbClr val="FFFFFF">
                <a:alpha val="2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1135" y="3526155"/>
            <a:ext cx="13335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CCCCC"/>
                </a:solidFill>
                <a:latin typeface="Inter Bold"/>
              </a:rPr>
              <a:t>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4385" y="3526155"/>
            <a:ext cx="1143000" cy="1904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CCCCC"/>
                </a:solidFill>
                <a:latin typeface="Inter Bold"/>
              </a:rPr>
              <a:t>GIT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5784" y="3497579"/>
            <a:ext cx="1523999" cy="2667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D0D0D"/>
                </a:solidFill>
                <a:latin typeface="Inter Bold"/>
              </a:rPr>
              <a:t>ARGO 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57710" y="3507105"/>
            <a:ext cx="3238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CCCCC"/>
                </a:solidFill>
                <a:latin typeface="Inter Bold"/>
              </a:rPr>
              <a:t>KUBERNETES 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6943725"/>
            <a:ext cx="5143500" cy="66675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7078980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ExtraBold"/>
              </a:rPr>
              <a:t>PULL NOT PUSH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2250" y="6943725"/>
            <a:ext cx="5143500" cy="66675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9410" y="7078980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ExtraBold"/>
              </a:rPr>
              <a:t>GIT = SOURCE OF TRUTH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1500" y="6943725"/>
            <a:ext cx="5143500" cy="66675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38660" y="7078980"/>
            <a:ext cx="46863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ExtraBold"/>
              </a:rPr>
              <a:t>ALWAYS CONVERGING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60" y="-236219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0" b="1">
                <a:solidFill>
                  <a:srgbClr val="000000">
                    <a:alpha val="4000"/>
                  </a:srgbClr>
                </a:solidFill>
                <a:latin typeface="Inter Black"/>
              </a:rPr>
              <a:t>ARGO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1180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06800" y="101346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000000"/>
                </a:solidFill>
                <a:latin typeface="Inter SemiBold"/>
              </a:rPr>
              <a:t>SECTION 3  ·  ARGO CD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68705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000000"/>
                </a:solidFill>
                <a:latin typeface="Inter Black"/>
              </a:rPr>
              <a:t>APP OF APPS.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79"/>
            <a:ext cx="11430000" cy="7143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50" b="1">
                <a:solidFill>
                  <a:srgbClr val="000000"/>
                </a:solidFill>
                <a:latin typeface="Inter Black"/>
              </a:rPr>
              <a:t>APPLICATIONSETS.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9379"/>
            <a:ext cx="3810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APP OF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3325" y="3124200"/>
            <a:ext cx="2667000" cy="6667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6709" y="3278505"/>
            <a:ext cx="165735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 ExtraBold"/>
              </a:rPr>
              <a:t>ROOT-APP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7300" y="3790949"/>
            <a:ext cx="19050" cy="476249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7875" y="4267200"/>
            <a:ext cx="6057900" cy="1905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47875" y="4286250"/>
            <a:ext cx="19050" cy="2667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7300" y="4286250"/>
            <a:ext cx="19050" cy="2667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6725" y="4286250"/>
            <a:ext cx="19050" cy="2667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4552950"/>
            <a:ext cx="1828800" cy="57150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2900" y="4552950"/>
            <a:ext cx="1828800" cy="57150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81849" y="4552950"/>
            <a:ext cx="1828800" cy="57150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669155"/>
            <a:ext cx="13716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INFRA-APP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7659" y="4669155"/>
            <a:ext cx="16764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PLATFORM-APP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9010" y="4669155"/>
            <a:ext cx="13716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APPS-APP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5900" y="2733674"/>
            <a:ext cx="19050" cy="2476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110" y="2659379"/>
            <a:ext cx="5715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ExtraBold"/>
              </a:rPr>
              <a:t>APPLICATIONSETS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53550" y="4114800"/>
            <a:ext cx="2667000" cy="76199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0710" y="4307205"/>
            <a:ext cx="22098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spc="75">
                <a:solidFill>
                  <a:srgbClr val="FFFFFF"/>
                </a:solidFill>
                <a:latin typeface="Inter ExtraBold"/>
              </a:rPr>
              <a:t>APPSET TEMPLATE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76735" y="4259580"/>
            <a:ext cx="571500" cy="4762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444444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782550" y="3352800"/>
            <a:ext cx="1905000" cy="66675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19710" y="3507105"/>
            <a:ext cx="14478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dev-cluster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782550" y="4114800"/>
            <a:ext cx="1905000" cy="66675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19710" y="4269105"/>
            <a:ext cx="14478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staging-cluster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782550" y="4876800"/>
            <a:ext cx="1905000" cy="666750"/>
          </a:xfrm>
          <a:prstGeom prst="rect">
            <a:avLst/>
          </a:prstGeom>
          <a:noFill/>
          <a:ln w="9525">
            <a:solidFill>
              <a:srgbClr val="00000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19710" y="5031105"/>
            <a:ext cx="14478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33333"/>
                </a:solidFill>
                <a:latin typeface="Inter Bold"/>
              </a:rPr>
              <a:t>prod-cluster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7496175"/>
            <a:ext cx="16002000" cy="47624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0409" y="7593330"/>
            <a:ext cx="11553825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25">
                <a:solidFill>
                  <a:srgbClr val="FFFFFF"/>
                </a:solidFill>
                <a:latin typeface="Inter Bold"/>
              </a:rPr>
              <a:t>DRIFT DETECTED  →  ARGO RECONCILES WITHIN SECONDS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76060" y="716280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MESSY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02280"/>
            <a:ext cx="8572500" cy="666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444444"/>
                </a:solidFill>
                <a:latin typeface="Inter ExtraBold"/>
              </a:rPr>
              <a:t>THE MESSY REALITY.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97605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MULTIPLE.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374005"/>
            <a:ext cx="8572500" cy="7524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0" b="1">
                <a:solidFill>
                  <a:srgbClr val="444444"/>
                </a:solidFill>
                <a:latin typeface="Inter Black"/>
              </a:rPr>
              <a:t>EXISTING.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126480"/>
            <a:ext cx="13334999" cy="8382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FFFFFF"/>
                </a:solidFill>
                <a:latin typeface="Inter Black"/>
              </a:rPr>
              <a:t>CONSTRAINED.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9003030"/>
            <a:ext cx="13334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55555"/>
                </a:solidFill>
                <a:latin typeface="Inter"/>
              </a:rPr>
              <a:t>Multiple teams, existing Terraform, real compliance. Platforms must work with what exists.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42560" y="1383029"/>
            <a:ext cx="15240000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0" b="1">
                <a:solidFill>
                  <a:srgbClr val="000000">
                    <a:alpha val="4000"/>
                  </a:srgbClr>
                </a:solidFill>
                <a:latin typeface="Inter Black"/>
              </a:rPr>
              <a:t>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7980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5630"/>
            <a:ext cx="6095999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SELF-SERVICE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1860" y="3583304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60" y="3373755"/>
            <a:ext cx="5715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888888"/>
                </a:solidFill>
                <a:latin typeface="Inter Black"/>
              </a:rPr>
              <a:t>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05300"/>
            <a:ext cx="160020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497705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45355"/>
            <a:ext cx="6477000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2859" y="5193030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60" y="4983480"/>
            <a:ext cx="5334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888888"/>
                </a:solidFill>
                <a:latin typeface="Inter Black"/>
              </a:rPr>
              <a:t>FLEXIBILITY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915024"/>
            <a:ext cx="160020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6107430"/>
            <a:ext cx="571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300">
                <a:solidFill>
                  <a:srgbClr val="CCCCCC"/>
                </a:solidFill>
                <a:latin typeface="Inter 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355080"/>
            <a:ext cx="4381500" cy="8572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000000"/>
                </a:solidFill>
                <a:latin typeface="Inter Black"/>
              </a:rPr>
              <a:t>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7360" y="6802755"/>
            <a:ext cx="761999" cy="380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AAAAA"/>
                </a:solidFill>
                <a:latin typeface="Inter Bold"/>
              </a:rP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560" y="6593205"/>
            <a:ext cx="40005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888888"/>
                </a:solidFill>
                <a:latin typeface="Inter Black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8983980"/>
            <a:ext cx="13334999" cy="2762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Every platform decision lives at the intersection of these three tensions.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4810" y="1859280"/>
            <a:ext cx="11430000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68929"/>
            <a:ext cx="16192499" cy="13430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FFFFF"/>
                </a:solidFill>
                <a:latin typeface="Inter Black"/>
              </a:rPr>
              <a:t>SOVEREIGNTY.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88155"/>
            <a:ext cx="11430000" cy="514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55555"/>
                </a:solidFill>
                <a:latin typeface="Inter Black"/>
              </a:rPr>
              <a:t>WHO CONTROLS THE API?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6581775"/>
            <a:ext cx="5334000" cy="590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66789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spc="150">
                <a:solidFill>
                  <a:srgbClr val="FFFFFF"/>
                </a:solidFill>
                <a:latin typeface="Inter ExtraBold"/>
              </a:rPr>
              <a:t>WHERE IS THE STATE?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6581775"/>
            <a:ext cx="5334000" cy="5905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4159" y="66789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spc="150">
                <a:solidFill>
                  <a:srgbClr val="FFFFFF"/>
                </a:solidFill>
                <a:latin typeface="Inter ExtraBold"/>
              </a:rPr>
              <a:t>WHO OWNS THE AUDIT TRAIL?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11000" y="6581775"/>
            <a:ext cx="5334000" cy="590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48160" y="6678930"/>
            <a:ext cx="476250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spc="150">
                <a:solidFill>
                  <a:srgbClr val="FFFFFF"/>
                </a:solidFill>
                <a:latin typeface="Inter ExtraBold"/>
              </a:rPr>
              <a:t>WHAT IF THE VENDOR LEAVES?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905874"/>
            <a:ext cx="761999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9003030"/>
            <a:ext cx="13334999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55555"/>
                </a:solidFill>
                <a:latin typeface="Inter"/>
              </a:rPr>
              <a:t>All four tools share one property: the control plane stays inside your Kubernetes API.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04 / REAL-WORLD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49755"/>
            <a:ext cx="152400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00000"/>
                </a:solidFill>
                <a:latin typeface="Inter Black"/>
              </a:rPr>
              <a:t>THE FLEXIBLE CONTROL PLANE.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83180"/>
            <a:ext cx="11430000" cy="3429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88888"/>
                </a:solidFill>
                <a:latin typeface="Inter Bold"/>
              </a:rPr>
              <a:t>ONE ENGINE. FOUR TOOLS. YOUR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724275"/>
            <a:ext cx="16002000" cy="4619625"/>
          </a:xfrm>
          <a:prstGeom prst="rect">
            <a:avLst/>
          </a:prstGeom>
          <a:noFill/>
          <a:ln w="9525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57300" y="3581400"/>
            <a:ext cx="1619250" cy="200025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110" y="3507105"/>
            <a:ext cx="142875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spc="150">
                <a:solidFill>
                  <a:srgbClr val="FFFFFF"/>
                </a:solidFill>
                <a:latin typeface="Inter Bold"/>
              </a:rPr>
              <a:t>KUBERNETES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73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9900" y="4067175"/>
            <a:ext cx="380999" cy="38099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3235" y="4059555"/>
            <a:ext cx="190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ASO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44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Azure resources as K8s CRDs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5191125"/>
            <a:ext cx="571500" cy="2095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51610" y="5126355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97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72300" y="4067175"/>
            <a:ext cx="380999" cy="380999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634" y="4059555"/>
            <a:ext cx="190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Bold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68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CROSSPLANE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68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Build your own platform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8300" y="5191125"/>
            <a:ext cx="571500" cy="2095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4009" y="5126355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21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34699" y="4067175"/>
            <a:ext cx="380999" cy="38099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48035" y="4059555"/>
            <a:ext cx="190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Bold"/>
              </a:rPr>
              <a:t>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92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KRO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92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Compose multi-resource app concepts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0700" y="5191125"/>
            <a:ext cx="571500" cy="2095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6410" y="5126355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44500" y="3838575"/>
            <a:ext cx="3886200" cy="17049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897100" y="4067175"/>
            <a:ext cx="380999" cy="3809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10434" y="4059555"/>
            <a:ext cx="190499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Bold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81660" y="4478655"/>
            <a:ext cx="34290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TERRANETES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81660" y="4754880"/>
            <a:ext cx="3429000" cy="32384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88888"/>
                </a:solidFill>
                <a:latin typeface="Inter Medium"/>
              </a:rPr>
              <a:t>Terraform under K8s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73100" y="5191125"/>
            <a:ext cx="571500" cy="209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38810" y="5126355"/>
            <a:ext cx="47625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Bold"/>
              </a:rPr>
              <a:t>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323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6584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0993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53285" y="5507355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7300" y="6019800"/>
            <a:ext cx="15773400" cy="885825"/>
          </a:xfrm>
          <a:prstGeom prst="rect">
            <a:avLst/>
          </a:prstGeom>
          <a:solidFill>
            <a:srgbClr val="1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34125" y="6276975"/>
            <a:ext cx="380999" cy="380999"/>
          </a:xfrm>
          <a:prstGeom prst="ellipse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8885" y="6259830"/>
            <a:ext cx="285750" cy="152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Inter Bold"/>
              </a:rPr>
              <a:t>K8s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6085" y="6069330"/>
            <a:ext cx="5715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nter Black"/>
              </a:rPr>
              <a:t>KUBERNETES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76085" y="6374130"/>
            <a:ext cx="76200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150">
                <a:solidFill>
                  <a:srgbClr val="4A7AB5"/>
                </a:solidFill>
                <a:latin typeface="Inter SemiBold"/>
              </a:rPr>
              <a:t>THE CONTROL PLANE — ALL TOOLS RUN AS OPERATORS 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259" y="6888480"/>
            <a:ext cx="28575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CCCCC"/>
                </a:solidFill>
                <a:latin typeface="Inter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57300" y="7343775"/>
            <a:ext cx="15773400" cy="88582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57975" y="7591424"/>
            <a:ext cx="380999" cy="380999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9410" y="7593330"/>
            <a:ext cx="1143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9935" y="7393305"/>
            <a:ext cx="3810000" cy="32384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nter Black"/>
              </a:rPr>
              <a:t>ARGO CD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9935" y="7698105"/>
            <a:ext cx="6667499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150">
                <a:solidFill>
                  <a:srgbClr val="666666"/>
                </a:solidFill>
                <a:latin typeface="Inter SemiBold"/>
              </a:rPr>
              <a:t>GITOPS DELIVERY LAYER — SITS BENEATH ALL TOOLS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8983980"/>
            <a:ext cx="8572500" cy="27622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Use one. Use all four. The control plane is flexible.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05 /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5030"/>
            <a:ext cx="8572500" cy="6858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00000"/>
                </a:solidFill>
                <a:latin typeface="Inter Black"/>
              </a:rPr>
              <a:t>FOUR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21305"/>
            <a:ext cx="123825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75">
                <a:solidFill>
                  <a:srgbClr val="AAAAAA"/>
                </a:solidFill>
                <a:latin typeface="Inter SemiBold"/>
              </a:rPr>
              <a:t>CHOOSE BY ABSTRACTION, SKILLS, AND EXISTING INVESTMENTS.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152900"/>
            <a:ext cx="16002000" cy="8762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4343400"/>
            <a:ext cx="495300" cy="49529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1135" y="4345305"/>
            <a:ext cx="190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28815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ASO — AZURE SERVICE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55485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Azure resources in Git as Kubernetes YAML. If you think in Azure terms and want GitOps, start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63874" y="4381500"/>
            <a:ext cx="571500" cy="19049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0060" y="4307205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2435" y="4516755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0078D4"/>
                </a:solidFill>
                <a:latin typeface="Inter Bold"/>
              </a:rPr>
              <a:t>✅ AZURE 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086350"/>
            <a:ext cx="16002000" cy="87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5086350"/>
            <a:ext cx="16002000" cy="876299"/>
          </a:xfrm>
          <a:prstGeom prst="rect">
            <a:avLst/>
          </a:prstGeom>
          <a:noFill/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5276850"/>
            <a:ext cx="495300" cy="495299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1135" y="5278755"/>
            <a:ext cx="190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nter Bold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2216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CROSSPLANE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48830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You design the API your developers use. Everything Azure is hidden behind your abstractions. Own the platform contract.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63874" y="5314950"/>
            <a:ext cx="571500" cy="1904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0060" y="5240655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72435" y="5450205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888888"/>
                </a:solidFill>
                <a:latin typeface="Inter Bold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019800"/>
            <a:ext cx="16002000" cy="8762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0" y="6210300"/>
            <a:ext cx="495300" cy="49529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1135" y="6212205"/>
            <a:ext cx="190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nter Bold"/>
              </a:rPr>
              <a:t>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615505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KRO — KUBERNETES RESOURCE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642175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One CR expands into many. Compose app-level concepts without full Crossplane complexity. Pairs perfectly with ASO.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763874" y="6248400"/>
            <a:ext cx="571500" cy="19049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20060" y="6174105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72435" y="6383655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8B5CF6"/>
                </a:solidFill>
                <a:latin typeface="Inter Bold"/>
              </a:rPr>
              <a:t>✅ + ASO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6953250"/>
            <a:ext cx="16002000" cy="87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6953250"/>
            <a:ext cx="16002000" cy="876299"/>
          </a:xfrm>
          <a:prstGeom prst="rect">
            <a:avLst/>
          </a:prstGeom>
          <a:noFill/>
          <a:ln w="9525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7143750"/>
            <a:ext cx="495300" cy="495299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1135" y="7145655"/>
            <a:ext cx="190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nter Bold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70885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Inter Black"/>
              </a:rPr>
              <a:t>TERRANETES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7355205"/>
            <a:ext cx="1238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6666"/>
                </a:solidFill>
                <a:latin typeface="Inter"/>
              </a:rPr>
              <a:t>Your Terraform, under Kubernetes control. Policy-gated, Git-tracked, no rewrite required. The pragmatic choice.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63874" y="7181850"/>
            <a:ext cx="571500" cy="19049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20060" y="7107555"/>
            <a:ext cx="47625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FFFFFF"/>
                </a:solidFill>
                <a:latin typeface="Inter ExtraBold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72435" y="7317105"/>
            <a:ext cx="1143000" cy="1333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75">
                <a:solidFill>
                  <a:srgbClr val="10B981"/>
                </a:solidFill>
                <a:latin typeface="Inter Bold"/>
              </a:rPr>
              <a:t>✅ AZURE NATIVE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8839200"/>
            <a:ext cx="16002000" cy="49529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8953500"/>
            <a:ext cx="266700" cy="266700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5410" y="8936355"/>
            <a:ext cx="95249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61160" y="8793480"/>
            <a:ext cx="85725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FFFFFF"/>
                </a:solidFill>
                <a:latin typeface="Inter Bold"/>
              </a:rPr>
              <a:t>ARGO CD — DELIVERS ALL OF THE ABOVE THROUGH GITOPS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7310" y="1668780"/>
            <a:ext cx="14287500" cy="57150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0" b="1">
                <a:solidFill>
                  <a:srgbClr val="000000">
                    <a:alpha val="3000"/>
                  </a:srgbClr>
                </a:solidFill>
                <a:latin typeface="Inter Black"/>
              </a:rPr>
              <a:t>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5715000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888888"/>
                </a:solidFill>
                <a:latin typeface="Inter SemiBold"/>
              </a:rPr>
              <a:t>05 / DECISION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30805"/>
            <a:ext cx="15240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Inter Black"/>
              </a:rPr>
              <a:t>NOT MUTUALLY EXCLUSIVE.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78505"/>
            <a:ext cx="12382500" cy="2571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spc="75">
                <a:solidFill>
                  <a:srgbClr val="AAAAAA"/>
                </a:solidFill>
                <a:latin typeface="Inter SemiBold"/>
              </a:rPr>
              <a:t>USE ONE. USE ALL FOUR. REAL PLATFORMS MIX AND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5105400"/>
            <a:ext cx="14401800" cy="533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0787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2259" y="5135880"/>
            <a:ext cx="14020800" cy="2857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Inter SemiBold"/>
              </a:rPr>
              <a:t>Simple CR — give me an AppDatabase  ·  One KRO ResourceGroup  ·  No YAML knowledge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715000"/>
            <a:ext cx="14401800" cy="647699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6883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PROVISIONING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600" y="5829300"/>
            <a:ext cx="590550" cy="4191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0850" y="5924550"/>
            <a:ext cx="228600" cy="228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6559" y="5878830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210" y="5831205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78D4"/>
                </a:solidFill>
                <a:latin typeface="Inter ExtraBold"/>
              </a:rPr>
              <a:t>ASO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2350" y="5829300"/>
            <a:ext cx="1257300" cy="4191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600" y="592455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3310" y="5878830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0959" y="5831205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4444"/>
                </a:solidFill>
                <a:latin typeface="Inter ExtraBold"/>
              </a:rPr>
              <a:t>CROSSPLANE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5849" y="5829300"/>
            <a:ext cx="590550" cy="4191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91100" y="5924550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810" y="5878830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4460" y="5831205"/>
            <a:ext cx="257175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Inter ExtraBold"/>
              </a:rPr>
              <a:t>KRO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2600" y="5829300"/>
            <a:ext cx="1257300" cy="4191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57850" y="592455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5878830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1210" y="5831205"/>
            <a:ext cx="857250" cy="20955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Inter ExtraBold"/>
              </a:rPr>
              <a:t>TERRANETES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6438899"/>
            <a:ext cx="14401800" cy="609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64122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DELIVERY</a:t>
            </a:r>
          </a:p>
        </p:txBody>
      </p:sp>
      <p:sp>
        <p:nvSpPr>
          <p:cNvPr id="33" name="Oval 32"/>
          <p:cNvSpPr/>
          <p:nvPr/>
        </p:nvSpPr>
        <p:spPr>
          <a:xfrm>
            <a:off x="2933700" y="6591300"/>
            <a:ext cx="304800" cy="304800"/>
          </a:xfrm>
          <a:prstGeom prst="ellipse">
            <a:avLst/>
          </a:prstGeom>
          <a:solidFill>
            <a:srgbClr val="EF7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47035" y="6564630"/>
            <a:ext cx="114300" cy="1619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2309" y="6431280"/>
            <a:ext cx="13334999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50">
                <a:solidFill>
                  <a:srgbClr val="FFFFFF"/>
                </a:solidFill>
                <a:latin typeface="Inter Bold"/>
              </a:rPr>
              <a:t>ARGO CD — WATCHES GIT  ·  SYNCS TO KUBERNETES  ·  DELIVERS EVERYTHING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7124699"/>
            <a:ext cx="14401800" cy="4857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7098030"/>
            <a:ext cx="1476375" cy="1238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spc="225">
                <a:solidFill>
                  <a:srgbClr val="AAAAAA"/>
                </a:solidFill>
                <a:latin typeface="Inter Bold"/>
              </a:rPr>
              <a:t>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42259" y="7155180"/>
            <a:ext cx="2476499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>
                <a:solidFill>
                  <a:srgbClr val="333333"/>
                </a:solidFill>
                <a:latin typeface="Inter ExtraBold"/>
              </a:rPr>
              <a:t>GIT 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59" y="7155180"/>
            <a:ext cx="85725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— single source of truth for all resource definitions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9012555"/>
            <a:ext cx="133349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88888"/>
                </a:solidFill>
                <a:latin typeface="Inter"/>
              </a:rPr>
              <a:t>The platform team’s job is to assemble these layers thoughtfully — not to standardise on a single tool.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14060" y="906780"/>
            <a:ext cx="13334999" cy="66675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0" b="1">
                <a:solidFill>
                  <a:srgbClr val="FFFFFF">
                    <a:alpha val="5000"/>
                  </a:srgbClr>
                </a:solidFill>
                <a:latin typeface="Inter Black"/>
              </a:rPr>
              <a:t>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83000" y="10210800"/>
            <a:ext cx="1905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1143000"/>
            <a:ext cx="1333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310" y="1049655"/>
            <a:ext cx="6667499" cy="2286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FFFFFF"/>
                </a:solidFill>
                <a:latin typeface="Inter SemiBold"/>
              </a:rPr>
              <a:t>05 / DECISION FRAMEWORK  ·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64280"/>
            <a:ext cx="16192499" cy="1676400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Inter Black"/>
              </a:rPr>
              <a:t>LET’S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516880"/>
            <a:ext cx="15240000" cy="619124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444444"/>
                </a:solidFill>
                <a:latin typeface="Inter Black"/>
              </a:rPr>
              <a:t>FOUR TOOLS. FOUR PROBLEMS.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801100"/>
            <a:ext cx="1104900" cy="533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3500" y="8934449"/>
            <a:ext cx="266700" cy="2667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7785" y="8917305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4010" y="8793480"/>
            <a:ext cx="5334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>
                <a:solidFill>
                  <a:srgbClr val="FFFFFF"/>
                </a:solidFill>
                <a:latin typeface="Inter ExtraBold"/>
              </a:rPr>
              <a:t>ASO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62200" y="8801100"/>
            <a:ext cx="1885950" cy="533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52700" y="8934449"/>
            <a:ext cx="266700" cy="2667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6985" y="8917305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3209" y="8793480"/>
            <a:ext cx="131445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>
                <a:solidFill>
                  <a:srgbClr val="FFFFFF"/>
                </a:solidFill>
                <a:latin typeface="Inter ExtraBold"/>
              </a:rPr>
              <a:t>CROSSPLANE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2450" y="8801100"/>
            <a:ext cx="1104900" cy="533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52950" y="8934449"/>
            <a:ext cx="266700" cy="2667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7235" y="8917305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59" y="8793480"/>
            <a:ext cx="533400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>
                <a:solidFill>
                  <a:srgbClr val="FFFFFF"/>
                </a:solidFill>
                <a:latin typeface="Inter ExtraBold"/>
              </a:rPr>
              <a:t>KRO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1650" y="8801100"/>
            <a:ext cx="1866899" cy="533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72150" y="8934449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6435" y="8917305"/>
            <a:ext cx="114300" cy="1428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 Bold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2659" y="8793480"/>
            <a:ext cx="1295399" cy="180975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75">
                <a:solidFill>
                  <a:srgbClr val="FFFFFF"/>
                </a:solidFill>
                <a:latin typeface="Inter ExtraBold"/>
              </a:rPr>
              <a:t>TERRANETES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