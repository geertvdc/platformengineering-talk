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TECHORAMA BELGIUM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240279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CLOUD 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11855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583430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666666"/>
                </a:solidFill>
                <a:latin typeface="Inter Black"/>
              </a:rPr>
              <a:t>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850255"/>
            <a:ext cx="8572500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ON AZURE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229600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288655"/>
            <a:ext cx="8572500" cy="4381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/>
                </a:solidFill>
                <a:latin typeface="Inter ExtraBold"/>
              </a:rPr>
              <a:t>Geert van der Cruijsen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876490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spc="75">
                <a:solidFill>
                  <a:srgbClr val="888888"/>
                </a:solidFill>
                <a:latin typeface="Inter"/>
              </a:rPr>
              <a:t>CEO &amp; Co-founder · Zure NL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243560" y="-1760220"/>
            <a:ext cx="3810000" cy="92201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!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9505"/>
            <a:ext cx="15240000" cy="1885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>
                <a:solidFill>
                  <a:srgbClr val="FFFFFF"/>
                </a:solidFill>
                <a:latin typeface="Inter Black"/>
              </a:rPr>
              <a:t>THE CHAOS.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7359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666666"/>
                </a:solidFill>
                <a:latin typeface="Inter Black"/>
              </a:rPr>
              <a:t>BEFORE THE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What happens when platform teams become the bottleneck — and how to think differently.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-1188720"/>
            <a:ext cx="76200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DAY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26129"/>
            <a:ext cx="15240000" cy="20097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0" b="1">
                <a:solidFill>
                  <a:srgbClr val="000000"/>
                </a:solidFill>
                <a:latin typeface="Inter Black"/>
              </a:rPr>
              <a:t>DAY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583555"/>
            <a:ext cx="762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AAAAAA"/>
                </a:solidFill>
                <a:latin typeface="Inter"/>
              </a:rPr>
              <a:t>Three things. Zero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NAMESPACE.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60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4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60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19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00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00560" y="-617219"/>
            <a:ext cx="47625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03 / WHO DO YOU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73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WHO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0881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666666"/>
                </a:solidFill>
                <a:latin typeface="Inter Black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802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CALL?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8774430"/>
            <a:ext cx="16002000" cy="2952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When your team needs infrastructure. Today. Not next week.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716280"/>
            <a:ext cx="11430000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59405"/>
            <a:ext cx="857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54730"/>
            <a:ext cx="762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SLOW.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326380"/>
            <a:ext cx="11430000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444444"/>
                </a:solidFill>
                <a:latin typeface="Inter Black"/>
              </a:rPr>
              <a:t>INCONSISTENT.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26480"/>
            <a:ext cx="11430000" cy="1143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0" b="1">
                <a:solidFill>
                  <a:srgbClr val="FFFFFF"/>
                </a:solidFill>
                <a:latin typeface="Inter Black"/>
              </a:rPr>
              <a:t>BOTTLENECK.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The ticket queue is where developer velocity goes to die.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386560" y="7098030"/>
            <a:ext cx="2381250" cy="285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863060" y="4526280"/>
            <a:ext cx="1143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>
                    <a:alpha val="7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4809" y="6145530"/>
            <a:ext cx="1714500" cy="2095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>
                    <a:alpha val="10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12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EVERY TEAM.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59580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666666"/>
                </a:solidFill>
                <a:latin typeface="Inter Black"/>
              </a:rPr>
              <a:t>EVERY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978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SNOWFLAKE.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8774430"/>
            <a:ext cx="16002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AAAAAA"/>
                </a:solidFill>
                <a:latin typeface="Inter"/>
              </a:rPr>
              <a:t>No two teams build their infrastructure the same way. The platform team inherits the chaos.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18592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" b="1">
                <a:solidFill>
                  <a:srgbClr val="FFFFFF">
                    <a:alpha val="11000"/>
                  </a:srgbClr>
                </a:solidFill>
                <a:latin typeface="Inter ExtraBol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00560" y="1287780"/>
            <a:ext cx="47625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8241029"/>
            <a:ext cx="4762500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53060" y="6621780"/>
            <a:ext cx="4762500" cy="5429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7764780"/>
            <a:ext cx="4762500" cy="4667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560" y="8907780"/>
            <a:ext cx="4762500" cy="3905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9059" y="2621280"/>
            <a:ext cx="476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2000"/>
                  </a:srgbClr>
                </a:solidFill>
                <a:latin typeface="Inter ExtraBold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9810" y="5478780"/>
            <a:ext cx="4762500" cy="3714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OBSERVABILITY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535555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TOO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4804"/>
            <a:ext cx="476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555555"/>
                </a:solidFill>
                <a:latin typeface="Inter Black"/>
              </a:rPr>
              <a:t>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774055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610600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8707755"/>
            <a:ext cx="16002000" cy="5905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66666"/>
                </a:solidFill>
                <a:latin typeface="Inter"/>
              </a:rPr>
              <a:t>Developers are asked to master features, security, and infrastructure simultaneously. Cognitive overload isn’t a weakness — it’s an architectural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72500" y="-2857500"/>
            <a:ext cx="13334999" cy="13335000"/>
          </a:xfrm>
          <a:prstGeom prst="ellipse">
            <a:avLst/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7810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7810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7810500"/>
            <a:ext cx="133350" cy="13335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8191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54654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WHAT IF THEY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335780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404040"/>
                </a:solidFill>
                <a:latin typeface="Inter Black"/>
              </a:rPr>
              <a:t>NEVER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716905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TO CALL YOU?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886825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8983980"/>
            <a:ext cx="1143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55555"/>
                </a:solidFill>
                <a:latin typeface="Inter"/>
              </a:rPr>
              <a:t>The platform team’s job isn’t to say no. It’s to make yes the default.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33060" y="2240279"/>
            <a:ext cx="13334999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333500"/>
            <a:ext cx="133350" cy="13335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649980"/>
            <a:ext cx="85725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CCCCCC"/>
                </a:solidFill>
                <a:latin typeface="Inter Black"/>
              </a:rPr>
              <a:t>YOU BUILD IT. YOU RUN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4562475"/>
            <a:ext cx="1523999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83454"/>
            <a:ext cx="1143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000000"/>
                </a:solidFill>
                <a:latin typeface="Inter Black"/>
              </a:rPr>
              <a:t>AT SCALE.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9012555"/>
            <a:ext cx="13334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 Medium"/>
              </a:rPr>
              <a:t>Platform engineering is DevOps that scales — built for large teams and large organisations.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81060" y="3288029"/>
            <a:ext cx="10477499" cy="3619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0" b="1">
                <a:solidFill>
                  <a:srgbClr val="FFFFFF">
                    <a:alpha val="6000"/>
                  </a:srgbClr>
                </a:solidFill>
                <a:latin typeface="Inter Black"/>
              </a:rPr>
              <a:t>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144500" y="4286250"/>
            <a:ext cx="4762500" cy="47624"/>
          </a:xfrm>
          <a:prstGeom prst="rect">
            <a:avLst/>
          </a:prstGeom>
          <a:solidFill>
            <a:srgbClr val="33333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87500" y="4572000"/>
            <a:ext cx="3429000" cy="47624"/>
          </a:xfrm>
          <a:prstGeom prst="rect">
            <a:avLst/>
          </a:prstGeom>
          <a:solidFill>
            <a:srgbClr val="33333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240000" y="4857750"/>
            <a:ext cx="2095499" cy="47624"/>
          </a:xfrm>
          <a:prstGeom prst="rect">
            <a:avLst/>
          </a:prstGeom>
          <a:solidFill>
            <a:srgbClr val="33333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4780"/>
            <a:ext cx="11430000" cy="15430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A PRODUCT.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60260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444444"/>
                </a:solidFill>
                <a:latin typeface="Inter Black"/>
              </a:rPr>
              <a:t>NOT A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9012555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555555"/>
                </a:solidFill>
                <a:latin typeface="Inter Medium"/>
              </a:rPr>
              <a:t>The platform team ships. Developers self-serve.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33560" y="2335530"/>
            <a:ext cx="10477499" cy="7239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IDP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07105"/>
            <a:ext cx="57150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50130"/>
            <a:ext cx="104774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PLATFORM.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8593455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AAAAA"/>
                </a:solidFill>
                <a:latin typeface="Inter"/>
              </a:rPr>
              <a:t>A product your developers consume — not a system they wait for.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13334999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66666"/>
                </a:solidFill>
                <a:latin typeface="Inter"/>
              </a:rPr>
              <a:t>Abstractions, golden path, self-service — built once, used by every team.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19060" y="2811779"/>
            <a:ext cx="12382500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21454"/>
            <a:ext cx="123825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OPINIONATED.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478780"/>
            <a:ext cx="9525000" cy="7429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MANDATORY.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9003030"/>
            <a:ext cx="95250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888888"/>
                </a:solidFill>
                <a:latin typeface="Inter"/>
              </a:rPr>
              <a:t>Make the right thing easy. Make the wrong thing intentional.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0" y="430530"/>
            <a:ext cx="9525000" cy="838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4495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SELF-SERVICE.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1175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Developers provision what they need — on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219449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97579"/>
            <a:ext cx="95250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64380"/>
            <a:ext cx="85725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66666"/>
                </a:solidFill>
                <a:latin typeface="Inter"/>
              </a:rPr>
              <a:t>Every team’s infrastructure follows the same platform standards.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5172075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4502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BOUNDARIES.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517005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555"/>
                </a:solidFill>
                <a:latin typeface="Inter"/>
              </a:rPr>
              <a:t>Clear ownership between platform team and product team.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86060" y="430530"/>
            <a:ext cx="13334999" cy="7619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KUBERNETES.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666666"/>
                </a:solidFill>
                <a:latin typeface="Inter Black"/>
              </a:rPr>
              <a:t>AN API. NOT A SCHEDULER.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811779"/>
            <a:ext cx="13334999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682180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YOU DECLARE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374380"/>
            <a:ext cx="16192499" cy="10096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0" b="1">
                <a:solidFill>
                  <a:srgbClr val="CCCCCC"/>
                </a:solidFill>
                <a:latin typeface="Inter Black"/>
              </a:rPr>
              <a:t>KUBERNETES CONVERGES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00560" y="1287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ARGO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1859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PROMETHEUS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39059" y="2430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ISTIO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2060" y="7764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0060" y="8336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CROSSPLANE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2560" y="8717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OPENTELEMETRY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96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CILIUM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6060" y="5478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OPA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KEDA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59" y="7383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BACKSTAGE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671703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CNCF TOOLKIT.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8469630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555555"/>
                </a:solidFill>
                <a:latin typeface="Inter Black"/>
              </a:rPr>
              <a:t>BUILD ON KUBERNETES.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52060" y="3192779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GITOPS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925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GIT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26055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CCCCCC"/>
                </a:solidFill>
                <a:latin typeface="Inter Black"/>
              </a:rPr>
              <a:t>THE TRUTH.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DECLARATIVE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Desired state as data, not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659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9659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VERSIONED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9659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Every change is a Git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77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7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PULLED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7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The cluster fetches; CI never pushes.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95860" y="4421505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95860" y="4869180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95860" y="5164455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Drift heals itself, continuously.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224027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  · 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ARGO CD.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192499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DRIFT? RECONCILE.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23560" y="2621280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AZURE</a:t>
            </a:r>
          </a:p>
        </p:txBody>
      </p:sp>
      <p:sp>
        <p:nvSpPr>
          <p:cNvPr id="4" name="Oval 3"/>
          <p:cNvSpPr/>
          <p:nvPr/>
        </p:nvSpPr>
        <p:spPr>
          <a:xfrm>
            <a:off x="11430000" y="-1904999"/>
            <a:ext cx="11430000" cy="1143000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107430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AKS IS 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7259955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IT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507730"/>
            <a:ext cx="16192499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CCCCCC"/>
                </a:solidFill>
                <a:latin typeface="Inter Black"/>
              </a:rPr>
              <a:t>NOT WHERE IT STOPS.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7310" y="-617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SECTION 3  ·  GITOPS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68705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00" b="1">
                <a:solidFill>
                  <a:srgbClr val="FFFFFF"/>
                </a:solidFill>
                <a:latin typeface="Inter Black"/>
              </a:rPr>
              <a:t>HOW GITOPS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1810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1  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6509" y="3097530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2  argo pulls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9410" y="3097530"/>
            <a:ext cx="1714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FFFFFF">
                    <a:alpha val="47000"/>
                  </a:srgbClr>
                </a:solidFill>
                <a:latin typeface="Inter"/>
              </a:rPr>
              <a:t>3  apply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3210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43235" y="3449955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2943225"/>
            <a:ext cx="2095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95750" y="2943225"/>
            <a:ext cx="2476499" cy="1523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0" y="2752725"/>
            <a:ext cx="2857500" cy="1904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20499" y="2562225"/>
            <a:ext cx="5334000" cy="2286000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1135" y="3526155"/>
            <a:ext cx="1333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DEVELOPER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4385" y="3526155"/>
            <a:ext cx="11430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CCCCC"/>
                </a:solidFill>
                <a:latin typeface="Inter Bold"/>
              </a:rPr>
              <a:t>GIT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5784" y="3497579"/>
            <a:ext cx="1523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D0D0D"/>
                </a:solidFill>
                <a:latin typeface="Inter Bold"/>
              </a:rPr>
              <a:t>ARGO CD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57710" y="3507105"/>
            <a:ext cx="3238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CCCCC"/>
                </a:solidFill>
                <a:latin typeface="Inter Bold"/>
              </a:rPr>
              <a:t>KUBERNETES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PULL NOT PUSH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225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941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GIT = SOURCE OF TRUTH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01500" y="6943725"/>
            <a:ext cx="5143500" cy="66675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38660" y="707898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ALWAYS CONVERGING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-236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SECTION 3  ·  ARGO CD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06880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 OF APPS.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1255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APPLICATIONSETS.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7554"/>
            <a:ext cx="3810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 OF APPS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3325" y="3762375"/>
            <a:ext cx="2667000" cy="6667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56709" y="3916680"/>
            <a:ext cx="16573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ROOT-APP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7300" y="4429125"/>
            <a:ext cx="19050" cy="476249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7875" y="4905375"/>
            <a:ext cx="6057900" cy="1905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7875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7300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6725" y="4924424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52900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81849" y="5191125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307330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INFRA-APP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7659" y="5307330"/>
            <a:ext cx="16764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PLATFORM-APP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9010" y="5307330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APPS-APP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5900" y="3371850"/>
            <a:ext cx="19050" cy="280987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2110" y="3297554"/>
            <a:ext cx="5715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APPLICATIONSETS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3550" y="4752974"/>
            <a:ext cx="2667000" cy="76199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0710" y="4945380"/>
            <a:ext cx="22098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75">
                <a:solidFill>
                  <a:srgbClr val="FFFFFF"/>
                </a:solidFill>
                <a:latin typeface="Inter ExtraBold"/>
              </a:rPr>
              <a:t>APPSET TEMPLATE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6735" y="4897755"/>
            <a:ext cx="5715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444444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782550" y="3990974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919710" y="4145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dev-cluster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782550" y="4752974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19710" y="4907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staging-cluster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782550" y="5514975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919710" y="5669280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prod-cluster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134350"/>
            <a:ext cx="16002000" cy="47624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80409" y="8231505"/>
            <a:ext cx="115538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FFFFFF"/>
                </a:solidFill>
                <a:latin typeface="Inter Bold"/>
              </a:rPr>
              <a:t>DRIFT DETECTED  →  ARGO RECONCILES WITHIN SECONDS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76060" y="7162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MESSY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02280"/>
            <a:ext cx="8572500" cy="666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444444"/>
                </a:solidFill>
                <a:latin typeface="Inter ExtraBold"/>
              </a:rPr>
              <a:t>THE MESSY REALITY.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97605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MULTIPLE.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374005"/>
            <a:ext cx="8572500" cy="7524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50" b="1">
                <a:solidFill>
                  <a:srgbClr val="444444"/>
                </a:solidFill>
                <a:latin typeface="Inter Black"/>
              </a:rPr>
              <a:t>EXISTING.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126480"/>
            <a:ext cx="13334999" cy="8382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FFFFFF"/>
                </a:solidFill>
                <a:latin typeface="Inter Black"/>
              </a:rPr>
              <a:t>CONSTRAINED.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9003030"/>
            <a:ext cx="13334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Multiple teams, existing Terraform, real compliance. Platforms must work with what exists.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2560" y="1383029"/>
            <a:ext cx="152400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798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5630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SELF-SERVICE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1060" y="3583304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60" y="3373755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GUARDRAILS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05300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497705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45355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0560" y="5193030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859" y="49834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FLEXIBILITY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915024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610743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6355080"/>
            <a:ext cx="55244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0360" y="6802755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6660" y="6593205"/>
            <a:ext cx="3619499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8983980"/>
            <a:ext cx="13334999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88888"/>
                </a:solidFill>
                <a:latin typeface="Inter"/>
              </a:rPr>
              <a:t>Every platform decision lives at the intersection of these three tensions.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4810" y="1859280"/>
            <a:ext cx="11430000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68929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SOVEREIGNTY.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88155"/>
            <a:ext cx="114300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555555"/>
                </a:solidFill>
                <a:latin typeface="Inter Black"/>
              </a:rPr>
              <a:t>WHO CONTROLS THE API?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6581775"/>
            <a:ext cx="5334000" cy="857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WHERE IS THE STATE?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77000" y="6581775"/>
            <a:ext cx="5334000" cy="8572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4159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WHO OWNS THE AUDIT TRAIL?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11000" y="6581775"/>
            <a:ext cx="5334000" cy="857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48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WHAT IF THE VENDOR LEAVES?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9003030"/>
            <a:ext cx="13334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55555"/>
                </a:solidFill>
                <a:latin typeface="Inter"/>
              </a:rPr>
              <a:t>All four tools share one property: the control plane stays inside your Kubernetes API.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497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00000"/>
                </a:solidFill>
                <a:latin typeface="Inter Black"/>
              </a:rPr>
              <a:t>THE FLEXIBLE CONTROL PLANE.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83180"/>
            <a:ext cx="1143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888888"/>
                </a:solidFill>
                <a:latin typeface="Inter Bold"/>
              </a:rPr>
              <a:t>ONE ENGINE. FOUR TOOLS. YOUR CHOICE.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724275"/>
            <a:ext cx="16002000" cy="5143500"/>
          </a:xfrm>
          <a:prstGeom prst="rect">
            <a:avLst/>
          </a:prstGeom>
          <a:noFill/>
          <a:ln w="9525">
            <a:solidFill>
              <a:srgbClr val="32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7300" y="3581400"/>
            <a:ext cx="1619250" cy="200025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110" y="3507105"/>
            <a:ext cx="14287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150">
                <a:solidFill>
                  <a:srgbClr val="FFFFFF"/>
                </a:solidFill>
                <a:latin typeface="Inter Bold"/>
              </a:rPr>
              <a:t>KUBERNETES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73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33700" y="3990974"/>
            <a:ext cx="533400" cy="533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75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44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44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Azure resources as K8s CRDs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5191125"/>
            <a:ext cx="571500" cy="20955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516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97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96099" y="3990974"/>
            <a:ext cx="533400" cy="533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9909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68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68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Build your own platform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8300" y="5191125"/>
            <a:ext cx="571500" cy="20955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4009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21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58500" y="3990974"/>
            <a:ext cx="533400" cy="5334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623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192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92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Compose multi-resource app concepts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0700" y="5191125"/>
            <a:ext cx="571500" cy="2095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64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1445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4820899" y="3990974"/>
            <a:ext cx="533400" cy="533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8247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816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816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Terraform under K8s control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73100" y="5191125"/>
            <a:ext cx="571500" cy="2095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38810" y="5126355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232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6584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099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5328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7300" y="6019800"/>
            <a:ext cx="15773400" cy="1143000"/>
          </a:xfrm>
          <a:prstGeom prst="rect">
            <a:avLst/>
          </a:prstGeom>
          <a:solidFill>
            <a:srgbClr val="1A3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57925" y="6324600"/>
            <a:ext cx="533400" cy="533400"/>
          </a:xfrm>
          <a:prstGeom prst="ellipse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71259" y="6374130"/>
            <a:ext cx="285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FFFFFF"/>
                </a:solidFill>
                <a:latin typeface="Inter Bold"/>
              </a:rPr>
              <a:t>K8s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61810" y="6202680"/>
            <a:ext cx="5715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KUBERNETES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61810" y="6507480"/>
            <a:ext cx="7620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>
                <a:solidFill>
                  <a:srgbClr val="4A7AB5"/>
                </a:solidFill>
                <a:latin typeface="Inter SemiBold"/>
              </a:rPr>
              <a:t>THE CONTROL PLANE — ALL TOOLS RUN AS OPERATORS HERE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8259" y="71456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7300" y="7600950"/>
            <a:ext cx="15773400" cy="1143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581775" y="7905749"/>
            <a:ext cx="533400" cy="5334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1310" y="7974330"/>
            <a:ext cx="1333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6609" y="7650480"/>
            <a:ext cx="381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ARGO CD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66609" y="7955280"/>
            <a:ext cx="6667499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>
                <a:solidFill>
                  <a:srgbClr val="666666"/>
                </a:solidFill>
                <a:latin typeface="Inter SemiBold"/>
              </a:rPr>
              <a:t>GITOPS DELIVERY LAYER — SITS BENEATH ALL TOOLS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8983980"/>
            <a:ext cx="8572500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888888"/>
                </a:solidFill>
                <a:latin typeface="Inter"/>
              </a:rPr>
              <a:t>Use one. Use all four. The control plane is flexible.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5030"/>
            <a:ext cx="85725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000000"/>
                </a:solidFill>
                <a:latin typeface="Inter Black"/>
              </a:rPr>
              <a:t>FOUR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97530"/>
            <a:ext cx="1238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CHOOSE BY ABSTRACTION, SKILLS, AND EXISTING INVESTMENTS.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41529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343400"/>
            <a:ext cx="495300" cy="495299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1135" y="434530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2881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 — AZURE SERVICE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5548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Azure resources in Git as Kubernetes YAML. If you think in Azure terms and want GitOps, start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763874" y="4381500"/>
            <a:ext cx="571500" cy="190499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0060" y="430720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72435" y="451675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0078D4"/>
                </a:solidFill>
                <a:latin typeface="Inter Bold"/>
              </a:rPr>
              <a:t>✅ AZURE NATIVE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71600" y="5276850"/>
            <a:ext cx="495300" cy="495299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1135" y="527875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2216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4883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 design the API your developers use. Everything Azure is hidden behind your abstractions. Own the platform contract.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763874" y="5314950"/>
            <a:ext cx="571500" cy="19049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720060" y="524065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72435" y="545020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88888"/>
                </a:solidFill>
                <a:latin typeface="Inter Bold"/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60198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371600" y="6210300"/>
            <a:ext cx="495300" cy="495299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1135" y="621220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61550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 — KUBERNETES RESOURCE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64217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One CR expands into many. Compose app-level concepts without full Crossplane complexity. Pairs perfectly with ASO.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763874" y="6248400"/>
            <a:ext cx="571500" cy="19049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720060" y="617410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672435" y="638365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B5CF6"/>
                </a:solidFill>
                <a:latin typeface="Inter Bold"/>
              </a:rPr>
              <a:t>✅ + ASO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1600" y="7143750"/>
            <a:ext cx="495300" cy="495299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61135" y="7145655"/>
            <a:ext cx="190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708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73552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Your Terraform, under Kubernetes control. Policy-gated, Git-tracked, no rewrite required. The pragmatic choice.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763874" y="7181850"/>
            <a:ext cx="571500" cy="19049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20060" y="7107555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672435" y="7317105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10B981"/>
                </a:solidFill>
                <a:latin typeface="Inter Bold"/>
              </a:rPr>
              <a:t>✅ AZURE NATIVE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8839200"/>
            <a:ext cx="16002000" cy="495299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8953500"/>
            <a:ext cx="266700" cy="2667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5410" y="8936355"/>
            <a:ext cx="95249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1160" y="8793480"/>
            <a:ext cx="857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ARGO CD — DELIVERS ALL OF THE ABOVE THROUGH GITOPS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7310" y="1668780"/>
            <a:ext cx="142875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30805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Inter Black"/>
              </a:rPr>
              <a:t>NOT MUTUALLY EXCLUSIVE.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7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spc="75">
                <a:solidFill>
                  <a:srgbClr val="AAAAAA"/>
                </a:solidFill>
                <a:latin typeface="Inter SemiBold"/>
              </a:rPr>
              <a:t>USE ONE. USE ALL FOUR. REAL PLATFORMS MIX AND MATCH.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5105400"/>
            <a:ext cx="14401800" cy="5334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0787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DEVELOPER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2259" y="5135880"/>
            <a:ext cx="140208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 SemiBold"/>
              </a:rPr>
              <a:t>Simple CR — give me an AppDatabase  ·  One KRO ResourceGroup  ·  No YAML knowledge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5715000"/>
            <a:ext cx="14401800" cy="647699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6883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PROVISIONING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5600" y="5829300"/>
            <a:ext cx="590550" cy="41910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0850" y="5924550"/>
            <a:ext cx="228600" cy="228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6559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4210" y="5831205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78D4"/>
                </a:solidFill>
                <a:latin typeface="Inter ExtraBold"/>
              </a:rPr>
              <a:t>ASO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2350" y="5829300"/>
            <a:ext cx="1257300" cy="4191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57600" y="5924550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331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70959" y="5831205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F4444"/>
                </a:solidFill>
                <a:latin typeface="Inter ExtraBold"/>
              </a:rPr>
              <a:t>CROSSPLANE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95849" y="5829300"/>
            <a:ext cx="590550" cy="4191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91100" y="5924550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681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460" y="5831205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5CF6"/>
                </a:solidFill>
                <a:latin typeface="Inter ExtraBold"/>
              </a:rPr>
              <a:t>KRO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62600" y="5829300"/>
            <a:ext cx="1257300" cy="4191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57850" y="592455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0" y="5878830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1210" y="5831205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Inter ExtraBold"/>
              </a:rPr>
              <a:t>TERRANETES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6438899"/>
            <a:ext cx="14401800" cy="6096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64122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DELIVERY</a:t>
            </a:r>
          </a:p>
        </p:txBody>
      </p:sp>
      <p:sp>
        <p:nvSpPr>
          <p:cNvPr id="33" name="Oval 32"/>
          <p:cNvSpPr/>
          <p:nvPr/>
        </p:nvSpPr>
        <p:spPr>
          <a:xfrm>
            <a:off x="2933700" y="6591300"/>
            <a:ext cx="304800" cy="3048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47035" y="6564630"/>
            <a:ext cx="1143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2309" y="6431280"/>
            <a:ext cx="133349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>
                <a:solidFill>
                  <a:srgbClr val="FFFFFF"/>
                </a:solidFill>
                <a:latin typeface="Inter Bold"/>
              </a:rPr>
              <a:t>ARGO CD — WATCHES GIT  ·  SYNCS TO KUBERNETES  ·  DELIVERS EVERYTHING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7124699"/>
            <a:ext cx="14401800" cy="4857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70980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SOURCE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42259" y="7155180"/>
            <a:ext cx="24764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333333"/>
                </a:solidFill>
                <a:latin typeface="Inter ExtraBold"/>
              </a:rPr>
              <a:t>GIT REPOSITORY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59" y="7155180"/>
            <a:ext cx="85725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8888"/>
                </a:solidFill>
                <a:latin typeface="Inter"/>
              </a:rPr>
              <a:t>— single source of truth for all resource definitions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9012555"/>
            <a:ext cx="133349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  <a:latin typeface="Inter"/>
              </a:rPr>
              <a:t>The platform team’s job is to assemble these layers thoughtfully — not to standardise on a single tool.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14060" y="9067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05 / DECISION FRAMEWORK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64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LET’S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516880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444444"/>
                </a:solidFill>
                <a:latin typeface="Inter Black"/>
              </a:rPr>
              <a:t>FOUR TOOLS. FOUR PROBLEMS. LIVE.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801100"/>
            <a:ext cx="110490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33500" y="8934449"/>
            <a:ext cx="266700" cy="2667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778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4010" y="8793480"/>
            <a:ext cx="5334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ASO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62200" y="8801100"/>
            <a:ext cx="188595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52700" y="8934449"/>
            <a:ext cx="266700" cy="2667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4698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3209" y="8793480"/>
            <a:ext cx="13144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CROSSPLANE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2450" y="8801100"/>
            <a:ext cx="1104900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52950" y="8934449"/>
            <a:ext cx="266700" cy="2667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723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459" y="8793480"/>
            <a:ext cx="5334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KRO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81650" y="8801100"/>
            <a:ext cx="1866899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72150" y="8934449"/>
            <a:ext cx="266700" cy="2667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6435" y="8917305"/>
            <a:ext cx="11430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2659" y="8793480"/>
            <a:ext cx="12953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>
                <a:solidFill>
                  <a:srgbClr val="FFFFFF"/>
                </a:solidFill>
                <a:latin typeface="Inter ExtraBold"/>
              </a:rPr>
              <a:t>TERRANETES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33060" y="2049780"/>
            <a:ext cx="9953625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ASO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ASO.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YOUR AZURE. YAML-DRIVEN.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GIT COMMIT  →  ARGO CD  →  ASO CONTROLLER  →  AZURE RESOURCE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35242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2060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888888"/>
                </a:solidFill>
                <a:latin typeface="Inter Bold"/>
              </a:rPr>
              <a:t>GIT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storageaccount.yaml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Developer commits a Kubernetes manifest to the main branch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5425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5425" y="6477000"/>
            <a:ext cx="3524250" cy="47624"/>
          </a:xfrm>
          <a:prstGeom prst="rect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4485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EF7B4D"/>
                </a:solidFill>
                <a:latin typeface="Inter Bold"/>
              </a:rPr>
              <a:t>ARGO 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4485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Detects &amp; deploys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4485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Watches the Git repo and applies the manifest to the cluster on every push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67850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67850" y="6477000"/>
            <a:ext cx="3524250" cy="4762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66909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0078D4"/>
                </a:solidFill>
                <a:latin typeface="Inter Bold"/>
              </a:rPr>
              <a:t>ASO 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6909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Reads CRD, calls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66909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Azure Service Operator reconciles the StorageAccount CRD via Azure ARM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630275" y="6477000"/>
            <a:ext cx="35242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630275" y="6477000"/>
            <a:ext cx="35242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29335" y="6621780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AZURE RESOURCE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29335" y="6850380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Storage Account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9335" y="7231380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Azure Storage Account is provisioned and managed through the GitOps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6310" y="7698105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33333"/>
                </a:solidFill>
                <a:latin typeface="Inter Bold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8735" y="7698105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33333"/>
                </a:solidFill>
                <a:latin typeface="Inter Bold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91160" y="7698105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33333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71060" y="716280"/>
            <a:ext cx="12506324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YAML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 ·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APPLY YAML.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GET AZURE.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83605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444444"/>
                </a:solidFill>
                <a:latin typeface="Inter Black"/>
              </a:rPr>
              <a:t>NO TERRAFORM. NO BICEP. NO ARM.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8801100"/>
            <a:ext cx="2124075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33500" y="8934449"/>
            <a:ext cx="266700" cy="2667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7785" y="8917305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4010" y="8793480"/>
            <a:ext cx="14573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KUBECTL APPLY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14750" y="8801100"/>
            <a:ext cx="2162174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05249" y="8934449"/>
            <a:ext cx="266700" cy="2667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9535" y="8917305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5760" y="8793480"/>
            <a:ext cx="14954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ARGO CD SYNCS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599" y="8801100"/>
            <a:ext cx="2886075" cy="533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15100" y="8934449"/>
            <a:ext cx="266700" cy="2667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9384" y="8917305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5610" y="8793480"/>
            <a:ext cx="22193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AZURE RESOURCE READY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9935" y="8888730"/>
            <a:ext cx="219075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9784" y="8888730"/>
            <a:ext cx="219075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33060" y="1859280"/>
            <a:ext cx="916305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ASO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06 / 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FAST. TRANSPARENT. COMPOSABLE.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7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THREE THINGS TO KNOW BEFORE YOU CHOOSE ASO.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4935" y="51644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FAST TO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Zero abstractions to design. Install ASO, configure workload identity, start provisioning.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810249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6038849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4935" y="60407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9074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TRANSPARENT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2026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Developers see Azure resource types directly. A feature for Azure-native teams; a limitation when you want to hide the cloud layer.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6865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6915150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4935" y="69170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7837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COMPOSABLE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0789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Pairs naturally with KRO for higher-level developer APIs. ASO handles the Azure layer; KRO composes the experience.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943975"/>
            <a:ext cx="16002000" cy="39052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8964930"/>
            <a:ext cx="34861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WANT CLOUD-AGNOSTIC ABSTRACTIONS?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8710" y="8964930"/>
            <a:ext cx="2857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>
                <a:solidFill>
                  <a:srgbClr val="666666"/>
                </a:solidFill>
                <a:latin typeface="Inter SemiBold"/>
              </a:rPr>
              <a:t>→  CROSSPLANE IS NEXT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47060" y="2049780"/>
            <a:ext cx="15830550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CROSS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CROSSPLANE.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YOU DESIGN THE API.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DEVELOPER WRITES 10 LINES  →  CROSSPLANE PROVISIONS ACROSS TWO CLOUDS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2060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888888"/>
                </a:solidFill>
                <a:latin typeface="Inter Bold"/>
              </a:rPr>
              <a:t>DEVELOPER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AppTeam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212330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10 lines. teamName + githubOrg. No Azure fields. No region. No SKU.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6477000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925" y="6477000"/>
            <a:ext cx="4857750" cy="476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7984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EF4444"/>
                </a:solidFill>
                <a:latin typeface="Inter Bold"/>
              </a:rPr>
              <a:t>CROSSPLANE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Platform team's API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7212330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XRD defines the API. Composition encodes every platform opinion — naming, networking, tagging, backup.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134850" y="6477000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33910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CLOUD RESOURCES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3 from 1 claim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72123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66666"/>
                </a:solidFill>
                <a:latin typeface="Inter"/>
              </a:rPr>
              <a:t>— Azure Resource Group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74409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66666"/>
                </a:solidFill>
                <a:latin typeface="Inter"/>
              </a:rPr>
              <a:t>— Azure Storage Account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3910" y="76695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9F7AEA"/>
                </a:solidFill>
                <a:latin typeface="Inter"/>
              </a:rPr>
              <a:t>— GitHub Repository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810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5735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42560" y="716280"/>
            <a:ext cx="71247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ONE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THREE RESOURCES.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83605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444444"/>
                </a:solidFill>
                <a:latin typeface="Inter Black"/>
              </a:rPr>
              <a:t>AZURE + GITHUB. ZERO CLOUD KNOWLEDGE REQUIRED.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8801100"/>
            <a:ext cx="1895475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763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2060" y="887920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6860" y="8841105"/>
            <a:ext cx="123824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APPSTORAGE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6150" y="8801100"/>
            <a:ext cx="1590675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9499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5209" y="887920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0010" y="8841105"/>
            <a:ext cx="95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APPTEAM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499" y="8801100"/>
            <a:ext cx="2733674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578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14034" y="8879205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8360" y="8841105"/>
            <a:ext cx="20764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TWO CLOUDS. ONE API.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47060" y="1859280"/>
            <a:ext cx="14582775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CROSS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07 / CROSSPLANE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OWN YOUR ABSTRACTION.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7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THREE THINGS CROSSPLANE CHANGES FOREVER.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4935" y="51644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PLATFORM INVESTMENT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Write Compositions once. Every team that joins gets the same experience, forever.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810249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6038849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4935" y="60407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9074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CLOUD AGNOSTIC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2026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Today Azure. Swap the Composition. Developer manifest unchanged. That's genuine abstraction.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6865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69151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4935" y="69170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7837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ENFORCES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0789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Backup, naming, tagging, networking baked into every Composition. Impossible for developers to get it wrong.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943975"/>
            <a:ext cx="16002000" cy="39052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8964930"/>
            <a:ext cx="27432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SMALL TEAM OR AZURE-NATIVE?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5760" y="8964930"/>
            <a:ext cx="1905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>
                <a:solidFill>
                  <a:srgbClr val="666666"/>
                </a:solidFill>
                <a:latin typeface="Inter SemiBold"/>
              </a:rPr>
              <a:t>→  KRO IS NEXT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560" y="2049780"/>
            <a:ext cx="9925050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KRO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812280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KRO.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ONE CR. MANY RESOURCES.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DEVELOPER WRITES 3 FIELDS  →  KRO COMPOSES NAMESPACE + RBAC + AZURE STORAGE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2060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888888"/>
                </a:solidFill>
                <a:latin typeface="Inter Bold"/>
              </a:rPr>
              <a:t>DEVELOPER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MyApp instance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212330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3 fields. name + team + size. No Azure, no RBAC, no resource groups.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6477000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925" y="6477000"/>
            <a:ext cx="4857750" cy="47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7984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8B5CF6"/>
                </a:solidFill>
                <a:latin typeface="Inter Bold"/>
              </a:rPr>
              <a:t>KRO RESOURCEGRAPHDEF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Platform team's template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7212330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Defines namespace, RoleBinding, and ASO StorageAccount. All consistently named and wired.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134850" y="6477000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33910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KUBERNETES + AZURE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3 resources instantly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72123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66666"/>
                </a:solidFill>
                <a:latin typeface="Inter"/>
              </a:rPr>
              <a:t>— Kubernetes Namespace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74409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666666"/>
                </a:solidFill>
                <a:latin typeface="Inter"/>
              </a:rPr>
              <a:t>— Kubernetes RoleBinding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3910" y="76695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0078D4"/>
                </a:solidFill>
                <a:latin typeface="Inter"/>
              </a:rPr>
              <a:t>— Azure Storage Account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810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5735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42560" y="716280"/>
            <a:ext cx="8886825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RGD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THREE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THREE RESOURCES.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83605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444444"/>
                </a:solidFill>
                <a:latin typeface="Inter Black"/>
              </a:rPr>
              <a:t>NAMESPACE + RBAC + AZURE. ONE GIT COMMIT.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8801100"/>
            <a:ext cx="2066924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763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1585" y="887920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6860" y="8841105"/>
            <a:ext cx="14097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PLATFORM RGD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8801100"/>
            <a:ext cx="2266950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909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66185" y="887920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1460" y="8841105"/>
            <a:ext cx="1619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MYAPP INSTANCE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2225" y="8801100"/>
            <a:ext cx="2486025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5575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1284" y="8879205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6085" y="8841105"/>
            <a:ext cx="18288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K8S + AZURE READY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19060" y="1859280"/>
            <a:ext cx="91440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KRO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08 / KRO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COMPOSE WITHOUT COMPLEXITY.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7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THREE THINGS KRO GETS RIGHT.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4935" y="51644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FAST TO ADOPT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The ResourceGraphDefinition format is straightforward. Write a template in an afternoon, not a sprint.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810249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6038849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4935" y="60407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9074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TRANSPARENT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2026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Composition, not abstraction. You see exactly what was created. No magic provider layer.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6865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69151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4935" y="69170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7837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PAIRS WITH ASO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0789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KRO handles app assembly; ASO handles Azure provisioning. A complete story without needing Crossplane.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943975"/>
            <a:ext cx="16002000" cy="39052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8964930"/>
            <a:ext cx="4695825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NEED FULL CLOUD ABSTRACTION OR MULTI-CLOUD?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47385" y="8964930"/>
            <a:ext cx="3238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>
                <a:solidFill>
                  <a:srgbClr val="666666"/>
                </a:solidFill>
                <a:latin typeface="Inter SemiBold"/>
              </a:rPr>
              <a:t>→  CROSSPLANE HANDLES THAT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2049780"/>
            <a:ext cx="15392399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TERRA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7155180"/>
            <a:ext cx="16002000" cy="1504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TERRANETES.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736330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666666"/>
                </a:solidFill>
                <a:latin typeface="Inter Black"/>
              </a:rPr>
              <a:t>YOUR TERRAFORM. OUR CONTROL PLANE.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CLOUDRESOURCE CR  →  OPENTOFU JOB  →  AZURE + GITHUB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4857750" cy="5715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2060" y="663130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999999"/>
                </a:solidFill>
                <a:latin typeface="Inter Bold"/>
              </a:rPr>
              <a:t>DEVELOPER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859905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CloudResource config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221855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Points to a Terraform module in Git with variable values. No HCL needed from the developer.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6477000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925" y="6477000"/>
            <a:ext cx="485775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7984" y="663130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TERRANETES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859905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Runs OpenTofu as a 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7221855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1000+ Terraform providers. Policy gate before apply. State in Kubernetes Secrets.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134850" y="6477000"/>
            <a:ext cx="485775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33910" y="663130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CLOUD RESOURCES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859905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2 from 1 claim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7221855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0078D4"/>
                </a:solidFill>
                <a:latin typeface="Inter"/>
              </a:rPr>
              <a:t>— Azure Resource Group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7450455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9F7AEA"/>
                </a:solidFill>
                <a:latin typeface="Inter"/>
              </a:rPr>
              <a:t>— 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9810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5735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71060" y="716280"/>
            <a:ext cx="1129665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TOFU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YOUR MODULES.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OUR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83605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444444"/>
                </a:solidFill>
                <a:latin typeface="Inter Black"/>
              </a:rPr>
              <a:t>1000+ PROVIDERS. NO REWRITE. KUBERNETES-NATIVE.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8801100"/>
            <a:ext cx="2762249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763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2535" y="8879205"/>
            <a:ext cx="190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Inter Bold"/>
              </a:rPr>
              <a:t>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6860" y="8841105"/>
            <a:ext cx="2105024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CLOUDRESOURCE YAML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924" y="8801100"/>
            <a:ext cx="2552700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6275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1985" y="8879205"/>
            <a:ext cx="190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Inter Bold"/>
              </a:rPr>
              <a:t>TF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6784" y="8841105"/>
            <a:ext cx="1895475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OPENTOFU JOB RUNS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3300" y="8801100"/>
            <a:ext cx="2781300" cy="533400"/>
          </a:xfrm>
          <a:prstGeom prst="roundRect">
            <a:avLst>
              <a:gd name="adj" fmla="val 21428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86650" y="8934449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2835" y="8879205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7159" y="8841105"/>
            <a:ext cx="2124075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AZURE + GITHUB READY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37560" y="1859280"/>
            <a:ext cx="141732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09 / TERRANETES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MEET TEAMS WHERE THEY 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7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THREE THINGS TERRANETES GETS RIGHT.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4935" y="51644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NO REWRITE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444444"/>
                </a:solidFill>
                <a:latin typeface="Inter"/>
              </a:rPr>
              <a:t>Existing Terraform modules work as-is. Teams keep writing HCL. The platform wraps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810249"/>
            <a:ext cx="16002000" cy="8001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6038849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4935" y="60407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9074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POLICY GATES BUILT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2026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444444"/>
                </a:solidFill>
                <a:latin typeface="Inter"/>
              </a:rPr>
              <a:t>Require approval before any apply. Restrict modules. Enforce cost controls — in Kubernetes, not CI scripts.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686550"/>
            <a:ext cx="16002000" cy="8001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69151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4935" y="69170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7837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GRADUAL MIGRATION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0789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444444"/>
                </a:solidFill>
                <a:latin typeface="Inter"/>
              </a:rPr>
              <a:t>Start here today. Migrate specific resources to ASO or Crossplane as they mature — driven by real need.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943975"/>
            <a:ext cx="16002000" cy="39052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8964930"/>
            <a:ext cx="2238375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NO EXISTING TERRAFORM?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70935" y="8964930"/>
            <a:ext cx="476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>
                <a:solidFill>
                  <a:srgbClr val="888888"/>
                </a:solidFill>
                <a:latin typeface="Inter SemiBold"/>
              </a:rPr>
              <a:t>→  START DIRECTLY WITH ASO OR CROSSPLANE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75560" y="2049780"/>
            <a:ext cx="13334999" cy="6095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YOURS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10 / SOVEREIGNTY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7155180"/>
            <a:ext cx="16002000" cy="1504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YOUR API.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736330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666666"/>
                </a:solidFill>
                <a:latin typeface="Inter Black"/>
              </a:rPr>
              <a:t>YOUR STATE. YOUR AUDIT TRAIL.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1859280"/>
            <a:ext cx="6858000" cy="6095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AI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10 / AI +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AI WRITES THE YAML.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7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THE PLATFORM DECIDES WHAT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oundRect">
            <a:avLst>
              <a:gd name="adj" fmla="val 14285"/>
            </a:avLst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4935" y="51644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AI ACCELERATES VELOCITY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Developers generate more infrastructure requests, faster. Platforms built for ticket queues will break under that load.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810249"/>
            <a:ext cx="16002000" cy="8001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6038849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4935" y="60407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9074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PLATFORMS NEED GUARDRAILS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2026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Self-service CRs. Automatic policy gates. GitOps audit trails. Scales linearly with developer velocity.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686550"/>
            <a:ext cx="16002000" cy="800100"/>
          </a:xfrm>
          <a:prstGeom prst="roundRect">
            <a:avLst>
              <a:gd name="adj" fmla="val 14285"/>
            </a:avLst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6915150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84935" y="691705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7837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AI BUILDS THE PLATFORM TOO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0789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Crossplane Compositions, KRO ResourceGroups, Terranetes policies — well-structured schemas AI is very good at generating.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943975"/>
            <a:ext cx="16002000" cy="390525"/>
          </a:xfrm>
          <a:prstGeom prst="roundRect">
            <a:avLst>
              <a:gd name="adj" fmla="val 29268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8964930"/>
            <a:ext cx="3238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THE BOTTLENECK ISN'T THE DEVELOPER.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71060" y="8964930"/>
            <a:ext cx="476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>
                <a:solidFill>
                  <a:srgbClr val="666666"/>
                </a:solidFill>
                <a:latin typeface="Inter SemiBold"/>
              </a:rPr>
              <a:t>→  IT'S A PLATFORM THAT DOESN'T SCALE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11 / THE WHOLE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THE COMPLETE STACK.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GIT  →  ARGO CD  →  KUBERNETES API  →  FOUR TOOLS  →  AZURE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2060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888888"/>
                </a:solidFill>
                <a:latin typeface="Inter Bold"/>
              </a:rPr>
              <a:t>SOURCE OF TRUTH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Git + Argo 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212330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Every intent starts as a commit. Argo CD continuously reconciles the cluster to match the Git state.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6477000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8925" y="6477000"/>
            <a:ext cx="4857750" cy="47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7984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6366F1"/>
                </a:solidFill>
                <a:latin typeface="Inter Bold"/>
              </a:rPr>
              <a:t>THE CONTROL PLANE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Kubernetes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7212330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555555"/>
                </a:solidFill>
                <a:latin typeface="Inter"/>
              </a:rPr>
              <a:t>The unified entry point for every team, tool, and automation. One API. One audit trail. Yours.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134850" y="6477000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233910" y="6621780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10B981"/>
                </a:solidFill>
                <a:latin typeface="Inter Bold"/>
              </a:rPr>
              <a:t>THE PROVISIONERS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850380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Four tools. One Azure.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72123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0078D4"/>
                </a:solidFill>
                <a:latin typeface="Inter"/>
              </a:rPr>
              <a:t>— ASO  ·  direct Azure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74409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EF4444"/>
                </a:solidFill>
                <a:latin typeface="Inter"/>
              </a:rPr>
              <a:t>— Crossplane  ·  platform abstractions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3910" y="766953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0">
                <a:solidFill>
                  <a:srgbClr val="8B5CF6"/>
                </a:solidFill>
                <a:latin typeface="Inter"/>
              </a:rPr>
              <a:t>— KRO  ·  app bundles  ·  Terranetes  ·  Terraform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810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5735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1060" y="2049780"/>
            <a:ext cx="13525500" cy="6095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SAFE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11 / CLOSING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7155180"/>
            <a:ext cx="16002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MAKE YES SAFE.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56488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>
                <a:solidFill>
                  <a:srgbClr val="666666"/>
                </a:solidFill>
                <a:latin typeface="Inter Black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