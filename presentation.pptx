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TECHORAMA BELGIUM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240279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11855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583430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50255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229600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288655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876490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666666"/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What happens when platform teams become the bottleneck — and how to think differently.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03 / WHO DO YOU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666666"/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When your team needs infrastructure. Today. Not next week.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32638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444444"/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26480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The ticket queue is where developer velocity goes to die.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666666"/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8774430"/>
            <a:ext cx="16002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No two teams build their infrastructure the same way. The platform team inherits the chaos.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555555"/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8707755"/>
            <a:ext cx="16002000" cy="5905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66666"/>
                </a:solidFill>
                <a:latin typeface="Inter"/>
              </a:rPr>
              <a:t>Developers are asked to master features, security, and infrastructure simultaneously. Cognitive overload isn’t a weakness — it’s an architectural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404040"/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983980"/>
            <a:ext cx="1143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55555"/>
                </a:solidFill>
                <a:latin typeface="Inter"/>
              </a:rPr>
              <a:t>The platform team’s job isn’t to say no. It’s to make yes the default.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CCCCCC"/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9012555"/>
            <a:ext cx="13334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 Medium"/>
              </a:rPr>
              <a:t>Platform engineering is DevOps that scales — built for large teams and large organisations.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81060" y="3288029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144500" y="4286250"/>
            <a:ext cx="4762500" cy="47624"/>
          </a:xfrm>
          <a:prstGeom prst="rect">
            <a:avLst/>
          </a:prstGeom>
          <a:solidFill>
            <a:srgbClr val="33333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87500" y="4572000"/>
            <a:ext cx="3429000" cy="47624"/>
          </a:xfrm>
          <a:prstGeom prst="rect">
            <a:avLst/>
          </a:prstGeom>
          <a:solidFill>
            <a:srgbClr val="33333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40000" y="4857750"/>
            <a:ext cx="2095499" cy="47624"/>
          </a:xfrm>
          <a:prstGeom prst="rect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6026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44444"/>
                </a:solidFill>
                <a:latin typeface="Inter Black"/>
              </a:rPr>
              <a:t>NOT A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901255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555555"/>
                </a:solidFill>
                <a:latin typeface="Inter Medium"/>
              </a:rPr>
              <a:t>The platform team ships. Developers self-serve.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50130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593455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AAAAA"/>
                </a:solidFill>
                <a:latin typeface="Inter"/>
              </a:rPr>
              <a:t>A product your developers consume — not a system they wait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66666"/>
                </a:solidFill>
                <a:latin typeface="Inter"/>
              </a:rPr>
              <a:t>Abstractions, golden path, self-service — built once, used by every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47878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9003030"/>
            <a:ext cx="95250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888888"/>
                </a:solidFill>
                <a:latin typeface="Inter"/>
              </a:rPr>
              <a:t>Make the right thing easy. Make the wrong thing intentional.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430530"/>
            <a:ext cx="9525000" cy="838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4495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1175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Developers provision what they need —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219449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97579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64380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17207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02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1700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Inter"/>
              </a:rPr>
              <a:t>Clear ownership between platform team and product 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60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666666"/>
                </a:solidFill>
                <a:latin typeface="Inter Black"/>
              </a:rPr>
              <a:t>AN API. NOT A SCHEDULER.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82180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374380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5478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CNCF TOOLKIT.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555555"/>
                </a:solidFill>
                <a:latin typeface="Inter Black"/>
              </a:rPr>
              <a:t>BUILD ON KUBERNETES.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52060" y="3192779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925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260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DRIFT? RECONCILE.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23560" y="2621280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10743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7259955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507730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SECTION 3  ·  GITOPS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FFFFFF"/>
                </a:solidFill>
                <a:latin typeface="Inter Black"/>
              </a:rPr>
              <a:t>HOW GITOPS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2  argo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097530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3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943225"/>
            <a:ext cx="2095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5750" y="2943225"/>
            <a:ext cx="2476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0" y="2752725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499" y="2562225"/>
            <a:ext cx="5334000" cy="2286000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1135" y="3526155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3526155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5784" y="3497579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3507105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941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386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SECTION 3  ·  ARGO CD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06880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125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7554"/>
            <a:ext cx="3810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 OF APPS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3325" y="3762375"/>
            <a:ext cx="2667000" cy="6667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6709" y="3916680"/>
            <a:ext cx="16573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ROOT-APP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7300" y="4429125"/>
            <a:ext cx="19050" cy="476249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7875" y="4905375"/>
            <a:ext cx="6057900" cy="1905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787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7300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672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529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81849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INFRA-APP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7659" y="5307330"/>
            <a:ext cx="16764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PLATFORM-APP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901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APPS-APP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3371850"/>
            <a:ext cx="19050" cy="280987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110" y="3297554"/>
            <a:ext cx="5715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APPLICATIONSETS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3550" y="4752974"/>
            <a:ext cx="2667000" cy="76199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710" y="4945380"/>
            <a:ext cx="22098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75">
                <a:solidFill>
                  <a:srgbClr val="FFFFFF"/>
                </a:solidFill>
                <a:latin typeface="Inter ExtraBold"/>
              </a:rPr>
              <a:t>APPSET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6735" y="4897755"/>
            <a:ext cx="5715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444444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782550" y="3990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19710" y="4145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dev-cluster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782550" y="4752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19710" y="4907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staging-cluster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782550" y="5514975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19710" y="5669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prod-cluster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134350"/>
            <a:ext cx="16002000" cy="47624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0409" y="8231505"/>
            <a:ext cx="115538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FFFFFF"/>
                </a:solidFill>
                <a:latin typeface="Inter Bold"/>
              </a:rPr>
              <a:t>DRIFT DETECTED  →  ARGO RECONCILES WITHIN SECONDS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76060" y="7162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MESSY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02280"/>
            <a:ext cx="8572500" cy="666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MESSY REALITY.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97605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MULTIPLE.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374005"/>
            <a:ext cx="8572500" cy="7524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0" b="1">
                <a:solidFill>
                  <a:srgbClr val="444444"/>
                </a:solidFill>
                <a:latin typeface="Inter Black"/>
              </a:rPr>
              <a:t>EXISTING.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26480"/>
            <a:ext cx="13334999" cy="8382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CONSTRAINED.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Multiple teams, existing Terraform, real compliance. Platforms must work with what exists.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1383029"/>
            <a:ext cx="152400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798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5630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SELF-SERVICE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060" y="3583304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60" y="3373755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05300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497705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45355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5193030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49834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FLEXIBILITY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915024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10743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355080"/>
            <a:ext cx="55244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360" y="6802755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6660" y="6593205"/>
            <a:ext cx="3619499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8983980"/>
            <a:ext cx="13334999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Every platform decision lives at the intersection of these three tensions.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4810" y="1859280"/>
            <a:ext cx="11430000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68929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SOVEREIGNTY.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88155"/>
            <a:ext cx="114300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555555"/>
                </a:solidFill>
                <a:latin typeface="Inter Black"/>
              </a:rPr>
              <a:t>WHO CONTROLS THE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WHERE IS THE STATE?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0" y="6581775"/>
            <a:ext cx="5334000" cy="8572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4159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WHO OWNS THE AUDIT TRAIL?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48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WHAT IF THE VENDOR LEAVES?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All four tools share one property: the control plane stays inside your Kubernetes API.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497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THE FLEXIBLE CONTROL PLANE.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83180"/>
            <a:ext cx="1143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888888"/>
                </a:solidFill>
                <a:latin typeface="Inter Bold"/>
              </a:rPr>
              <a:t>ONE ENGINE. FOUR TOOLS. YOUR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24275"/>
            <a:ext cx="16002000" cy="5143500"/>
          </a:xfrm>
          <a:prstGeom prst="rect">
            <a:avLst/>
          </a:prstGeom>
          <a:noFill/>
          <a:ln w="9525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7300" y="3581400"/>
            <a:ext cx="1619250" cy="200025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110" y="3507105"/>
            <a:ext cx="14287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150">
                <a:solidFill>
                  <a:srgbClr val="FFFFFF"/>
                </a:solidFill>
                <a:latin typeface="Inter Bold"/>
              </a:rPr>
              <a:t>KUBERNETES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73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33700" y="3990974"/>
            <a:ext cx="533400" cy="533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75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44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44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Azure resources as K8s CRDs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5191125"/>
            <a:ext cx="571500" cy="20955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516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97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96099" y="3990974"/>
            <a:ext cx="533400" cy="533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9909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8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8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Build your own platform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8300" y="5191125"/>
            <a:ext cx="571500" cy="20955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4009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21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58500" y="3990974"/>
            <a:ext cx="533400" cy="533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623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92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92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Compose multi-resource app concepts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0700" y="5191125"/>
            <a:ext cx="571500" cy="2095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64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445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820899" y="3990974"/>
            <a:ext cx="533400" cy="533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8247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816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16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Terraform under K8s control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73100" y="5191125"/>
            <a:ext cx="571500" cy="209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388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32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6584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099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328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" y="6019800"/>
            <a:ext cx="15773400" cy="1143000"/>
          </a:xfrm>
          <a:prstGeom prst="rect">
            <a:avLst/>
          </a:prstGeom>
          <a:solidFill>
            <a:srgbClr val="1A3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57925" y="6324600"/>
            <a:ext cx="533400" cy="533400"/>
          </a:xfrm>
          <a:prstGeom prst="ellipse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1259" y="6374130"/>
            <a:ext cx="285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FFFFFF"/>
                </a:solidFill>
                <a:latin typeface="Inter Bold"/>
              </a:rPr>
              <a:t>K8s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61810" y="6202680"/>
            <a:ext cx="5715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KUBERNETES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61810" y="6507480"/>
            <a:ext cx="7620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4A7AB5"/>
                </a:solidFill>
                <a:latin typeface="Inter SemiBold"/>
              </a:rPr>
              <a:t>THE CONTROL PLANE — ALL TOOLS RUN AS OPERATORS 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259" y="71456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7300" y="7600950"/>
            <a:ext cx="15773400" cy="1143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581775" y="7905749"/>
            <a:ext cx="533400" cy="5334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1310" y="7974330"/>
            <a:ext cx="1333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6609" y="7650480"/>
            <a:ext cx="381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ARGO CD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6609" y="7955280"/>
            <a:ext cx="6667499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666666"/>
                </a:solidFill>
                <a:latin typeface="Inter SemiBold"/>
              </a:rPr>
              <a:t>GITOPS DELIVERY LAYER — SITS BENEATH ALL TOOLS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8983980"/>
            <a:ext cx="8572500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Use one. Use all four. The control plane is flexible.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5030"/>
            <a:ext cx="85725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FOUR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97530"/>
            <a:ext cx="1238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CHOOSE BY ABSTRACTION, SKILLS, AND EXISTING INVESTMENTS.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1529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343400"/>
            <a:ext cx="495300" cy="4952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1135" y="43453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2881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 — AZURE SERVICE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5548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Azure resources in Git as Kubernetes YAML. If you think in Azure terms and want GitOps, start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63874" y="4381500"/>
            <a:ext cx="571500" cy="190499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0060" y="43072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72435" y="45167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0078D4"/>
                </a:solidFill>
                <a:latin typeface="Inter Bold"/>
              </a:rPr>
              <a:t>✅ AZURE 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71600" y="5276850"/>
            <a:ext cx="495300" cy="4952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1135" y="52787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2216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883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 design the API your developers use. Everything Azure is hidden behind your abstractions. Own the platform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763874" y="5314950"/>
            <a:ext cx="571500" cy="1904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720060" y="52406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72435" y="54502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88888"/>
                </a:solidFill>
                <a:latin typeface="Inter Bold"/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0198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71600" y="6210300"/>
            <a:ext cx="495300" cy="4952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1135" y="62122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61550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 — KUBERNETES RESOURCE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64217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One CR expands into many. Compose app-level concepts without full Crossplane complexity. Pairs perfectly with ASO.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63874" y="6248400"/>
            <a:ext cx="571500" cy="19049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720060" y="61741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72435" y="63836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B5CF6"/>
                </a:solidFill>
                <a:latin typeface="Inter Bold"/>
              </a:rPr>
              <a:t>✅ + ASO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7143750"/>
            <a:ext cx="495300" cy="4952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61135" y="71456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708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73552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Your Terraform, under Kubernetes control. Policy-gated, Git-tracked, no rewrite required. The pragmatic choice.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63874" y="7181850"/>
            <a:ext cx="571500" cy="1904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20060" y="71075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72435" y="73171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10B981"/>
                </a:solidFill>
                <a:latin typeface="Inter Bold"/>
              </a:rPr>
              <a:t>✅ AZURE NATIVE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839200"/>
            <a:ext cx="16002000" cy="495299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8953500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5410" y="8936355"/>
            <a:ext cx="95249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1160" y="8793480"/>
            <a:ext cx="857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ARGO CD — DELIVERS ALL OF THE ABOVE THROUGH GITOPS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7310" y="1668780"/>
            <a:ext cx="142875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30805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Inter Black"/>
              </a:rPr>
              <a:t>NOT MUTUALLY EXCLUSIVE.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7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spc="75">
                <a:solidFill>
                  <a:srgbClr val="AAAAAA"/>
                </a:solidFill>
                <a:latin typeface="Inter SemiBold"/>
              </a:rPr>
              <a:t>USE ONE. USE ALL FOUR. REAL PLATFORMS MIX AND MATCH.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5105400"/>
            <a:ext cx="14401800" cy="5334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787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259" y="5135880"/>
            <a:ext cx="140208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 SemiBold"/>
              </a:rPr>
              <a:t>Simple CR — give me an AppDatabase  ·  One KRO ResourceGroup  ·  No YAML knowledge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5715000"/>
            <a:ext cx="14401800" cy="647699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6883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PROVISIONING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600" y="5829300"/>
            <a:ext cx="590550" cy="4191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850" y="5924550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6559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421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2350" y="5829300"/>
            <a:ext cx="1257300" cy="4191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57600" y="592455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33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0959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F4444"/>
                </a:solidFill>
                <a:latin typeface="Inter ExtraBold"/>
              </a:rPr>
              <a:t>CROSSPLANE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5849" y="5829300"/>
            <a:ext cx="590550" cy="4191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91100" y="592455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8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46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62600" y="5829300"/>
            <a:ext cx="1257300" cy="41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57850" y="592455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1210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Inter ExtraBold"/>
              </a:rPr>
              <a:t>TERRANETES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6438899"/>
            <a:ext cx="14401800" cy="60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64122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DELIVERY</a:t>
            </a:r>
          </a:p>
        </p:txBody>
      </p:sp>
      <p:sp>
        <p:nvSpPr>
          <p:cNvPr id="33" name="Oval 32"/>
          <p:cNvSpPr/>
          <p:nvPr/>
        </p:nvSpPr>
        <p:spPr>
          <a:xfrm>
            <a:off x="2933700" y="6591300"/>
            <a:ext cx="304800" cy="3048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47035" y="6564630"/>
            <a:ext cx="1143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2309" y="6431280"/>
            <a:ext cx="133349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ARGO CD — WATCHES GIT  ·  SYNCS TO KUBERNETES  ·  DELIVERS EVERYTHING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7124699"/>
            <a:ext cx="14401800" cy="4857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70980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42259" y="7155180"/>
            <a:ext cx="24764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333333"/>
                </a:solidFill>
                <a:latin typeface="Inter ExtraBold"/>
              </a:rPr>
              <a:t>GIT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59" y="7155180"/>
            <a:ext cx="85725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— single source of truth for all resource definitions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9012555"/>
            <a:ext cx="133349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"/>
              </a:rPr>
              <a:t>The platform team’s job is to assemble these layers thoughtfully — not to standardise on a single tool.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14060" y="9067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05 / DECISION FRAMEWORK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64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LET’S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516880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FOUR TOOLS. FOUR PROBLEMS.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77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4010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ASO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62200" y="8801100"/>
            <a:ext cx="188595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52700" y="8934449"/>
            <a:ext cx="266700" cy="2667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69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3209" y="8793480"/>
            <a:ext cx="13144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CROSSPLANE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245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52950" y="8934449"/>
            <a:ext cx="266700" cy="2667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72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59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KRO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81650" y="8801100"/>
            <a:ext cx="1866899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7215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64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2659" y="8793480"/>
            <a:ext cx="12953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TERRANETES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