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304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0B981"/>
    <a:srgbClr val="007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99"/>
    <p:restoredTop sz="94531"/>
  </p:normalViewPr>
  <p:slideViewPr>
    <p:cSldViewPr snapToGrid="0" snapToObjects="1">
      <p:cViewPr>
        <p:scale>
          <a:sx n="67" d="100"/>
          <a:sy n="67" d="100"/>
        </p:scale>
        <p:origin x="1344" y="13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DD5DE5-1897-0943-A013-A36087D6FBB8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979DD-9270-8243-AD6C-F99AA9612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3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979DD-9270-8243-AD6C-F99AA961276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528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7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7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14471967_3840_2160_30fps">
            <a:hlinkClick r:id="" action="ppaction://media"/>
            <a:extLst>
              <a:ext uri="{FF2B5EF4-FFF2-40B4-BE49-F238E27FC236}">
                <a16:creationId xmlns:a16="http://schemas.microsoft.com/office/drawing/2014/main" id="{D317D280-7682-64C9-6A1A-215E4A1352E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763" y="7938"/>
            <a:ext cx="18288000" cy="10287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-46038"/>
            <a:ext cx="18288000" cy="10294938"/>
          </a:xfrm>
          <a:prstGeom prst="rect">
            <a:avLst/>
          </a:prstGeom>
          <a:gradFill>
            <a:gsLst>
              <a:gs pos="5200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954500" y="1904999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35500" y="1904999"/>
            <a:ext cx="152400" cy="15240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716500" y="1904999"/>
            <a:ext cx="152400" cy="1524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954500" y="2286000"/>
            <a:ext cx="152400" cy="15240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335500" y="2286000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7716500" y="2286000"/>
            <a:ext cx="152400" cy="15240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 dirty="0" err="1">
                <a:solidFill>
                  <a:srgbClr val="FFFFFF"/>
                </a:solidFill>
                <a:latin typeface="Inter SemiBold"/>
              </a:rPr>
              <a:t>TECHORAMA</a:t>
            </a:r>
            <a:r>
              <a:rPr sz="1500" b="0" spc="300" dirty="0">
                <a:solidFill>
                  <a:srgbClr val="FFFFFF"/>
                </a:solidFill>
                <a:latin typeface="Inter SemiBold"/>
              </a:rPr>
              <a:t> BELGIUM</a:t>
            </a:r>
            <a:r>
              <a:rPr lang="en-US" sz="1500" b="0" spc="300" dirty="0">
                <a:solidFill>
                  <a:srgbClr val="FFFFFF"/>
                </a:solidFill>
                <a:latin typeface="Inter SemiBold"/>
              </a:rPr>
              <a:t> 2026</a:t>
            </a:r>
            <a:endParaRPr sz="1500" b="0" spc="300" dirty="0">
              <a:solidFill>
                <a:srgbClr val="FFFFFF"/>
              </a:solidFill>
              <a:latin typeface="Inter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1560" y="1640997"/>
            <a:ext cx="14287500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 dirty="0">
                <a:solidFill>
                  <a:srgbClr val="FFFFFF"/>
                </a:solidFill>
                <a:latin typeface="Inter Black"/>
              </a:rPr>
              <a:t>CLOUD 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12573"/>
            <a:ext cx="14287500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>
                <a:solidFill>
                  <a:srgbClr val="FFFFFF"/>
                </a:solidFill>
                <a:latin typeface="Inter Black"/>
              </a:rP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84148"/>
            <a:ext cx="14287500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>
                <a:solidFill>
                  <a:srgbClr val="666666"/>
                </a:solidFill>
                <a:latin typeface="Inter Black"/>
              </a:rPr>
              <a:t>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275357"/>
            <a:ext cx="8572500" cy="8191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dirty="0">
                <a:solidFill>
                  <a:srgbClr val="444444"/>
                </a:solidFill>
                <a:latin typeface="Inter Black"/>
              </a:rPr>
              <a:t>ON AZURE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6499304"/>
            <a:ext cx="761999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6558359"/>
            <a:ext cx="8572500" cy="4381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50" b="1" dirty="0">
                <a:solidFill>
                  <a:srgbClr val="FFFFFF"/>
                </a:solidFill>
                <a:latin typeface="Inter ExtraBold"/>
              </a:rPr>
              <a:t>Geert van der Cruijsen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7034609"/>
            <a:ext cx="857250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spc="75">
                <a:solidFill>
                  <a:srgbClr val="888888"/>
                </a:solidFill>
                <a:latin typeface="Inter"/>
              </a:rPr>
              <a:t>CEO &amp; Co-founder · Zure NL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C730E104-FCEC-9B58-8E6D-B00A42A751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34486" y="8472536"/>
            <a:ext cx="2601014" cy="6429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20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243560" y="-1760220"/>
            <a:ext cx="3810000" cy="92201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0" b="1">
                <a:solidFill>
                  <a:srgbClr val="FFFFFF">
                    <a:alpha val="4000"/>
                  </a:srgbClr>
                </a:solidFill>
                <a:latin typeface="Inter Black"/>
              </a:rPr>
              <a:t>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954500" y="1523999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335500" y="1523999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716500" y="1523999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954500" y="1904999"/>
            <a:ext cx="152400" cy="15240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7335500" y="1904999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716500" y="1904999"/>
            <a:ext cx="152400" cy="15240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6954500" y="2286000"/>
            <a:ext cx="152400" cy="1524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7335500" y="2286000"/>
            <a:ext cx="152400" cy="15240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7716500" y="2286000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37310" y="1049655"/>
            <a:ext cx="47625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01 / THE CHAOS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659505"/>
            <a:ext cx="15240000" cy="18859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0" b="1">
                <a:solidFill>
                  <a:srgbClr val="FFFFFF"/>
                </a:solidFill>
                <a:latin typeface="Inter Black"/>
              </a:rPr>
              <a:t>THE CHAOS.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735955"/>
            <a:ext cx="15240000" cy="6858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BEFORE THE PLATFORM.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601075"/>
            <a:ext cx="114300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B3A8DC13-59C6-449E-5696-9A67AFD108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433560" y="-1188720"/>
            <a:ext cx="7620000" cy="806767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500" b="1">
                <a:solidFill>
                  <a:srgbClr val="000000">
                    <a:alpha val="3000"/>
                  </a:srgbClr>
                </a:solidFill>
                <a:latin typeface="Inter Black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37310" y="1049655"/>
            <a:ext cx="47625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 dirty="0">
                <a:solidFill>
                  <a:srgbClr val="000000"/>
                </a:solidFill>
                <a:latin typeface="Inter SemiBold"/>
              </a:rPr>
              <a:t>0</a:t>
            </a:r>
            <a:r>
              <a:rPr lang="en-US" sz="1500" b="0" spc="300" dirty="0">
                <a:solidFill>
                  <a:srgbClr val="000000"/>
                </a:solidFill>
                <a:latin typeface="Inter SemiBold"/>
              </a:rPr>
              <a:t>1</a:t>
            </a:r>
            <a:r>
              <a:rPr sz="1500" b="0" spc="300" dirty="0">
                <a:solidFill>
                  <a:srgbClr val="000000"/>
                </a:solidFill>
                <a:latin typeface="Inter SemiBold"/>
              </a:rPr>
              <a:t> / </a:t>
            </a:r>
            <a:r>
              <a:rPr lang="en-US" sz="1500" spc="300" dirty="0">
                <a:solidFill>
                  <a:srgbClr val="000000"/>
                </a:solidFill>
                <a:latin typeface="Inter SemiBold"/>
              </a:rPr>
              <a:t>THE CHAOS</a:t>
            </a:r>
            <a:endParaRPr sz="1500" b="0" spc="300" dirty="0">
              <a:solidFill>
                <a:srgbClr val="000000"/>
              </a:solidFill>
              <a:latin typeface="Inter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3326129"/>
            <a:ext cx="15240000" cy="200977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0" b="1" dirty="0">
                <a:solidFill>
                  <a:srgbClr val="000000"/>
                </a:solidFill>
                <a:latin typeface="Inter Black"/>
              </a:rPr>
              <a:t>DAY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583555"/>
            <a:ext cx="7620000" cy="3429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AAAAAA"/>
                </a:solidFill>
                <a:latin typeface="Inter"/>
              </a:rPr>
              <a:t>Three things. Zero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7993380"/>
            <a:ext cx="4952999" cy="8286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DDDDDD"/>
                </a:solidFill>
                <a:latin typeface="Inter Black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963025"/>
            <a:ext cx="4952999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9003030"/>
            <a:ext cx="4952999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spc="150">
                <a:solidFill>
                  <a:srgbClr val="000000"/>
                </a:solidFill>
                <a:latin typeface="Inter ExtraBold"/>
              </a:rPr>
              <a:t>NAMESPACE.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6060" y="7993380"/>
            <a:ext cx="4952999" cy="8286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DDDDDD"/>
                </a:solidFill>
                <a:latin typeface="Inter Black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7499" y="8963025"/>
            <a:ext cx="4952999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6060" y="9003030"/>
            <a:ext cx="4952999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spc="150">
                <a:solidFill>
                  <a:srgbClr val="000000"/>
                </a:solidFill>
                <a:latin typeface="Inter ExtraBold"/>
              </a:rPr>
              <a:t>DATABASE.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00560" y="7993380"/>
            <a:ext cx="4952999" cy="8286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DDDDDD"/>
                </a:solidFill>
                <a:latin typeface="Inter Black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91999" y="8963025"/>
            <a:ext cx="4952999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100560" y="9003030"/>
            <a:ext cx="4952999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spc="150">
                <a:solidFill>
                  <a:srgbClr val="000000"/>
                </a:solidFill>
                <a:latin typeface="Inter ExtraBold"/>
              </a:rPr>
              <a:t>PIPELINE.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C5D9CBE4-5262-C526-1895-88FE17D10C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100560" y="-617219"/>
            <a:ext cx="4762500" cy="806767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5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1180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71500" y="1523999"/>
            <a:ext cx="152400" cy="1524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71500" y="1904999"/>
            <a:ext cx="152400" cy="15240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71500" y="2286000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 dirty="0">
                <a:solidFill>
                  <a:srgbClr val="FFFFFF"/>
                </a:solidFill>
                <a:latin typeface="Inter SemiBold"/>
              </a:rPr>
              <a:t>0</a:t>
            </a:r>
            <a:r>
              <a:rPr lang="en-US" sz="1500" b="0" spc="300" dirty="0">
                <a:solidFill>
                  <a:srgbClr val="FFFFFF"/>
                </a:solidFill>
                <a:latin typeface="Inter SemiBold"/>
              </a:rPr>
              <a:t>1</a:t>
            </a:r>
            <a:r>
              <a:rPr sz="1500" b="0" spc="300" dirty="0">
                <a:solidFill>
                  <a:srgbClr val="FFFFFF"/>
                </a:solidFill>
                <a:latin typeface="Inter SemiBold"/>
              </a:rPr>
              <a:t> / </a:t>
            </a:r>
            <a:r>
              <a:rPr lang="en-US" sz="1500" b="0" spc="300" dirty="0">
                <a:solidFill>
                  <a:srgbClr val="FFFFFF"/>
                </a:solidFill>
                <a:latin typeface="Inter SemiBold"/>
              </a:rPr>
              <a:t>THE CHAOS</a:t>
            </a:r>
            <a:endParaRPr sz="1500" b="0" spc="300" dirty="0">
              <a:solidFill>
                <a:srgbClr val="FFFFFF"/>
              </a:solidFill>
              <a:latin typeface="Inter Semi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2373630"/>
            <a:ext cx="15240000" cy="1714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FFFFFF"/>
                </a:solidFill>
                <a:latin typeface="Inter Black"/>
              </a:rPr>
              <a:t>WHO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88130"/>
            <a:ext cx="15240000" cy="1714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802630"/>
            <a:ext cx="15240000" cy="1714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FFFFFF"/>
                </a:solidFill>
                <a:latin typeface="Inter Black"/>
              </a:rPr>
              <a:t>CALL?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601075"/>
            <a:ext cx="114300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219437B-0F7C-C61A-3D9A-67BBAEEB11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42560" y="716280"/>
            <a:ext cx="11430000" cy="4762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QUEUE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954500" y="1523999"/>
            <a:ext cx="133350" cy="1333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335500" y="1523999"/>
            <a:ext cx="133350" cy="13335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954500" y="1904999"/>
            <a:ext cx="133350" cy="13335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335500" y="1904999"/>
            <a:ext cx="133350" cy="1333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37310" y="1049655"/>
            <a:ext cx="47625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01 / THE CHAOS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859405"/>
            <a:ext cx="8572500" cy="761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dirty="0">
                <a:solidFill>
                  <a:schemeClr val="bg1">
                    <a:lumMod val="65000"/>
                  </a:schemeClr>
                </a:solidFill>
                <a:latin typeface="Inter ExtraBold"/>
              </a:rPr>
              <a:t>THE TICKET QUEUE.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554730"/>
            <a:ext cx="7620000" cy="1714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 dirty="0">
                <a:solidFill>
                  <a:srgbClr val="FFFFFF"/>
                </a:solidFill>
                <a:latin typeface="Inter Black"/>
              </a:rPr>
              <a:t>SLOW.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535930"/>
            <a:ext cx="11430000" cy="8572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INCONSISTENT.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6520815"/>
            <a:ext cx="11430000" cy="11430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0" b="1" dirty="0">
                <a:solidFill>
                  <a:srgbClr val="FFFFFF"/>
                </a:solidFill>
                <a:latin typeface="Inter Black"/>
              </a:rPr>
              <a:t>BOTTLENECK.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905874"/>
            <a:ext cx="761999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6C77B5F7-7628-C659-716E-4CC42CF1F5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386560" y="7098030"/>
            <a:ext cx="2381250" cy="2857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63060" y="4526280"/>
            <a:ext cx="1143000" cy="1333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>
                    <a:alpha val="7000"/>
                  </a:srgbClr>
                </a:solidFill>
                <a:latin typeface="Inter Black"/>
              </a:rPr>
              <a:t>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624809" y="6145530"/>
            <a:ext cx="1714500" cy="2095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>
                <a:solidFill>
                  <a:srgbClr val="FFFFFF">
                    <a:alpha val="10000"/>
                  </a:srgbClr>
                </a:solidFill>
                <a:latin typeface="Inter Black"/>
              </a:rPr>
              <a:t>*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1180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71500" y="1523999"/>
            <a:ext cx="152400" cy="1524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1500" y="1904999"/>
            <a:ext cx="152400" cy="15240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71500" y="2286000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37310" y="1049655"/>
            <a:ext cx="47625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01 / THE CHAOS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21280"/>
            <a:ext cx="14287500" cy="15716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0" b="1">
                <a:solidFill>
                  <a:srgbClr val="FFFFFF"/>
                </a:solidFill>
                <a:latin typeface="Inter Black"/>
              </a:rPr>
              <a:t>EVERY TEAM.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59580"/>
            <a:ext cx="8572500" cy="15716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EVERY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897880"/>
            <a:ext cx="14287500" cy="15716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0" b="1" dirty="0">
                <a:solidFill>
                  <a:srgbClr val="FFFFFF"/>
                </a:solidFill>
                <a:latin typeface="Inter Black"/>
              </a:rPr>
              <a:t>SNOWFLAKE.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601075"/>
            <a:ext cx="114300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90E463F-EA5C-0F86-8A47-344BC551A3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0560" y="1859280"/>
            <a:ext cx="4762500" cy="6191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50" b="1">
                <a:solidFill>
                  <a:srgbClr val="FFFFFF">
                    <a:alpha val="11000"/>
                  </a:srgbClr>
                </a:solidFill>
                <a:latin typeface="Inter ExtraBold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00560" y="1287780"/>
            <a:ext cx="4762500" cy="5143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FFFFFF">
                    <a:alpha val="9000"/>
                  </a:srgbClr>
                </a:solidFill>
                <a:latin typeface="Inter ExtraBold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560" y="8241029"/>
            <a:ext cx="4762500" cy="4191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>
                    <a:alpha val="8000"/>
                  </a:srgbClr>
                </a:solidFill>
                <a:latin typeface="Inter ExtraBold"/>
              </a:rPr>
              <a:t>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53060" y="6621780"/>
            <a:ext cx="4762500" cy="5429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>
                    <a:alpha val="10000"/>
                  </a:srgbClr>
                </a:solidFill>
                <a:latin typeface="Inter ExtraBold"/>
              </a:rPr>
              <a:t>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" y="7764780"/>
            <a:ext cx="4762500" cy="4667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FFFFFF">
                    <a:alpha val="9000"/>
                  </a:srgbClr>
                </a:solidFill>
                <a:latin typeface="Inter ExtraBold"/>
              </a:rPr>
              <a:t>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6560" y="8907780"/>
            <a:ext cx="4762500" cy="3905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>
                    <a:alpha val="7000"/>
                  </a:srgbClr>
                </a:solidFill>
                <a:latin typeface="Inter ExtraBold"/>
              </a:rPr>
              <a:t>NETWORKING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39059" y="2621280"/>
            <a:ext cx="4762500" cy="761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50" b="1">
                <a:solidFill>
                  <a:srgbClr val="FFFFFF">
                    <a:alpha val="12000"/>
                  </a:srgbClr>
                </a:solidFill>
                <a:latin typeface="Inter ExtraBold"/>
              </a:rPr>
              <a:t>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9810" y="5478780"/>
            <a:ext cx="4762500" cy="37147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FFFFFF">
                    <a:alpha val="8000"/>
                  </a:srgbClr>
                </a:solidFill>
                <a:latin typeface="Inter ExtraBold"/>
              </a:rPr>
              <a:t>OBSERVABILITY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37310" y="1049655"/>
            <a:ext cx="47625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01 / THE CHAOS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535555"/>
            <a:ext cx="14287500" cy="15716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0" b="1">
                <a:solidFill>
                  <a:srgbClr val="FFFFFF"/>
                </a:solidFill>
                <a:latin typeface="Inter Black"/>
              </a:rPr>
              <a:t>TOO MUCH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54804"/>
            <a:ext cx="4762500" cy="15716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774055"/>
            <a:ext cx="8572500" cy="15716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0" b="1">
                <a:solidFill>
                  <a:srgbClr val="FFFFFF"/>
                </a:solidFill>
                <a:latin typeface="Inter Black"/>
              </a:rPr>
              <a:t>HOLD.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610600"/>
            <a:ext cx="1143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C78122CE-0556-B877-2EF2-1494A62F85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72500" y="-2857500"/>
            <a:ext cx="13334999" cy="13335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2108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954500" y="7810500"/>
            <a:ext cx="133350" cy="1333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335500" y="7810500"/>
            <a:ext cx="133350" cy="13335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716500" y="7810500"/>
            <a:ext cx="133350" cy="13335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954500" y="8191500"/>
            <a:ext cx="133350" cy="13335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7335500" y="8191500"/>
            <a:ext cx="133350" cy="1333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716500" y="8191500"/>
            <a:ext cx="133350" cy="13335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7310" y="1049655"/>
            <a:ext cx="47625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01 / THE CHAOS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954654"/>
            <a:ext cx="13334999" cy="13811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50" b="1">
                <a:solidFill>
                  <a:srgbClr val="FFFFFF"/>
                </a:solidFill>
                <a:latin typeface="Inter Black"/>
              </a:rPr>
              <a:t>WHAT IF THEY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335780"/>
            <a:ext cx="13334999" cy="13811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5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NEVER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716905"/>
            <a:ext cx="13334999" cy="13811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50" b="1">
                <a:solidFill>
                  <a:srgbClr val="FFFFFF"/>
                </a:solidFill>
                <a:latin typeface="Inter Black"/>
              </a:rPr>
              <a:t>TO CALL YOU?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8886825"/>
            <a:ext cx="1143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E0054272-48D9-2EB3-DCAB-964222BCE7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33060" y="2240279"/>
            <a:ext cx="13334999" cy="61912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500" b="1">
                <a:solidFill>
                  <a:srgbClr val="000000">
                    <a:alpha val="5000"/>
                  </a:srgbClr>
                </a:solidFill>
                <a:latin typeface="Inter Black"/>
              </a:rPr>
              <a:t>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954500" y="952499"/>
            <a:ext cx="133350" cy="133350"/>
          </a:xfrm>
          <a:prstGeom prst="ellipse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335500" y="952499"/>
            <a:ext cx="133350" cy="133350"/>
          </a:xfrm>
          <a:prstGeom prst="ellipse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716500" y="952499"/>
            <a:ext cx="133350" cy="133350"/>
          </a:xfrm>
          <a:prstGeom prst="ellipse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954500" y="1333500"/>
            <a:ext cx="133350" cy="133350"/>
          </a:xfrm>
          <a:prstGeom prst="ellipse">
            <a:avLst/>
          </a:prstGeom>
          <a:solidFill>
            <a:srgbClr val="000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7335500" y="1333500"/>
            <a:ext cx="133350" cy="133350"/>
          </a:xfrm>
          <a:prstGeom prst="ellipse">
            <a:avLst/>
          </a:prstGeom>
          <a:solidFill>
            <a:srgbClr val="000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716500" y="1333500"/>
            <a:ext cx="133350" cy="133350"/>
          </a:xfrm>
          <a:prstGeom prst="ellipse">
            <a:avLst/>
          </a:prstGeom>
          <a:solidFill>
            <a:srgbClr val="000000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000000"/>
                </a:solidFill>
                <a:latin typeface="Inter SemiBold"/>
              </a:rPr>
              <a:t>02 / PLATFORM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49980"/>
            <a:ext cx="8572500" cy="7143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 Black"/>
              </a:rPr>
              <a:t>YOU BUILD IT. YOU RUN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4562475"/>
            <a:ext cx="1523999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783454"/>
            <a:ext cx="11430000" cy="1714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000000"/>
                </a:solidFill>
                <a:latin typeface="Inter Black"/>
              </a:rPr>
              <a:t>AT SCALE.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7D9A4C6F-8DB9-C424-65AF-3C8ACA3E4B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81060" y="1835467"/>
            <a:ext cx="10477499" cy="3619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0" b="1" dirty="0">
                <a:solidFill>
                  <a:srgbClr val="FFFFFF">
                    <a:alpha val="6000"/>
                  </a:srgbClr>
                </a:solidFill>
                <a:latin typeface="Inter Black"/>
              </a:rPr>
              <a:t>TICKET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666666"/>
                </a:solidFill>
                <a:latin typeface="Inter SemiBold"/>
              </a:rPr>
              <a:t>02 / PLATFORM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954780"/>
            <a:ext cx="11430000" cy="15430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0" b="1">
                <a:solidFill>
                  <a:srgbClr val="FFFFFF"/>
                </a:solidFill>
                <a:latin typeface="Inter Black"/>
              </a:rPr>
              <a:t>A PRODUCT.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807393"/>
            <a:ext cx="11430000" cy="7143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NOT A TICKET QUEUE.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78A8B21-1758-A05B-9793-EB010E8A2D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433560" y="2335530"/>
            <a:ext cx="10477499" cy="72390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5000" b="1" dirty="0">
                <a:solidFill>
                  <a:srgbClr val="FFFFFF">
                    <a:alpha val="4000"/>
                  </a:srgbClr>
                </a:solidFill>
                <a:latin typeface="Inter Black"/>
              </a:rPr>
              <a:t>IDP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666666"/>
                </a:solidFill>
                <a:latin typeface="Inter SemiBold"/>
              </a:rPr>
              <a:t>02 / PLATFORM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507105"/>
            <a:ext cx="5715000" cy="13811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FFFFFF"/>
                </a:solidFill>
                <a:latin typeface="Inter Black"/>
              </a:rPr>
              <a:t>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092065"/>
            <a:ext cx="10477499" cy="13811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0" b="1" dirty="0">
                <a:solidFill>
                  <a:srgbClr val="FFFFFF"/>
                </a:solidFill>
                <a:latin typeface="Inter Black"/>
              </a:rPr>
              <a:t>PLATFORM.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7F14E1-2D5D-98BD-81F4-652DF19449E3}"/>
              </a:ext>
            </a:extLst>
          </p:cNvPr>
          <p:cNvSpPr txBox="1"/>
          <p:nvPr/>
        </p:nvSpPr>
        <p:spPr>
          <a:xfrm>
            <a:off x="1051560" y="6952297"/>
            <a:ext cx="11430000" cy="7143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420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BUILD &amp; OPERATE ONCE.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420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GOLDEN PATHS FOR DEVOPS TEAMS</a:t>
            </a:r>
            <a:endParaRPr sz="4200" b="1" dirty="0">
              <a:solidFill>
                <a:schemeClr val="bg1">
                  <a:lumMod val="65000"/>
                </a:schemeClr>
              </a:solidFill>
              <a:latin typeface="Inter Black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A4DB22C-1A3F-FEC5-E980-CCB4F82998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19060" y="2811779"/>
            <a:ext cx="12382500" cy="61912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500" b="1">
                <a:solidFill>
                  <a:srgbClr val="000000">
                    <a:alpha val="5000"/>
                  </a:srgbClr>
                </a:solidFill>
                <a:latin typeface="Inter Black"/>
              </a:rPr>
              <a:t>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000000"/>
                </a:solidFill>
                <a:latin typeface="Inter SemiBold"/>
              </a:rPr>
              <a:t>02 / PLATFORM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21454"/>
            <a:ext cx="12382500" cy="13811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000000"/>
                </a:solidFill>
                <a:latin typeface="Inter Black"/>
              </a:rPr>
              <a:t>OPINIONATED.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673090"/>
            <a:ext cx="9525000" cy="7429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 dirty="0">
                <a:solidFill>
                  <a:srgbClr val="CCCCCC"/>
                </a:solidFill>
                <a:latin typeface="Inter Black"/>
              </a:rPr>
              <a:t>NOT MANDATORY.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06C71D6-333B-11AC-1300-600C9691DC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666666"/>
                </a:solidFill>
                <a:latin typeface="Inter SemiBold"/>
              </a:rPr>
              <a:t>02 / PLATFORM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27910"/>
            <a:ext cx="8572500" cy="8762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0" b="1" dirty="0">
                <a:solidFill>
                  <a:srgbClr val="FFFFFF"/>
                </a:solidFill>
                <a:latin typeface="Inter Black"/>
              </a:rPr>
              <a:t>SELF-SERVICE.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94710"/>
            <a:ext cx="7620000" cy="2476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 dirty="0">
                <a:solidFill>
                  <a:schemeClr val="bg1">
                    <a:lumMod val="65000"/>
                  </a:schemeClr>
                </a:solidFill>
                <a:latin typeface="Inter"/>
              </a:rPr>
              <a:t>Developers provision what they need</a:t>
            </a:r>
            <a:r>
              <a:rPr lang="en-US" sz="3600" b="0" dirty="0">
                <a:solidFill>
                  <a:schemeClr val="bg1">
                    <a:lumMod val="65000"/>
                  </a:schemeClr>
                </a:solidFill>
                <a:latin typeface="Inter"/>
              </a:rPr>
              <a:t>,</a:t>
            </a:r>
            <a:r>
              <a:rPr sz="3600" b="0" dirty="0">
                <a:solidFill>
                  <a:schemeClr val="bg1">
                    <a:lumMod val="65000"/>
                  </a:schemeClr>
                </a:solidFill>
                <a:latin typeface="Inter"/>
              </a:rPr>
              <a:t> on demand.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4239405"/>
            <a:ext cx="6838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4280534"/>
            <a:ext cx="9525000" cy="8762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0" b="1" dirty="0">
                <a:solidFill>
                  <a:srgbClr val="FFFFFF"/>
                </a:solidFill>
                <a:latin typeface="Inter Black"/>
              </a:rPr>
              <a:t>CONSISTENCY.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47335"/>
            <a:ext cx="8572500" cy="2476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 dirty="0">
                <a:solidFill>
                  <a:schemeClr val="bg1">
                    <a:lumMod val="65000"/>
                  </a:schemeClr>
                </a:solidFill>
                <a:latin typeface="Inter"/>
              </a:rPr>
              <a:t>Every team’s infrastructure follows the same platform standards.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192031"/>
            <a:ext cx="6838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6233160"/>
            <a:ext cx="8572500" cy="8762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0" b="1" dirty="0">
                <a:solidFill>
                  <a:srgbClr val="FFFFFF"/>
                </a:solidFill>
                <a:latin typeface="Inter Black"/>
              </a:rPr>
              <a:t>BOUNDARIES.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7299960"/>
            <a:ext cx="7620000" cy="2476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 dirty="0">
                <a:solidFill>
                  <a:schemeClr val="bg1">
                    <a:lumMod val="65000"/>
                  </a:schemeClr>
                </a:solidFill>
                <a:latin typeface="Inter"/>
              </a:rPr>
              <a:t>Clear ownership between platform team and product team.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FB7AE11-300C-75DC-96D0-3025F235C5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42860" y="430530"/>
            <a:ext cx="13334999" cy="7619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500" b="1" dirty="0">
                <a:solidFill>
                  <a:srgbClr val="FFFFFF">
                    <a:alpha val="5000"/>
                  </a:srgbClr>
                </a:solidFill>
                <a:latin typeface="Inter Black"/>
              </a:rPr>
              <a:t>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954500" y="1523999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335500" y="1523999"/>
            <a:ext cx="133350" cy="1333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716500" y="1523999"/>
            <a:ext cx="133350" cy="13335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954500" y="1904999"/>
            <a:ext cx="133350" cy="1333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7335500" y="1904999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716500" y="1904999"/>
            <a:ext cx="133350" cy="1333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888888"/>
                </a:solidFill>
                <a:latin typeface="Inter SemiBold"/>
              </a:rPr>
              <a:t>03 / CLOUD NATIVE + GITOPS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832246"/>
            <a:ext cx="16192499" cy="1676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 dirty="0">
                <a:solidFill>
                  <a:srgbClr val="FFFFFF"/>
                </a:solidFill>
                <a:latin typeface="Inter Black"/>
              </a:rPr>
              <a:t>KUBERNETES.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7122056"/>
            <a:ext cx="16192499" cy="8191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AN API. NOT A SCHEDULER.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F95BC26-406F-15B5-D2F2-65E676E629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42560" y="2811779"/>
            <a:ext cx="13334999" cy="4762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0" b="1" dirty="0">
                <a:solidFill>
                  <a:srgbClr val="000000">
                    <a:alpha val="5000"/>
                  </a:srgbClr>
                </a:solidFill>
                <a:latin typeface="Inter Black"/>
              </a:rPr>
              <a:t>INTENT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1180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0965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954500" y="1523999"/>
            <a:ext cx="133350" cy="133350"/>
          </a:xfrm>
          <a:prstGeom prst="ellipse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335500" y="1523999"/>
            <a:ext cx="133350" cy="133350"/>
          </a:xfrm>
          <a:prstGeom prst="ellipse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716500" y="1523999"/>
            <a:ext cx="133350" cy="133350"/>
          </a:xfrm>
          <a:prstGeom prst="ellipse">
            <a:avLst/>
          </a:prstGeom>
          <a:solidFill>
            <a:srgbClr val="000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954500" y="1904999"/>
            <a:ext cx="133350" cy="133350"/>
          </a:xfrm>
          <a:prstGeom prst="ellipse">
            <a:avLst/>
          </a:prstGeom>
          <a:solidFill>
            <a:srgbClr val="000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7335500" y="1904999"/>
            <a:ext cx="133350" cy="133350"/>
          </a:xfrm>
          <a:prstGeom prst="ellipse">
            <a:avLst/>
          </a:prstGeom>
          <a:solidFill>
            <a:srgbClr val="000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000000"/>
                </a:solidFill>
                <a:latin typeface="Inter SemiBold"/>
              </a:rPr>
              <a:t>03 / CLOUD NATIVE + GITOPS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6200776"/>
            <a:ext cx="16192499" cy="13430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0" b="1" dirty="0">
                <a:solidFill>
                  <a:srgbClr val="000000"/>
                </a:solidFill>
                <a:latin typeface="Inter Black"/>
              </a:rPr>
              <a:t>YOU DECLARE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7753351"/>
            <a:ext cx="16192499" cy="10096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0" b="1">
                <a:solidFill>
                  <a:srgbClr val="CCCCCC"/>
                </a:solidFill>
                <a:latin typeface="Inter Black"/>
              </a:rPr>
              <a:t>KUBERNETES CONVERGES IT.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7A31F43-90C0-FAC6-0B8D-D702E22A02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100560" y="1287780"/>
            <a:ext cx="7620000" cy="1904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>
                    <a:alpha val="10000"/>
                  </a:srgbClr>
                </a:solidFill>
                <a:latin typeface="Inter ExtraBold"/>
              </a:rPr>
              <a:t>ARGO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1859280"/>
            <a:ext cx="7620000" cy="1904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>
                    <a:alpha val="8000"/>
                  </a:srgbClr>
                </a:solidFill>
                <a:latin typeface="Inter ExtraBold"/>
              </a:rPr>
              <a:t>PROMETHEUS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39059" y="2430780"/>
            <a:ext cx="7620000" cy="1904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50" b="1">
                <a:solidFill>
                  <a:srgbClr val="FFFFFF">
                    <a:alpha val="10000"/>
                  </a:srgbClr>
                </a:solidFill>
                <a:latin typeface="Inter ExtraBold"/>
              </a:rPr>
              <a:t>ISTIO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2060" y="7764780"/>
            <a:ext cx="7620000" cy="1904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50" b="1">
                <a:solidFill>
                  <a:srgbClr val="FFFFFF">
                    <a:alpha val="10000"/>
                  </a:srgbClr>
                </a:solidFill>
                <a:latin typeface="Inter ExtraBold"/>
              </a:rPr>
              <a:t>FLUX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10060" y="8336280"/>
            <a:ext cx="7620000" cy="1904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>
                    <a:alpha val="8000"/>
                  </a:srgbClr>
                </a:solidFill>
                <a:latin typeface="Inter ExtraBold"/>
              </a:rPr>
              <a:t>CROSSPLANE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2560" y="8717280"/>
            <a:ext cx="7620000" cy="1904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FFFFFF">
                    <a:alpha val="7000"/>
                  </a:srgbClr>
                </a:solidFill>
                <a:latin typeface="Inter ExtraBold"/>
              </a:rPr>
              <a:t>OPENTELEMETRY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96060" y="6845724"/>
            <a:ext cx="7620000" cy="1904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FFFFFF">
                    <a:alpha val="9000"/>
                  </a:srgbClr>
                </a:solidFill>
                <a:latin typeface="Inter ExtraBold"/>
              </a:rPr>
              <a:t>CILIUM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6060" y="7406641"/>
            <a:ext cx="7620000" cy="1904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dirty="0">
                <a:solidFill>
                  <a:srgbClr val="FFFFFF">
                    <a:alpha val="10000"/>
                  </a:srgbClr>
                </a:solidFill>
                <a:latin typeface="Inter ExtraBold"/>
              </a:rPr>
              <a:t>OPA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" y="5288280"/>
            <a:ext cx="7620000" cy="1904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FFFFFF">
                    <a:alpha val="7000"/>
                  </a:srgbClr>
                </a:solidFill>
                <a:latin typeface="Inter ExtraBold"/>
              </a:rPr>
              <a:t>KEDA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59" y="7383780"/>
            <a:ext cx="7620000" cy="1904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>
                    <a:alpha val="8000"/>
                  </a:srgbClr>
                </a:solidFill>
                <a:latin typeface="Inter ExtraBold"/>
              </a:rPr>
              <a:t>BACKSTAGE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888888"/>
                </a:solidFill>
                <a:latin typeface="Inter SemiBold"/>
              </a:rPr>
              <a:t>03 / CLOUD NATIVE + GITOPS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7310" y="3598545"/>
            <a:ext cx="16192499" cy="1676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 dirty="0" err="1">
                <a:solidFill>
                  <a:srgbClr val="FFFFFF"/>
                </a:solidFill>
                <a:latin typeface="Inter Black"/>
              </a:rPr>
              <a:t>CNCF</a:t>
            </a:r>
            <a:r>
              <a:rPr sz="15000" b="1" dirty="0">
                <a:solidFill>
                  <a:srgbClr val="FFFFFF"/>
                </a:solidFill>
                <a:latin typeface="Inter Black"/>
              </a:rPr>
              <a:t> TOOL</a:t>
            </a:r>
            <a:r>
              <a:rPr lang="en-US" sz="15000" b="1" dirty="0">
                <a:solidFill>
                  <a:srgbClr val="FFFFFF"/>
                </a:solidFill>
                <a:latin typeface="Inter Black"/>
              </a:rPr>
              <a:t>BOX</a:t>
            </a:r>
            <a:r>
              <a:rPr sz="15000" b="1" dirty="0">
                <a:solidFill>
                  <a:srgbClr val="FFFFFF"/>
                </a:solidFill>
                <a:latin typeface="Inter Black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7310" y="5774056"/>
            <a:ext cx="16192499" cy="8191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BUILD ON KUBERNETES.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61F1790-4910-E3F4-8D17-898AB634E4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0" y="1316355"/>
            <a:ext cx="13334999" cy="57150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600" b="1" dirty="0" err="1">
                <a:solidFill>
                  <a:srgbClr val="000000">
                    <a:alpha val="5000"/>
                  </a:srgbClr>
                </a:solidFill>
                <a:latin typeface="Inter Black"/>
              </a:rPr>
              <a:t>GITOPS</a:t>
            </a:r>
            <a:endParaRPr sz="30600" b="1" dirty="0">
              <a:solidFill>
                <a:srgbClr val="000000">
                  <a:alpha val="5000"/>
                </a:srgbClr>
              </a:solidFill>
              <a:latin typeface="Inter Black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21180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0965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000000"/>
                </a:solidFill>
                <a:latin typeface="Inter SemiBold"/>
              </a:rPr>
              <a:t>03 / CLOUD NATIVE + GITOPS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991101"/>
            <a:ext cx="16192499" cy="13430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000000"/>
                </a:solidFill>
                <a:latin typeface="Inter Black"/>
              </a:rPr>
              <a:t>GIT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6324601"/>
            <a:ext cx="16192499" cy="13430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CCCCCC"/>
                </a:solidFill>
                <a:latin typeface="Inter Black"/>
              </a:rPr>
              <a:t>THE TRUTH.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8020051"/>
            <a:ext cx="3619499" cy="4191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Inter Black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8467726"/>
            <a:ext cx="3619499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ExtraBold"/>
              </a:rPr>
              <a:t>DECLARATIVE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8763001"/>
            <a:ext cx="3619499" cy="380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Inter Medium"/>
              </a:rPr>
              <a:t>Desired state as data, not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9659" y="8020051"/>
            <a:ext cx="3619499" cy="4191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Inter Blac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9659" y="8467726"/>
            <a:ext cx="3619499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ExtraBold"/>
              </a:rPr>
              <a:t>VERSIONED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9659" y="8763001"/>
            <a:ext cx="3619499" cy="380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Inter Medium"/>
              </a:rPr>
              <a:t>Every change is a Git commit.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7760" y="8020051"/>
            <a:ext cx="3619499" cy="4191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Inter Black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7760" y="8467726"/>
            <a:ext cx="3619499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dirty="0">
                <a:solidFill>
                  <a:srgbClr val="000000"/>
                </a:solidFill>
                <a:latin typeface="Inter ExtraBold"/>
              </a:rPr>
              <a:t>PULLED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7760" y="8763001"/>
            <a:ext cx="3619499" cy="380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Inter Medium"/>
              </a:rPr>
              <a:t>The cluster fetches; CI never pushes.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95860" y="8020051"/>
            <a:ext cx="3619499" cy="4191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Inter Black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5860" y="8467726"/>
            <a:ext cx="3619499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ExtraBold"/>
              </a:rPr>
              <a:t>RECONCILED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95860" y="8763001"/>
            <a:ext cx="3619499" cy="380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Inter Medium"/>
              </a:rPr>
              <a:t>Drift heals itself, continuously.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3F590372-B37A-F583-FF5B-854F5758F1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42560" y="2240279"/>
            <a:ext cx="13334999" cy="6667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90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ARGO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954500" y="1523999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335500" y="1523999"/>
            <a:ext cx="133350" cy="1333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716500" y="1523999"/>
            <a:ext cx="133350" cy="13335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888888"/>
                </a:solidFill>
                <a:latin typeface="Inter SemiBold"/>
              </a:rPr>
              <a:t>03 / CLOUD NATIVE + GITOPS  · 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787390"/>
            <a:ext cx="16192499" cy="1676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 dirty="0">
                <a:solidFill>
                  <a:srgbClr val="FFFFFF"/>
                </a:solidFill>
                <a:latin typeface="Inter Black"/>
              </a:rPr>
              <a:t>ARGO CD.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7879079"/>
            <a:ext cx="16192499" cy="7239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0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DRIFT? RECONCILE.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C6BAA10-D472-27CC-7CAB-AF27BDE261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70020" y="1104902"/>
            <a:ext cx="13334999" cy="57150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500" b="1" dirty="0">
                <a:solidFill>
                  <a:srgbClr val="000000">
                    <a:alpha val="5000"/>
                  </a:srgbClr>
                </a:solidFill>
                <a:latin typeface="Inter Black"/>
              </a:rPr>
              <a:t>AZURE</a:t>
            </a:r>
          </a:p>
        </p:txBody>
      </p:sp>
      <p:sp>
        <p:nvSpPr>
          <p:cNvPr id="4" name="Oval 3"/>
          <p:cNvSpPr/>
          <p:nvPr/>
        </p:nvSpPr>
        <p:spPr>
          <a:xfrm>
            <a:off x="11430000" y="-1904999"/>
            <a:ext cx="11430000" cy="11430000"/>
          </a:xfrm>
          <a:prstGeom prst="ellipse">
            <a:avLst/>
          </a:prstGeom>
          <a:solidFill>
            <a:srgbClr val="000000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1180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0965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954500" y="1523999"/>
            <a:ext cx="133350" cy="133350"/>
          </a:xfrm>
          <a:prstGeom prst="ellipse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335500" y="1523999"/>
            <a:ext cx="133350" cy="133350"/>
          </a:xfrm>
          <a:prstGeom prst="ellipse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716500" y="1523999"/>
            <a:ext cx="133350" cy="133350"/>
          </a:xfrm>
          <a:prstGeom prst="ellipse">
            <a:avLst/>
          </a:prstGeom>
          <a:solidFill>
            <a:srgbClr val="000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000000"/>
                </a:solidFill>
                <a:latin typeface="Inter SemiBold"/>
              </a:rPr>
              <a:t>03 / CLOUD NATIVE + GITOPS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490212"/>
            <a:ext cx="16192499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>
                <a:solidFill>
                  <a:srgbClr val="000000"/>
                </a:solidFill>
                <a:latin typeface="Inter Black"/>
              </a:rPr>
              <a:t>AKS IS 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6745080"/>
            <a:ext cx="16192499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 dirty="0">
                <a:solidFill>
                  <a:srgbClr val="000000"/>
                </a:solidFill>
                <a:latin typeface="Inter Black"/>
              </a:rPr>
              <a:t>IT RUNS.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8115301"/>
            <a:ext cx="16192499" cy="6858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 dirty="0">
                <a:solidFill>
                  <a:srgbClr val="CCCCCC"/>
                </a:solidFill>
                <a:latin typeface="Inter Black"/>
              </a:rPr>
              <a:t>NOT WHERE IT STOPS.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36B217B2-40ED-572E-D0CA-2D1BB7B4F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37310" y="-617219"/>
            <a:ext cx="13334999" cy="6667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0" b="1" dirty="0">
                <a:solidFill>
                  <a:srgbClr val="FFFFFF">
                    <a:alpha val="4000"/>
                  </a:srgbClr>
                </a:solidFill>
                <a:latin typeface="Inter Black"/>
              </a:rPr>
              <a:t>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306800" y="101346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00" b="0" spc="300" dirty="0">
                <a:solidFill>
                  <a:srgbClr val="FFFFFF"/>
                </a:solidFill>
                <a:latin typeface="Inter SemiBold"/>
              </a:rPr>
              <a:t>0</a:t>
            </a:r>
            <a:r>
              <a:rPr sz="1500" b="0" spc="300" dirty="0">
                <a:solidFill>
                  <a:srgbClr val="FFFFFF"/>
                </a:solidFill>
                <a:latin typeface="Inter SemiBold"/>
              </a:rPr>
              <a:t>3</a:t>
            </a:r>
            <a:r>
              <a:rPr lang="en-US" sz="1500" b="0" spc="300" dirty="0">
                <a:solidFill>
                  <a:srgbClr val="FFFFFF"/>
                </a:solidFill>
                <a:latin typeface="Inter SemiBold"/>
              </a:rPr>
              <a:t> / </a:t>
            </a:r>
            <a:r>
              <a:rPr sz="1500" b="0" spc="300" dirty="0" err="1">
                <a:solidFill>
                  <a:srgbClr val="FFFFFF"/>
                </a:solidFill>
                <a:latin typeface="Inter SemiBold"/>
              </a:rPr>
              <a:t>GITOPS</a:t>
            </a:r>
            <a:r>
              <a:rPr sz="1500" b="0" spc="300" dirty="0">
                <a:solidFill>
                  <a:srgbClr val="FFFFFF"/>
                </a:solidFill>
                <a:latin typeface="Inter SemiBold"/>
              </a:rPr>
              <a:t>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04059"/>
            <a:ext cx="8572500" cy="8762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00" b="1" dirty="0">
                <a:solidFill>
                  <a:srgbClr val="FFFFFF"/>
                </a:solidFill>
                <a:latin typeface="Inter Black"/>
              </a:rPr>
              <a:t>HOW </a:t>
            </a:r>
            <a:r>
              <a:rPr sz="5700" b="1" dirty="0" err="1">
                <a:solidFill>
                  <a:srgbClr val="FFFFFF"/>
                </a:solidFill>
                <a:latin typeface="Inter Black"/>
              </a:rPr>
              <a:t>GITOPS</a:t>
            </a:r>
            <a:r>
              <a:rPr sz="5700" b="1" dirty="0">
                <a:solidFill>
                  <a:srgbClr val="FFFFFF"/>
                </a:solidFill>
                <a:latin typeface="Inter Black"/>
              </a:rPr>
              <a:t>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1810" y="3735705"/>
            <a:ext cx="2095499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dirty="0">
                <a:solidFill>
                  <a:schemeClr val="bg1"/>
                </a:solidFill>
                <a:latin typeface="Inter"/>
              </a:rPr>
              <a:t>1  git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6509" y="3735705"/>
            <a:ext cx="2095499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dirty="0">
                <a:solidFill>
                  <a:schemeClr val="bg1"/>
                </a:solidFill>
                <a:latin typeface="Inter"/>
              </a:rPr>
              <a:t>2  </a:t>
            </a:r>
            <a:r>
              <a:rPr sz="2800" b="0" dirty="0" err="1">
                <a:solidFill>
                  <a:schemeClr val="bg1"/>
                </a:solidFill>
                <a:latin typeface="Inter"/>
              </a:rPr>
              <a:t>argo</a:t>
            </a:r>
            <a:r>
              <a:rPr sz="2800" b="0" dirty="0">
                <a:solidFill>
                  <a:schemeClr val="bg1"/>
                </a:solidFill>
                <a:latin typeface="Inter"/>
              </a:rPr>
              <a:t> pulls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9410" y="3735705"/>
            <a:ext cx="17145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dirty="0">
                <a:solidFill>
                  <a:schemeClr val="bg1"/>
                </a:solidFill>
                <a:latin typeface="Inter"/>
              </a:rPr>
              <a:t>3  apply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8033" y="5314240"/>
            <a:ext cx="761999" cy="571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 dirty="0">
                <a:solidFill>
                  <a:srgbClr val="FFFFFF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7984" y="5327302"/>
            <a:ext cx="761999" cy="571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 dirty="0">
                <a:solidFill>
                  <a:srgbClr val="FFFFFF"/>
                </a:solidFill>
                <a:latin typeface="Inter"/>
              </a:rPr>
              <a:t>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43235" y="5307330"/>
            <a:ext cx="761999" cy="571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 dirty="0">
                <a:solidFill>
                  <a:srgbClr val="FFFFFF"/>
                </a:solidFill>
                <a:latin typeface="Inter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4610100"/>
            <a:ext cx="2095499" cy="1904999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95750" y="4610100"/>
            <a:ext cx="2476499" cy="1904999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20000" y="4610100"/>
            <a:ext cx="2857500" cy="1904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20498" y="4610100"/>
            <a:ext cx="5524501" cy="1904999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25878" y="5383530"/>
            <a:ext cx="13335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CCCCCC"/>
                </a:solidFill>
                <a:latin typeface="Inter Bold"/>
              </a:rPr>
              <a:t>DEVELOPER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4385" y="5383530"/>
            <a:ext cx="11430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CCCCC"/>
                </a:solidFill>
                <a:latin typeface="Inter Bold"/>
              </a:rPr>
              <a:t>GIT REPO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5835" y="5354954"/>
            <a:ext cx="1523999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D0D0D"/>
                </a:solidFill>
                <a:latin typeface="Inter Bold"/>
              </a:rPr>
              <a:t>ARGO 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57710" y="5364480"/>
            <a:ext cx="32385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CCCCCC"/>
                </a:solidFill>
                <a:latin typeface="Inter Bold"/>
              </a:rPr>
              <a:t>KUBERNETES CLUSTER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6943725"/>
            <a:ext cx="5143500" cy="6667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80160" y="7091237"/>
            <a:ext cx="46863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Inter ExtraBold"/>
              </a:rPr>
              <a:t>PULL NOT PUSH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72250" y="6943725"/>
            <a:ext cx="5143500" cy="6667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09410" y="7091237"/>
            <a:ext cx="46863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 ExtraBold"/>
              </a:rPr>
              <a:t>GIT = SOURCE OF TRUTH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001500" y="6943725"/>
            <a:ext cx="5143500" cy="6667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138660" y="7091237"/>
            <a:ext cx="46863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 ExtraBold"/>
              </a:rPr>
              <a:t>ALWAYS CONVERGING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8516A51A-27AD-8A51-01CA-3546B08F35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11450-C106-15C2-B2CC-B917CBB84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B15B52-6CA6-87EB-76FD-797401C70B7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6DB458-58EB-E846-6A44-DDBA1D299153}"/>
              </a:ext>
            </a:extLst>
          </p:cNvPr>
          <p:cNvSpPr txBox="1"/>
          <p:nvPr/>
        </p:nvSpPr>
        <p:spPr>
          <a:xfrm>
            <a:off x="670560" y="-236219"/>
            <a:ext cx="13334999" cy="6667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500" b="1" dirty="0">
                <a:solidFill>
                  <a:srgbClr val="000000">
                    <a:alpha val="4000"/>
                  </a:srgbClr>
                </a:solidFill>
                <a:latin typeface="Inter Black"/>
              </a:rPr>
              <a:t>ARGO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080E52-A9A2-4187-C070-103715FF6A0E}"/>
              </a:ext>
            </a:extLst>
          </p:cNvPr>
          <p:cNvSpPr/>
          <p:nvPr/>
        </p:nvSpPr>
        <p:spPr>
          <a:xfrm>
            <a:off x="1821180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F6267E-FB1E-B886-DC44-FF197DA249B9}"/>
              </a:ext>
            </a:extLst>
          </p:cNvPr>
          <p:cNvSpPr/>
          <p:nvPr/>
        </p:nvSpPr>
        <p:spPr>
          <a:xfrm>
            <a:off x="16306800" y="101346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A80162-0539-B421-8481-5EF0E432D763}"/>
              </a:ext>
            </a:extLst>
          </p:cNvPr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0B3123-A58C-1406-744A-703546973B40}"/>
              </a:ext>
            </a:extLst>
          </p:cNvPr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00" b="0" spc="300" dirty="0">
                <a:solidFill>
                  <a:srgbClr val="000000"/>
                </a:solidFill>
                <a:latin typeface="Inter SemiBold"/>
              </a:rPr>
              <a:t>03 / </a:t>
            </a:r>
            <a:r>
              <a:rPr sz="1500" b="0" spc="300" dirty="0">
                <a:solidFill>
                  <a:srgbClr val="000000"/>
                </a:solidFill>
                <a:latin typeface="Inter SemiBold"/>
              </a:rPr>
              <a:t>ARGO CD PATTERNS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E5AD38-0DA2-444A-0DA4-123F53BA27FA}"/>
              </a:ext>
            </a:extLst>
          </p:cNvPr>
          <p:cNvSpPr txBox="1"/>
          <p:nvPr/>
        </p:nvSpPr>
        <p:spPr>
          <a:xfrm>
            <a:off x="1051560" y="2502218"/>
            <a:ext cx="11430000" cy="7143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50" b="1">
                <a:solidFill>
                  <a:srgbClr val="000000"/>
                </a:solidFill>
                <a:latin typeface="Inter Black"/>
              </a:rPr>
              <a:t>APP OF APPS.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229B00-2CFE-D470-D7E8-0F6081B23F47}"/>
              </a:ext>
            </a:extLst>
          </p:cNvPr>
          <p:cNvSpPr txBox="1"/>
          <p:nvPr/>
        </p:nvSpPr>
        <p:spPr>
          <a:xfrm>
            <a:off x="1051560" y="3216593"/>
            <a:ext cx="11430000" cy="7143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50" b="1">
                <a:solidFill>
                  <a:srgbClr val="000000"/>
                </a:solidFill>
                <a:latin typeface="Inter Black"/>
              </a:rPr>
              <a:t>APPLICATIONSETS.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37F7252-56CF-98DD-C98C-143F55D67CB7}"/>
              </a:ext>
            </a:extLst>
          </p:cNvPr>
          <p:cNvGrpSpPr/>
          <p:nvPr/>
        </p:nvGrpSpPr>
        <p:grpSpPr>
          <a:xfrm>
            <a:off x="1051559" y="4690110"/>
            <a:ext cx="15549525" cy="4377690"/>
            <a:chOff x="1051560" y="4690110"/>
            <a:chExt cx="13925550" cy="392048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2DD14B-D095-A241-5E80-E2FA146DA828}"/>
                </a:ext>
              </a:extLst>
            </p:cNvPr>
            <p:cNvSpPr txBox="1"/>
            <p:nvPr/>
          </p:nvSpPr>
          <p:spPr>
            <a:xfrm>
              <a:off x="1051560" y="4690110"/>
              <a:ext cx="3810000" cy="257175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400" b="1">
                  <a:solidFill>
                    <a:srgbClr val="000000"/>
                  </a:solidFill>
                  <a:latin typeface="Inter ExtraBold"/>
                </a:rPr>
                <a:t>APP OF APPS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4C512E5-410E-11F7-A370-DE5551A37D6D}"/>
                </a:ext>
              </a:extLst>
            </p:cNvPr>
            <p:cNvSpPr/>
            <p:nvPr/>
          </p:nvSpPr>
          <p:spPr>
            <a:xfrm>
              <a:off x="3743325" y="5154931"/>
              <a:ext cx="2667000" cy="66675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998AE3D-BE84-6283-C5BA-26C998622801}"/>
                </a:ext>
              </a:extLst>
            </p:cNvPr>
            <p:cNvSpPr txBox="1"/>
            <p:nvPr/>
          </p:nvSpPr>
          <p:spPr>
            <a:xfrm>
              <a:off x="4248149" y="5356861"/>
              <a:ext cx="1657350" cy="180975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b="1" dirty="0">
                  <a:solidFill>
                    <a:srgbClr val="FFFFFF"/>
                  </a:solidFill>
                  <a:latin typeface="Inter ExtraBold"/>
                </a:rPr>
                <a:t>ROOT-APP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D28DEB-A391-A631-114F-35127F1205AA}"/>
                </a:ext>
              </a:extLst>
            </p:cNvPr>
            <p:cNvSpPr/>
            <p:nvPr/>
          </p:nvSpPr>
          <p:spPr>
            <a:xfrm>
              <a:off x="5067300" y="5821681"/>
              <a:ext cx="19050" cy="476249"/>
            </a:xfrm>
            <a:prstGeom prst="rect">
              <a:avLst/>
            </a:prstGeom>
            <a:solidFill>
              <a:srgbClr val="AAAA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03DE931-12DD-1B6E-50C8-0ED385B9D932}"/>
                </a:ext>
              </a:extLst>
            </p:cNvPr>
            <p:cNvSpPr/>
            <p:nvPr/>
          </p:nvSpPr>
          <p:spPr>
            <a:xfrm>
              <a:off x="2047875" y="6297931"/>
              <a:ext cx="6057900" cy="19050"/>
            </a:xfrm>
            <a:prstGeom prst="rect">
              <a:avLst/>
            </a:prstGeom>
            <a:solidFill>
              <a:srgbClr val="AAAA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0E8F46E-400C-AAD9-E4A6-CC3CCEC9CD5A}"/>
                </a:ext>
              </a:extLst>
            </p:cNvPr>
            <p:cNvSpPr/>
            <p:nvPr/>
          </p:nvSpPr>
          <p:spPr>
            <a:xfrm>
              <a:off x="2047875" y="6316980"/>
              <a:ext cx="19050" cy="266700"/>
            </a:xfrm>
            <a:prstGeom prst="rect">
              <a:avLst/>
            </a:prstGeom>
            <a:solidFill>
              <a:srgbClr val="AAAA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FA6BDBB-62D7-AA84-AAD7-83ADB3A8A44F}"/>
                </a:ext>
              </a:extLst>
            </p:cNvPr>
            <p:cNvSpPr/>
            <p:nvPr/>
          </p:nvSpPr>
          <p:spPr>
            <a:xfrm>
              <a:off x="5067300" y="6316980"/>
              <a:ext cx="19050" cy="266700"/>
            </a:xfrm>
            <a:prstGeom prst="rect">
              <a:avLst/>
            </a:prstGeom>
            <a:solidFill>
              <a:srgbClr val="AAAA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96FBCEC-0105-2B7F-1C5E-E74DE64CB2C3}"/>
                </a:ext>
              </a:extLst>
            </p:cNvPr>
            <p:cNvSpPr/>
            <p:nvPr/>
          </p:nvSpPr>
          <p:spPr>
            <a:xfrm>
              <a:off x="8086725" y="6316980"/>
              <a:ext cx="19050" cy="266700"/>
            </a:xfrm>
            <a:prstGeom prst="rect">
              <a:avLst/>
            </a:prstGeom>
            <a:solidFill>
              <a:srgbClr val="AAAA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55129B-E4D3-9205-5EC3-2D398C901D73}"/>
                </a:ext>
              </a:extLst>
            </p:cNvPr>
            <p:cNvSpPr/>
            <p:nvPr/>
          </p:nvSpPr>
          <p:spPr>
            <a:xfrm>
              <a:off x="1143000" y="6583681"/>
              <a:ext cx="1828800" cy="571500"/>
            </a:xfrm>
            <a:prstGeom prst="rect">
              <a:avLst/>
            </a:prstGeom>
            <a:noFill/>
            <a:ln w="95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E6253D5-99C3-EADE-4C74-3BBA26E1E573}"/>
                </a:ext>
              </a:extLst>
            </p:cNvPr>
            <p:cNvSpPr/>
            <p:nvPr/>
          </p:nvSpPr>
          <p:spPr>
            <a:xfrm>
              <a:off x="4152900" y="6583681"/>
              <a:ext cx="1828800" cy="571500"/>
            </a:xfrm>
            <a:prstGeom prst="rect">
              <a:avLst/>
            </a:prstGeom>
            <a:noFill/>
            <a:ln w="95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540FE3C-EAB7-2707-2C3E-0C5A7E570254}"/>
                </a:ext>
              </a:extLst>
            </p:cNvPr>
            <p:cNvSpPr/>
            <p:nvPr/>
          </p:nvSpPr>
          <p:spPr>
            <a:xfrm>
              <a:off x="7181849" y="6583681"/>
              <a:ext cx="1828800" cy="571500"/>
            </a:xfrm>
            <a:prstGeom prst="rect">
              <a:avLst/>
            </a:prstGeom>
            <a:noFill/>
            <a:ln w="95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18DEE56-3B4B-CD49-039D-77E9B56FE1A4}"/>
                </a:ext>
              </a:extLst>
            </p:cNvPr>
            <p:cNvSpPr txBox="1"/>
            <p:nvPr/>
          </p:nvSpPr>
          <p:spPr>
            <a:xfrm>
              <a:off x="1280160" y="6699886"/>
              <a:ext cx="1371600" cy="161924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333333"/>
                  </a:solidFill>
                  <a:latin typeface="Inter Bold"/>
                </a:rPr>
                <a:t>INFRA-APP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B8529AC-A302-75DA-2E9F-64EF229C9422}"/>
                </a:ext>
              </a:extLst>
            </p:cNvPr>
            <p:cNvSpPr txBox="1"/>
            <p:nvPr/>
          </p:nvSpPr>
          <p:spPr>
            <a:xfrm>
              <a:off x="4137659" y="6699886"/>
              <a:ext cx="1676400" cy="161924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333333"/>
                  </a:solidFill>
                  <a:latin typeface="Inter Bold"/>
                </a:rPr>
                <a:t>PLATFORM-APP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343AF59-2FB3-8D11-87AB-AF6E151E1D04}"/>
                </a:ext>
              </a:extLst>
            </p:cNvPr>
            <p:cNvSpPr txBox="1"/>
            <p:nvPr/>
          </p:nvSpPr>
          <p:spPr>
            <a:xfrm>
              <a:off x="7319010" y="6699886"/>
              <a:ext cx="1371600" cy="161924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333333"/>
                  </a:solidFill>
                  <a:latin typeface="Inter Bold"/>
                </a:rPr>
                <a:t>APPS-APP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FA0DA69-E1F0-C03A-CA4B-930C828854E1}"/>
                </a:ext>
              </a:extLst>
            </p:cNvPr>
            <p:cNvSpPr/>
            <p:nvPr/>
          </p:nvSpPr>
          <p:spPr>
            <a:xfrm>
              <a:off x="9105900" y="4764406"/>
              <a:ext cx="19050" cy="2809875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F6895C6-EA8D-7491-E923-8F593A5E6AE4}"/>
                </a:ext>
              </a:extLst>
            </p:cNvPr>
            <p:cNvSpPr txBox="1"/>
            <p:nvPr/>
          </p:nvSpPr>
          <p:spPr>
            <a:xfrm>
              <a:off x="9262110" y="4690110"/>
              <a:ext cx="5715000" cy="257175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400" b="1">
                  <a:solidFill>
                    <a:srgbClr val="000000"/>
                  </a:solidFill>
                  <a:latin typeface="Inter ExtraBold"/>
                </a:rPr>
                <a:t>APPLICATIONSETS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243D24-EDC2-3728-A1B1-099B71273840}"/>
                </a:ext>
              </a:extLst>
            </p:cNvPr>
            <p:cNvSpPr/>
            <p:nvPr/>
          </p:nvSpPr>
          <p:spPr>
            <a:xfrm>
              <a:off x="9353550" y="6145530"/>
              <a:ext cx="2667000" cy="761999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65AD056-BB0D-82A1-E732-D1FE7FAFCA13}"/>
                </a:ext>
              </a:extLst>
            </p:cNvPr>
            <p:cNvSpPr txBox="1"/>
            <p:nvPr/>
          </p:nvSpPr>
          <p:spPr>
            <a:xfrm>
              <a:off x="9532620" y="6408389"/>
              <a:ext cx="2209800" cy="180975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1" spc="75" dirty="0" err="1">
                  <a:solidFill>
                    <a:srgbClr val="FFFFFF"/>
                  </a:solidFill>
                  <a:latin typeface="Inter ExtraBold"/>
                </a:rPr>
                <a:t>APPSET</a:t>
              </a:r>
              <a:r>
                <a:rPr sz="1400" b="1" spc="75" dirty="0">
                  <a:solidFill>
                    <a:srgbClr val="FFFFFF"/>
                  </a:solidFill>
                  <a:latin typeface="Inter ExtraBold"/>
                </a:rPr>
                <a:t> TEMPLATE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C29228E-B336-2D69-90BC-2C62A6D75514}"/>
                </a:ext>
              </a:extLst>
            </p:cNvPr>
            <p:cNvSpPr txBox="1"/>
            <p:nvPr/>
          </p:nvSpPr>
          <p:spPr>
            <a:xfrm>
              <a:off x="11976735" y="6290311"/>
              <a:ext cx="571500" cy="476249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000" b="0">
                  <a:solidFill>
                    <a:srgbClr val="444444"/>
                  </a:solidFill>
                  <a:latin typeface="Inter"/>
                </a:rPr>
                <a:t>→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0F8212E-8779-911D-776D-1458C9ED403A}"/>
                </a:ext>
              </a:extLst>
            </p:cNvPr>
            <p:cNvSpPr/>
            <p:nvPr/>
          </p:nvSpPr>
          <p:spPr>
            <a:xfrm>
              <a:off x="12782550" y="5383530"/>
              <a:ext cx="1905000" cy="666750"/>
            </a:xfrm>
            <a:prstGeom prst="rect">
              <a:avLst/>
            </a:prstGeom>
            <a:noFill/>
            <a:ln w="95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7A27FD0-306B-B79B-C2CB-C5C6EA683BA6}"/>
                </a:ext>
              </a:extLst>
            </p:cNvPr>
            <p:cNvSpPr txBox="1"/>
            <p:nvPr/>
          </p:nvSpPr>
          <p:spPr>
            <a:xfrm>
              <a:off x="12919710" y="5537836"/>
              <a:ext cx="1447800" cy="161924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333333"/>
                  </a:solidFill>
                  <a:latin typeface="Inter Bold"/>
                </a:rPr>
                <a:t>dev-cluster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B1780F5-FB4C-74E2-411A-0FE3F9EB2814}"/>
                </a:ext>
              </a:extLst>
            </p:cNvPr>
            <p:cNvSpPr/>
            <p:nvPr/>
          </p:nvSpPr>
          <p:spPr>
            <a:xfrm>
              <a:off x="12782550" y="6145530"/>
              <a:ext cx="1905000" cy="666750"/>
            </a:xfrm>
            <a:prstGeom prst="rect">
              <a:avLst/>
            </a:prstGeom>
            <a:noFill/>
            <a:ln w="95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2EF6978-65DC-BC28-D132-03C267FC0FDA}"/>
                </a:ext>
              </a:extLst>
            </p:cNvPr>
            <p:cNvSpPr txBox="1"/>
            <p:nvPr/>
          </p:nvSpPr>
          <p:spPr>
            <a:xfrm>
              <a:off x="12919710" y="6299836"/>
              <a:ext cx="1447800" cy="161924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333333"/>
                  </a:solidFill>
                  <a:latin typeface="Inter Bold"/>
                </a:rPr>
                <a:t>staging-cluster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D958E95-29F8-DBBD-3C0D-018EC761B305}"/>
                </a:ext>
              </a:extLst>
            </p:cNvPr>
            <p:cNvSpPr/>
            <p:nvPr/>
          </p:nvSpPr>
          <p:spPr>
            <a:xfrm>
              <a:off x="12782550" y="6907531"/>
              <a:ext cx="1905000" cy="666750"/>
            </a:xfrm>
            <a:prstGeom prst="rect">
              <a:avLst/>
            </a:prstGeom>
            <a:noFill/>
            <a:ln w="95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0908A96-BC4F-7311-4723-41902E0F0E15}"/>
                </a:ext>
              </a:extLst>
            </p:cNvPr>
            <p:cNvSpPr txBox="1"/>
            <p:nvPr/>
          </p:nvSpPr>
          <p:spPr>
            <a:xfrm>
              <a:off x="12919710" y="7061836"/>
              <a:ext cx="1447800" cy="161924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333333"/>
                  </a:solidFill>
                  <a:latin typeface="Inter Bold"/>
                </a:rPr>
                <a:t>prod-cluster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25A4DC7-B6B3-0611-65C3-E06CB6776BE1}"/>
                </a:ext>
              </a:extLst>
            </p:cNvPr>
            <p:cNvSpPr/>
            <p:nvPr/>
          </p:nvSpPr>
          <p:spPr>
            <a:xfrm>
              <a:off x="1143000" y="8134350"/>
              <a:ext cx="13544550" cy="476249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6EAD979-5FF3-1085-49B4-920F329B0A5A}"/>
                </a:ext>
              </a:extLst>
            </p:cNvPr>
            <p:cNvSpPr txBox="1"/>
            <p:nvPr/>
          </p:nvSpPr>
          <p:spPr>
            <a:xfrm>
              <a:off x="3280409" y="8231505"/>
              <a:ext cx="11553825" cy="180975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1" spc="225">
                  <a:solidFill>
                    <a:srgbClr val="FFFFFF"/>
                  </a:solidFill>
                  <a:latin typeface="Inter Bold"/>
                </a:rPr>
                <a:t>DRIFT DETECTED  →  ARGO RECONCILES WITHIN SECONDS</a:t>
              </a:r>
            </a:p>
          </p:txBody>
        </p:sp>
      </p:grpSp>
      <p:pic>
        <p:nvPicPr>
          <p:cNvPr id="37" name="Graphic 36">
            <a:extLst>
              <a:ext uri="{FF2B5EF4-FFF2-40B4-BE49-F238E27FC236}">
                <a16:creationId xmlns:a16="http://schemas.microsoft.com/office/drawing/2014/main" id="{D6C4AEA3-CC74-CC8A-373B-7DBAC862B7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216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76060" y="716280"/>
            <a:ext cx="13334999" cy="6667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MESSY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04 / REAL-WORLD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43500"/>
            <a:ext cx="8572500" cy="6667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Inter ExtraBold"/>
              </a:rPr>
              <a:t>THE MESSY REALITY.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506403"/>
            <a:ext cx="16192499" cy="1676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0" b="1" dirty="0">
                <a:solidFill>
                  <a:srgbClr val="FFFFFF"/>
                </a:solidFill>
                <a:latin typeface="Inter Black"/>
              </a:rPr>
              <a:t>MULTIPLE</a:t>
            </a:r>
            <a:r>
              <a:rPr lang="en-US" sz="12500" b="1" dirty="0">
                <a:solidFill>
                  <a:srgbClr val="FFFFFF"/>
                </a:solidFill>
                <a:latin typeface="Inter Black"/>
              </a:rPr>
              <a:t> TEAMS</a:t>
            </a:r>
            <a:r>
              <a:rPr sz="12500" b="1" dirty="0">
                <a:solidFill>
                  <a:srgbClr val="FFFFFF"/>
                </a:solidFill>
                <a:latin typeface="Inter Black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143500"/>
            <a:ext cx="8572500" cy="7524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Inter Black"/>
              </a:rPr>
              <a:t>EXISTING</a:t>
            </a:r>
            <a:r>
              <a:rPr lang="en-US" sz="67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Inter Black"/>
              </a:rPr>
              <a:t> IAC</a:t>
            </a:r>
            <a:r>
              <a:rPr sz="67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Inter Black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052185"/>
            <a:ext cx="13334999" cy="8382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500" b="1" dirty="0">
                <a:solidFill>
                  <a:srgbClr val="FFFFFF"/>
                </a:solidFill>
                <a:latin typeface="Inter Black"/>
              </a:rPr>
              <a:t>COMPLIANCE</a:t>
            </a:r>
            <a:r>
              <a:rPr sz="7500" b="1" dirty="0">
                <a:solidFill>
                  <a:srgbClr val="FFFFFF"/>
                </a:solidFill>
                <a:latin typeface="Inter Black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905874"/>
            <a:ext cx="761999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6F66F58-9C10-F655-812E-E16DE4F1DA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42560" y="1383029"/>
            <a:ext cx="15240000" cy="57150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0" b="1">
                <a:solidFill>
                  <a:srgbClr val="000000">
                    <a:alpha val="4000"/>
                  </a:srgbClr>
                </a:solidFill>
                <a:latin typeface="Inter Black"/>
              </a:rPr>
              <a:t>TENSION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888888"/>
                </a:solidFill>
                <a:latin typeface="Inter SemiBold"/>
              </a:rPr>
              <a:t>04 / REAL-WORLD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87980"/>
            <a:ext cx="5715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300">
                <a:solidFill>
                  <a:srgbClr val="CCCCCC"/>
                </a:solidFill>
                <a:latin typeface="Inter 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35630"/>
            <a:ext cx="7238999" cy="8572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0" b="1">
                <a:solidFill>
                  <a:srgbClr val="000000"/>
                </a:solidFill>
                <a:latin typeface="Inter Black"/>
              </a:rPr>
              <a:t>SELF-SERVICE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1060" y="3583304"/>
            <a:ext cx="761999" cy="380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AAAAAA"/>
                </a:solidFill>
                <a:latin typeface="Inter Bold"/>
              </a:rPr>
              <a:t>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57360" y="3373755"/>
            <a:ext cx="4762500" cy="6191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dirty="0">
                <a:solidFill>
                  <a:srgbClr val="888888"/>
                </a:solidFill>
                <a:latin typeface="Inter Black"/>
              </a:rPr>
              <a:t>GUARDRAILS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305300"/>
            <a:ext cx="160020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497705"/>
            <a:ext cx="5715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300">
                <a:solidFill>
                  <a:srgbClr val="CCCCCC"/>
                </a:solidFill>
                <a:latin typeface="Inter 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745355"/>
            <a:ext cx="7238999" cy="8572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0" b="1">
                <a:solidFill>
                  <a:srgbClr val="000000"/>
                </a:solidFill>
                <a:latin typeface="Inter Black"/>
              </a:rPr>
              <a:t>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560" y="5193030"/>
            <a:ext cx="761999" cy="380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AAAAAA"/>
                </a:solidFill>
                <a:latin typeface="Inter Bold"/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6859" y="4983480"/>
            <a:ext cx="4762500" cy="6191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888888"/>
                </a:solidFill>
                <a:latin typeface="Inter Black"/>
              </a:rPr>
              <a:t>FLEXIBILITY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5915024"/>
            <a:ext cx="160020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6107430"/>
            <a:ext cx="5715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300">
                <a:solidFill>
                  <a:srgbClr val="CCCCCC"/>
                </a:solidFill>
                <a:latin typeface="Inter 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6355080"/>
            <a:ext cx="5524499" cy="8572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0" b="1">
                <a:solidFill>
                  <a:srgbClr val="000000"/>
                </a:solidFill>
                <a:latin typeface="Inter Black"/>
              </a:rPr>
              <a:t>VELOCITY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0360" y="6802755"/>
            <a:ext cx="761999" cy="380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AAAAAA"/>
                </a:solidFill>
                <a:latin typeface="Inter Bold"/>
              </a:rPr>
              <a:t>vs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6660" y="6593205"/>
            <a:ext cx="3619499" cy="6191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888888"/>
                </a:solidFill>
                <a:latin typeface="Inter Black"/>
              </a:rPr>
              <a:t>CONTROL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219372CD-E4D0-3F42-34C9-5D5B2F0E96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04810" y="1859280"/>
            <a:ext cx="11430000" cy="6667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9000" b="1" dirty="0">
                <a:solidFill>
                  <a:srgbClr val="FFFFFF">
                    <a:alpha val="5000"/>
                  </a:srgbClr>
                </a:solidFill>
                <a:latin typeface="Inter Black"/>
              </a:rPr>
              <a:t>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04 / REAL-WORLD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68929"/>
            <a:ext cx="16192499" cy="13430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FFFFFF"/>
                </a:solidFill>
                <a:latin typeface="Inter Black"/>
              </a:rPr>
              <a:t>SOVEREIGNTY.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535804"/>
            <a:ext cx="11430000" cy="5143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50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WHO CONTROLS THE API?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6581775"/>
            <a:ext cx="5196840" cy="8572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6831330"/>
            <a:ext cx="4762500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spc="150">
                <a:solidFill>
                  <a:srgbClr val="FFFFFF"/>
                </a:solidFill>
                <a:latin typeface="Inter ExtraBold"/>
              </a:rPr>
              <a:t>WHERE IS THE STATE?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77000" y="6581775"/>
            <a:ext cx="5196840" cy="8572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4159" y="6831330"/>
            <a:ext cx="4762500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spc="150" dirty="0">
                <a:solidFill>
                  <a:srgbClr val="FFFFFF"/>
                </a:solidFill>
                <a:latin typeface="Inter ExtraBold"/>
              </a:rPr>
              <a:t>WHO OWNS THE AUDIT TRAIL?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11000" y="6581775"/>
            <a:ext cx="5334000" cy="8572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948160" y="6831330"/>
            <a:ext cx="4762500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spc="150">
                <a:solidFill>
                  <a:srgbClr val="FFFFFF"/>
                </a:solidFill>
                <a:latin typeface="Inter ExtraBold"/>
              </a:rPr>
              <a:t>WHAT IF THE VENDOR LEAVES?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905874"/>
            <a:ext cx="761999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F9DD7CA9-2A65-732D-DDF0-E209768DD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888888"/>
                </a:solidFill>
                <a:latin typeface="Inter SemiBold"/>
              </a:rPr>
              <a:t>04 / REAL-WORLD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04976"/>
            <a:ext cx="15240000" cy="6858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 dirty="0">
                <a:solidFill>
                  <a:srgbClr val="000000"/>
                </a:solidFill>
                <a:latin typeface="Inter Black"/>
              </a:rPr>
              <a:t>THE FLEXIBLE CONTROL PLANE.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83180"/>
            <a:ext cx="11430000" cy="3429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dirty="0">
                <a:solidFill>
                  <a:srgbClr val="888888"/>
                </a:solidFill>
                <a:latin typeface="Inter Bold"/>
              </a:rPr>
              <a:t>ONE ENGINE. </a:t>
            </a:r>
            <a:r>
              <a:rPr lang="en-US" sz="2250" b="1" dirty="0">
                <a:solidFill>
                  <a:srgbClr val="888888"/>
                </a:solidFill>
                <a:latin typeface="Inter Bold"/>
              </a:rPr>
              <a:t>4 </a:t>
            </a:r>
            <a:r>
              <a:rPr sz="2250" b="1" dirty="0">
                <a:solidFill>
                  <a:srgbClr val="888888"/>
                </a:solidFill>
                <a:latin typeface="Inter Bold"/>
              </a:rPr>
              <a:t>TOOLS. YOUR CHOICE.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3724275"/>
            <a:ext cx="16002000" cy="5143500"/>
          </a:xfrm>
          <a:prstGeom prst="rect">
            <a:avLst/>
          </a:prstGeom>
          <a:noFill/>
          <a:ln w="9525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57299" y="3373754"/>
            <a:ext cx="2051685" cy="407671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15965" y="3478531"/>
            <a:ext cx="142875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spc="150" dirty="0">
                <a:solidFill>
                  <a:srgbClr val="FFFFFF"/>
                </a:solidFill>
                <a:latin typeface="Inter Bold"/>
              </a:rPr>
              <a:t>KUBERNETES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7300" y="3838575"/>
            <a:ext cx="3886200" cy="17049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933700" y="3990974"/>
            <a:ext cx="533400" cy="5334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37510" y="4078605"/>
            <a:ext cx="209550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350" b="1" dirty="0">
              <a:solidFill>
                <a:srgbClr val="FFFFFF"/>
              </a:solidFill>
              <a:latin typeface="Inter 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94460" y="4478655"/>
            <a:ext cx="3429000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Black"/>
              </a:rPr>
              <a:t>ASO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4460" y="4754880"/>
            <a:ext cx="3429000" cy="32384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88888"/>
                </a:solidFill>
                <a:latin typeface="Inter Medium"/>
              </a:rPr>
              <a:t>Azure resources as K8s CRDs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5899" y="5126355"/>
            <a:ext cx="938123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78910" y="5159437"/>
            <a:ext cx="476250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 dirty="0">
                <a:solidFill>
                  <a:srgbClr val="FFFFFF"/>
                </a:solidFill>
                <a:latin typeface="Inter Bold"/>
              </a:rPr>
              <a:t>DEMO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9700" y="3838575"/>
            <a:ext cx="3886200" cy="17049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896099" y="3990974"/>
            <a:ext cx="533400" cy="533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56860" y="4478655"/>
            <a:ext cx="3429000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Black"/>
              </a:rPr>
              <a:t>CROSSPLANE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6860" y="4754880"/>
            <a:ext cx="3429000" cy="32384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88888"/>
                </a:solidFill>
                <a:latin typeface="Inter Medium"/>
              </a:rPr>
              <a:t>Build your own platform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8299" y="5126355"/>
            <a:ext cx="938123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41309" y="5159437"/>
            <a:ext cx="476250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FFFFFF"/>
                </a:solidFill>
                <a:latin typeface="Inter Bold"/>
              </a:rPr>
              <a:t>DEMO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2100" y="3838575"/>
            <a:ext cx="3886200" cy="17049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858500" y="3990974"/>
            <a:ext cx="533400" cy="533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19260" y="4478655"/>
            <a:ext cx="3429000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Black"/>
              </a:rPr>
              <a:t>KRO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9260" y="4754880"/>
            <a:ext cx="3429000" cy="32384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88888"/>
                </a:solidFill>
                <a:latin typeface="Inter Medium"/>
              </a:rPr>
              <a:t>Compose multi-resource app concepts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0699" y="5126355"/>
            <a:ext cx="938123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03710" y="5159437"/>
            <a:ext cx="476250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 dirty="0">
                <a:solidFill>
                  <a:srgbClr val="FFFFFF"/>
                </a:solidFill>
                <a:latin typeface="Inter Bold"/>
              </a:rPr>
              <a:t>DEMO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144500" y="3838575"/>
            <a:ext cx="3886200" cy="17049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4820899" y="3990974"/>
            <a:ext cx="533400" cy="533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281660" y="4478655"/>
            <a:ext cx="3429000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Black"/>
              </a:rPr>
              <a:t>TERRANETES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81660" y="4754880"/>
            <a:ext cx="3429000" cy="32384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88888"/>
                </a:solidFill>
                <a:latin typeface="Inter Medium"/>
              </a:rPr>
              <a:t>Terraform under K8s control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373099" y="5126355"/>
            <a:ext cx="938123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366110" y="5159437"/>
            <a:ext cx="476250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FFFFFF"/>
                </a:solidFill>
                <a:latin typeface="Inter Bold"/>
              </a:rPr>
              <a:t>DEMO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23235" y="5507355"/>
            <a:ext cx="285750" cy="3238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CCCCC"/>
                </a:solidFill>
                <a:latin typeface="Inter"/>
              </a:rPr>
              <a:t>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6584" y="5507355"/>
            <a:ext cx="285750" cy="3238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CCCCC"/>
                </a:solidFill>
                <a:latin typeface="Inter"/>
              </a:rPr>
              <a:t>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09935" y="5507355"/>
            <a:ext cx="285750" cy="3238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CCCCC"/>
                </a:solidFill>
                <a:latin typeface="Inter"/>
              </a:rPr>
              <a:t>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853285" y="5507355"/>
            <a:ext cx="285750" cy="3238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CCCCC"/>
                </a:solidFill>
                <a:latin typeface="Inter"/>
              </a:rPr>
              <a:t>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57300" y="6019800"/>
            <a:ext cx="15773400" cy="1143000"/>
          </a:xfrm>
          <a:prstGeom prst="rect">
            <a:avLst/>
          </a:prstGeom>
          <a:solidFill>
            <a:srgbClr val="1A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257925" y="6324600"/>
            <a:ext cx="533400" cy="533400"/>
          </a:xfrm>
          <a:prstGeom prst="ellipse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61810" y="6307454"/>
            <a:ext cx="5715000" cy="3238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Inter Black"/>
              </a:rPr>
              <a:t>KUBERNETES 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61810" y="6612254"/>
            <a:ext cx="76200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spc="150" dirty="0">
                <a:solidFill>
                  <a:srgbClr val="4A7AB5"/>
                </a:solidFill>
                <a:latin typeface="Inter SemiBold"/>
              </a:rPr>
              <a:t>THE CONTROL PLANE — ALL TOOLS RUN AS OPERATORS HERE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38259" y="7145655"/>
            <a:ext cx="285750" cy="3238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CCCCC"/>
                </a:solidFill>
                <a:latin typeface="Inter"/>
              </a:rPr>
              <a:t>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57300" y="7600950"/>
            <a:ext cx="15773400" cy="1143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581775" y="7905749"/>
            <a:ext cx="533400" cy="533400"/>
          </a:xfrm>
          <a:prstGeom prst="ellipse">
            <a:avLst/>
          </a:prstGeom>
          <a:solidFill>
            <a:srgbClr val="EF7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166609" y="7905749"/>
            <a:ext cx="3810000" cy="3238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dirty="0">
                <a:solidFill>
                  <a:srgbClr val="FFFFFF"/>
                </a:solidFill>
                <a:latin typeface="Inter Black"/>
              </a:rPr>
              <a:t>ARGO CD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66609" y="8210549"/>
            <a:ext cx="6667499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spc="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GITOPS</a:t>
            </a:r>
            <a:r>
              <a:rPr sz="1050" b="0" spc="150" dirty="0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 DELIVERY LAYER — SITS BENEATH ALL TOOLS</a:t>
            </a: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120FDC80-4A16-CA86-F08D-8927B3D7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55834" y="3449955"/>
            <a:ext cx="260131" cy="260131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5A7956D6-82B2-3F10-28D9-CFCEB5EBF9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66750" y="6425290"/>
            <a:ext cx="327419" cy="327419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9230F561-B78F-2E71-2A3E-DF75DFBE71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r="62917"/>
          <a:stretch>
            <a:fillRect/>
          </a:stretch>
        </p:blipFill>
        <p:spPr>
          <a:xfrm>
            <a:off x="6703890" y="7994431"/>
            <a:ext cx="298490" cy="366792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56FF10D3-8D9D-8C97-1D0D-5102A9DE41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9364"/>
          <a:stretch>
            <a:fillRect/>
          </a:stretch>
        </p:blipFill>
        <p:spPr>
          <a:xfrm>
            <a:off x="7075267" y="4075879"/>
            <a:ext cx="177068" cy="355149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78A695B5-0978-DB82-5F35-DA9CB924F96A}"/>
              </a:ext>
            </a:extLst>
          </p:cNvPr>
          <p:cNvSpPr txBox="1"/>
          <p:nvPr/>
        </p:nvSpPr>
        <p:spPr>
          <a:xfrm>
            <a:off x="10885004" y="4145818"/>
            <a:ext cx="476250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1" spc="150" dirty="0">
                <a:solidFill>
                  <a:srgbClr val="FFFFFF"/>
                </a:solidFill>
                <a:latin typeface="Inter Bold"/>
              </a:rPr>
              <a:t>KRO</a:t>
            </a:r>
            <a:endParaRPr sz="1000" b="1" spc="150" dirty="0">
              <a:solidFill>
                <a:srgbClr val="FFFFFF"/>
              </a:solidFill>
              <a:latin typeface="Inter Bold"/>
            </a:endParaRPr>
          </a:p>
        </p:txBody>
      </p:sp>
      <p:pic>
        <p:nvPicPr>
          <p:cNvPr id="66" name="Graphic 65">
            <a:extLst>
              <a:ext uri="{FF2B5EF4-FFF2-40B4-BE49-F238E27FC236}">
                <a16:creationId xmlns:a16="http://schemas.microsoft.com/office/drawing/2014/main" id="{6A3A9E92-B248-B875-8290-DFE2263A77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76961"/>
          <a:stretch>
            <a:fillRect/>
          </a:stretch>
        </p:blipFill>
        <p:spPr>
          <a:xfrm>
            <a:off x="14828850" y="4027253"/>
            <a:ext cx="410639" cy="456468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1E0D6E93-0950-D921-0FCD-1ACA7B75361F}"/>
              </a:ext>
            </a:extLst>
          </p:cNvPr>
          <p:cNvSpPr txBox="1"/>
          <p:nvPr/>
        </p:nvSpPr>
        <p:spPr>
          <a:xfrm>
            <a:off x="2956037" y="4145601"/>
            <a:ext cx="476250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1" spc="150" dirty="0">
                <a:solidFill>
                  <a:srgbClr val="FFFFFF"/>
                </a:solidFill>
                <a:latin typeface="Inter Bold"/>
              </a:rPr>
              <a:t>ASO</a:t>
            </a:r>
            <a:endParaRPr sz="1000" b="1" spc="150" dirty="0">
              <a:solidFill>
                <a:srgbClr val="FFFFFF"/>
              </a:solidFill>
              <a:latin typeface="Inter Bold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0EFED3A1-A779-7F37-E1EE-9D3CC13CC9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888888"/>
                </a:solidFill>
                <a:latin typeface="Inter SemiBold"/>
              </a:rPr>
              <a:t>05 / DECISION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45030"/>
            <a:ext cx="8572500" cy="6858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0" b="1" dirty="0">
                <a:solidFill>
                  <a:srgbClr val="000000"/>
                </a:solidFill>
                <a:latin typeface="Inter Black"/>
              </a:rPr>
              <a:t>4</a:t>
            </a:r>
            <a:r>
              <a:rPr sz="6000" b="1" dirty="0">
                <a:solidFill>
                  <a:srgbClr val="000000"/>
                </a:solidFill>
                <a:latin typeface="Inter Black"/>
              </a:rPr>
              <a:t>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97530"/>
            <a:ext cx="123825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75">
                <a:solidFill>
                  <a:srgbClr val="AAAAAA"/>
                </a:solidFill>
                <a:latin typeface="Inter SemiBold"/>
              </a:rPr>
              <a:t>CHOOSE BY ABSTRACTION, SKILLS, AND EXISTING INVESTMENTS.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4152900"/>
            <a:ext cx="16002000" cy="87629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71600" y="4343400"/>
            <a:ext cx="495300" cy="495299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65960" y="4288155"/>
            <a:ext cx="12382500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dirty="0">
                <a:solidFill>
                  <a:srgbClr val="000000"/>
                </a:solidFill>
                <a:latin typeface="Inter Black"/>
              </a:rPr>
              <a:t>ASO — AZURE SERVICE OPERATOR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4554855"/>
            <a:ext cx="1238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66666"/>
                </a:solidFill>
                <a:latin typeface="Inter"/>
              </a:rPr>
              <a:t>Azure resources in Git as Kubernetes YAML. If you think in Azure terms and want GitOps, start 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763873" y="4415309"/>
            <a:ext cx="1062991" cy="25717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720060" y="4437832"/>
            <a:ext cx="476250" cy="1333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FFFFFF"/>
                </a:solidFill>
                <a:latin typeface="Inter ExtraBold"/>
              </a:rPr>
              <a:t>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72435" y="4697622"/>
            <a:ext cx="1143000" cy="1333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75">
                <a:solidFill>
                  <a:srgbClr val="0078D4"/>
                </a:solidFill>
                <a:latin typeface="Inter Bold"/>
              </a:rPr>
              <a:t>✅ AZURE NATIVE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5086350"/>
            <a:ext cx="16002000" cy="87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43000" y="5086350"/>
            <a:ext cx="16002000" cy="876299"/>
          </a:xfrm>
          <a:prstGeom prst="rect">
            <a:avLst/>
          </a:prstGeom>
          <a:noFill/>
          <a:ln w="9525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371600" y="5276850"/>
            <a:ext cx="495300" cy="495299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65960" y="5221605"/>
            <a:ext cx="12382500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Black"/>
              </a:rPr>
              <a:t>CROSSPLANE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5488305"/>
            <a:ext cx="1238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66666"/>
                </a:solidFill>
                <a:latin typeface="Inter"/>
              </a:rPr>
              <a:t>You design the API your developers use. Everything Azure is hidden behind your abstractions. Own the platform contract.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763873" y="5348759"/>
            <a:ext cx="1062991" cy="25717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720060" y="5371282"/>
            <a:ext cx="476250" cy="1333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FFFFFF"/>
                </a:solidFill>
                <a:latin typeface="Inter ExtraBold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72435" y="5631072"/>
            <a:ext cx="1143000" cy="1333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75">
                <a:solidFill>
                  <a:srgbClr val="888888"/>
                </a:solidFill>
                <a:latin typeface="Inter Bold"/>
              </a:rPr>
              <a:t>PARTIAL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6019800"/>
            <a:ext cx="16002000" cy="87629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371600" y="6210300"/>
            <a:ext cx="495300" cy="495299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965960" y="6155055"/>
            <a:ext cx="12382500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Black"/>
              </a:rPr>
              <a:t>KRO — KUBERNETES RESOURCE ORCHESTRATOR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6421755"/>
            <a:ext cx="1238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66666"/>
                </a:solidFill>
                <a:latin typeface="Inter"/>
              </a:rPr>
              <a:t>One CR expands into many. Compose app-level concepts without full Crossplane complexity. Pairs perfectly with ASO.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763873" y="6282209"/>
            <a:ext cx="1062991" cy="25717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720060" y="6304732"/>
            <a:ext cx="476250" cy="1333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FFFFFF"/>
                </a:solidFill>
                <a:latin typeface="Inter ExtraBold"/>
              </a:rP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672435" y="6564522"/>
            <a:ext cx="1143000" cy="1333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75">
                <a:solidFill>
                  <a:srgbClr val="8B5CF6"/>
                </a:solidFill>
                <a:latin typeface="Inter Bold"/>
              </a:rPr>
              <a:t>✅ + ASO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6953250"/>
            <a:ext cx="16002000" cy="87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3000" y="6953250"/>
            <a:ext cx="16002000" cy="876299"/>
          </a:xfrm>
          <a:prstGeom prst="rect">
            <a:avLst/>
          </a:prstGeom>
          <a:noFill/>
          <a:ln w="9525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371600" y="7143750"/>
            <a:ext cx="495300" cy="495299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65960" y="7088505"/>
            <a:ext cx="12382500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Black"/>
              </a:rPr>
              <a:t>TERRANETES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7355205"/>
            <a:ext cx="1238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66666"/>
                </a:solidFill>
                <a:latin typeface="Inter"/>
              </a:rPr>
              <a:t>Your Terraform, under Kubernetes control. Policy-gated, Git-tracked, no rewrite required. The pragmatic choice.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763873" y="7215659"/>
            <a:ext cx="1062991" cy="25717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5720060" y="7238182"/>
            <a:ext cx="476250" cy="1333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FFFFFF"/>
                </a:solidFill>
                <a:latin typeface="Inter ExtraBold"/>
              </a:rPr>
              <a:t>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672435" y="7497972"/>
            <a:ext cx="1143000" cy="1333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75" dirty="0">
                <a:solidFill>
                  <a:srgbClr val="10B981"/>
                </a:solidFill>
                <a:latin typeface="Inter Bold"/>
              </a:rPr>
              <a:t>✅ AZURE NATIVE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3000" y="7964804"/>
            <a:ext cx="16002000" cy="8762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371599" y="8155303"/>
            <a:ext cx="495299" cy="495299"/>
          </a:xfrm>
          <a:prstGeom prst="ellipse">
            <a:avLst/>
          </a:prstGeom>
          <a:solidFill>
            <a:srgbClr val="EF7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965960" y="8300082"/>
            <a:ext cx="85725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50">
                <a:solidFill>
                  <a:srgbClr val="FFFFFF"/>
                </a:solidFill>
                <a:latin typeface="Inter Bold"/>
              </a:rPr>
              <a:t>ARGO CD — DELIVERS ALL OF THE ABOVE THROUGH GITOPS</a:t>
            </a: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5953578D-111B-949F-8A6A-C859F49CEE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" r="62917"/>
          <a:stretch>
            <a:fillRect/>
          </a:stretch>
        </p:blipFill>
        <p:spPr>
          <a:xfrm>
            <a:off x="1470003" y="8219556"/>
            <a:ext cx="298490" cy="366792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9F03B20E-CA6D-F514-3365-5CD42B30E9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9364"/>
          <a:stretch>
            <a:fillRect/>
          </a:stretch>
        </p:blipFill>
        <p:spPr>
          <a:xfrm>
            <a:off x="1530714" y="5346924"/>
            <a:ext cx="177068" cy="35514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E2B9447-AA48-296F-8034-5F6E77A653C4}"/>
              </a:ext>
            </a:extLst>
          </p:cNvPr>
          <p:cNvSpPr txBox="1"/>
          <p:nvPr/>
        </p:nvSpPr>
        <p:spPr>
          <a:xfrm>
            <a:off x="1381123" y="6350317"/>
            <a:ext cx="476250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1" spc="150" dirty="0">
                <a:solidFill>
                  <a:srgbClr val="FFFFFF"/>
                </a:solidFill>
                <a:latin typeface="Inter Bold"/>
              </a:rPr>
              <a:t>KRO</a:t>
            </a:r>
            <a:endParaRPr sz="1000" b="1" spc="150" dirty="0">
              <a:solidFill>
                <a:srgbClr val="FFFFFF"/>
              </a:solidFill>
              <a:latin typeface="Inter Bold"/>
            </a:endParaRPr>
          </a:p>
        </p:txBody>
      </p:sp>
      <p:pic>
        <p:nvPicPr>
          <p:cNvPr id="51" name="Graphic 50">
            <a:extLst>
              <a:ext uri="{FF2B5EF4-FFF2-40B4-BE49-F238E27FC236}">
                <a16:creationId xmlns:a16="http://schemas.microsoft.com/office/drawing/2014/main" id="{0E0F88B8-19F4-04D7-0505-D091C42BBA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6961"/>
          <a:stretch>
            <a:fillRect/>
          </a:stretch>
        </p:blipFill>
        <p:spPr>
          <a:xfrm>
            <a:off x="1371599" y="7163165"/>
            <a:ext cx="410639" cy="456468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3B6D071A-8418-4BA4-D78D-450FFEFB2051}"/>
              </a:ext>
            </a:extLst>
          </p:cNvPr>
          <p:cNvSpPr txBox="1"/>
          <p:nvPr/>
        </p:nvSpPr>
        <p:spPr>
          <a:xfrm>
            <a:off x="1390648" y="4473892"/>
            <a:ext cx="476250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1" spc="150" dirty="0">
                <a:solidFill>
                  <a:srgbClr val="FFFFFF"/>
                </a:solidFill>
                <a:latin typeface="Inter Bold"/>
              </a:rPr>
              <a:t>ASO</a:t>
            </a:r>
            <a:endParaRPr sz="1000" b="1" spc="150" dirty="0">
              <a:solidFill>
                <a:srgbClr val="FFFFFF"/>
              </a:solidFill>
              <a:latin typeface="Inter Bold"/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9389157C-3EAB-BFE8-E413-0F7BA22F8C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47310" y="1668780"/>
            <a:ext cx="14287500" cy="57150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0" b="1" dirty="0">
                <a:solidFill>
                  <a:srgbClr val="000000">
                    <a:alpha val="3000"/>
                  </a:srgbClr>
                </a:solidFill>
                <a:latin typeface="Inter Black"/>
              </a:rPr>
              <a:t>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888888"/>
                </a:solidFill>
                <a:latin typeface="Inter SemiBold"/>
              </a:rPr>
              <a:t>05 / DECISION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19350"/>
            <a:ext cx="15240000" cy="6191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dirty="0">
                <a:solidFill>
                  <a:srgbClr val="000000"/>
                </a:solidFill>
                <a:latin typeface="Inter Black"/>
              </a:rPr>
              <a:t>NOT MUTUALLY EXCLUSIVE.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78505"/>
            <a:ext cx="12382500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spc="75">
                <a:solidFill>
                  <a:srgbClr val="AAAAAA"/>
                </a:solidFill>
                <a:latin typeface="Inter SemiBold"/>
              </a:rPr>
              <a:t>USE ONE. USE ALL FOUR. REAL PLATFORMS MIX AND MATCH.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5105400"/>
            <a:ext cx="14401800" cy="533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5078730"/>
            <a:ext cx="1476375" cy="1238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 spc="225">
                <a:solidFill>
                  <a:srgbClr val="AAAAAA"/>
                </a:solidFill>
                <a:latin typeface="Inter Bold"/>
              </a:rPr>
              <a:t>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2259" y="5135880"/>
            <a:ext cx="14020800" cy="2857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333333"/>
                </a:solidFill>
                <a:latin typeface="Inter SemiBold"/>
              </a:rPr>
              <a:t>Simple CR</a:t>
            </a:r>
            <a:r>
              <a:rPr lang="en-US" sz="1200" b="0" dirty="0">
                <a:solidFill>
                  <a:srgbClr val="333333"/>
                </a:solidFill>
                <a:latin typeface="Inter SemiBold"/>
              </a:rPr>
              <a:t>: </a:t>
            </a:r>
            <a:r>
              <a:rPr sz="1200" b="0" dirty="0">
                <a:solidFill>
                  <a:srgbClr val="333333"/>
                </a:solidFill>
                <a:latin typeface="Inter SemiBold"/>
              </a:rPr>
              <a:t>give me an </a:t>
            </a:r>
            <a:r>
              <a:rPr sz="1200" b="0" dirty="0" err="1">
                <a:solidFill>
                  <a:srgbClr val="333333"/>
                </a:solidFill>
                <a:latin typeface="Inter SemiBold"/>
              </a:rPr>
              <a:t>AppDatabase</a:t>
            </a:r>
            <a:r>
              <a:rPr sz="1200" b="0" dirty="0">
                <a:solidFill>
                  <a:srgbClr val="333333"/>
                </a:solidFill>
                <a:latin typeface="Inter SemiBold"/>
              </a:rPr>
              <a:t>  ·  One KRO </a:t>
            </a:r>
            <a:r>
              <a:rPr sz="1200" b="0" dirty="0" err="1">
                <a:solidFill>
                  <a:srgbClr val="333333"/>
                </a:solidFill>
                <a:latin typeface="Inter SemiBold"/>
              </a:rPr>
              <a:t>ResourceGroup</a:t>
            </a:r>
            <a:r>
              <a:rPr sz="1200" b="0" dirty="0">
                <a:solidFill>
                  <a:srgbClr val="333333"/>
                </a:solidFill>
                <a:latin typeface="Inter SemiBold"/>
              </a:rPr>
              <a:t>  ·  No YAML knowledge 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715000"/>
            <a:ext cx="14401800" cy="647699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5688330"/>
            <a:ext cx="1476375" cy="1238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 spc="225">
                <a:solidFill>
                  <a:srgbClr val="AAAAAA"/>
                </a:solidFill>
                <a:latin typeface="Inter Bold"/>
              </a:rPr>
              <a:t>PROVISIONING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5599" y="5829300"/>
            <a:ext cx="818717" cy="4191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90850" y="5924550"/>
            <a:ext cx="228600" cy="2286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38066" y="5922016"/>
            <a:ext cx="257175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78D4"/>
                </a:solidFill>
                <a:latin typeface="Inter ExtraBold"/>
              </a:rPr>
              <a:t>ASO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29049" y="5829300"/>
            <a:ext cx="1743075" cy="4191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919538" y="5924550"/>
            <a:ext cx="228600" cy="228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8541" y="5922016"/>
            <a:ext cx="857250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dirty="0" err="1">
                <a:solidFill>
                  <a:srgbClr val="EF4444"/>
                </a:solidFill>
                <a:latin typeface="Inter ExtraBold"/>
              </a:rPr>
              <a:t>CROSSPLANE</a:t>
            </a:r>
            <a:endParaRPr sz="1050" b="1" dirty="0">
              <a:solidFill>
                <a:srgbClr val="EF4444"/>
              </a:solidFill>
              <a:latin typeface="Inter ExtraBold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692356" y="5829300"/>
            <a:ext cx="818717" cy="4191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783580" y="5924550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18946" y="5922016"/>
            <a:ext cx="257175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B5CF6"/>
                </a:solidFill>
                <a:latin typeface="Inter ExtraBold"/>
              </a:rPr>
              <a:t>KRO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1310" y="5829300"/>
            <a:ext cx="1743075" cy="4191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757035" y="592455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85635" y="5922016"/>
            <a:ext cx="857250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dirty="0" err="1">
                <a:solidFill>
                  <a:srgbClr val="10B981"/>
                </a:solidFill>
                <a:latin typeface="Inter ExtraBold"/>
              </a:rPr>
              <a:t>TERRANETES</a:t>
            </a:r>
            <a:endParaRPr sz="1050" b="1" dirty="0">
              <a:solidFill>
                <a:srgbClr val="10B981"/>
              </a:solidFill>
              <a:latin typeface="Inter ExtraBold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743200" y="6438899"/>
            <a:ext cx="14401800" cy="6096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1560" y="6412230"/>
            <a:ext cx="1476375" cy="1238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 spc="225">
                <a:solidFill>
                  <a:srgbClr val="AAAAAA"/>
                </a:solidFill>
                <a:latin typeface="Inter Bold"/>
              </a:rPr>
              <a:t>DELIVERY</a:t>
            </a:r>
          </a:p>
        </p:txBody>
      </p:sp>
      <p:sp>
        <p:nvSpPr>
          <p:cNvPr id="33" name="Oval 32"/>
          <p:cNvSpPr/>
          <p:nvPr/>
        </p:nvSpPr>
        <p:spPr>
          <a:xfrm>
            <a:off x="2933700" y="6591300"/>
            <a:ext cx="304800" cy="304800"/>
          </a:xfrm>
          <a:prstGeom prst="ellipse">
            <a:avLst/>
          </a:prstGeom>
          <a:solidFill>
            <a:srgbClr val="EF7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12796" y="6601777"/>
            <a:ext cx="13334999" cy="1809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50" dirty="0">
                <a:solidFill>
                  <a:srgbClr val="FFFFFF"/>
                </a:solidFill>
                <a:latin typeface="Inter Bold"/>
              </a:rPr>
              <a:t>ARGO CD</a:t>
            </a:r>
            <a:r>
              <a:rPr lang="en-US" sz="1200" b="1" spc="150" dirty="0">
                <a:solidFill>
                  <a:srgbClr val="FFFFFF"/>
                </a:solidFill>
                <a:latin typeface="Inter Bold"/>
              </a:rPr>
              <a:t>: </a:t>
            </a:r>
            <a:r>
              <a:rPr sz="1200" b="1" spc="150" dirty="0">
                <a:solidFill>
                  <a:srgbClr val="FFFFFF"/>
                </a:solidFill>
                <a:latin typeface="Inter Bold"/>
              </a:rPr>
              <a:t> WATCHES GIT  ·  SYNCS TO KUBERNETES  ·  DELIVERS EVERYTHING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7124699"/>
            <a:ext cx="14401800" cy="4857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1560" y="7098030"/>
            <a:ext cx="1476375" cy="1238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 spc="225">
                <a:solidFill>
                  <a:srgbClr val="AAAAAA"/>
                </a:solidFill>
                <a:latin typeface="Inter Bold"/>
              </a:rPr>
              <a:t>SOURCE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42259" y="7225664"/>
            <a:ext cx="2476499" cy="1809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75" dirty="0">
                <a:solidFill>
                  <a:srgbClr val="333333"/>
                </a:solidFill>
                <a:latin typeface="Inter ExtraBold"/>
              </a:rPr>
              <a:t>GIT REPOSITORY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33047" y="7225663"/>
            <a:ext cx="8572500" cy="1809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888888"/>
                </a:solidFill>
                <a:latin typeface="Inter"/>
              </a:rPr>
              <a:t>single source of truth for all resource definitions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9A9A69E9-5B0F-DCB1-ADD2-BD7F294F1A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" r="62917"/>
          <a:stretch>
            <a:fillRect/>
          </a:stretch>
        </p:blipFill>
        <p:spPr>
          <a:xfrm>
            <a:off x="2990773" y="6620743"/>
            <a:ext cx="196239" cy="241143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B89E7DE4-AEFA-EF97-7C52-B202670D9A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9364"/>
          <a:stretch>
            <a:fillRect/>
          </a:stretch>
        </p:blipFill>
        <p:spPr>
          <a:xfrm>
            <a:off x="-617525" y="4798406"/>
            <a:ext cx="90428" cy="181373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5811232-2BA5-B7FA-3DDC-ED4D5B922A41}"/>
              </a:ext>
            </a:extLst>
          </p:cNvPr>
          <p:cNvSpPr txBox="1"/>
          <p:nvPr/>
        </p:nvSpPr>
        <p:spPr>
          <a:xfrm>
            <a:off x="5719263" y="5954159"/>
            <a:ext cx="452654" cy="135796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1" dirty="0">
                <a:solidFill>
                  <a:srgbClr val="FFFFFF"/>
                </a:solidFill>
                <a:latin typeface="Inter Bold"/>
              </a:rPr>
              <a:t>KRO</a:t>
            </a:r>
            <a:endParaRPr sz="600" b="1" dirty="0">
              <a:solidFill>
                <a:srgbClr val="FFFFFF"/>
              </a:solidFill>
              <a:latin typeface="Inter Bold"/>
            </a:endParaRP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64E87992-8560-5142-3414-E134778861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6961"/>
          <a:stretch>
            <a:fillRect/>
          </a:stretch>
        </p:blipFill>
        <p:spPr>
          <a:xfrm>
            <a:off x="6738906" y="5926130"/>
            <a:ext cx="209712" cy="23311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C64BB5A-C0EB-01BB-5267-F29C7D1ECCCD}"/>
              </a:ext>
            </a:extLst>
          </p:cNvPr>
          <p:cNvSpPr txBox="1"/>
          <p:nvPr/>
        </p:nvSpPr>
        <p:spPr>
          <a:xfrm>
            <a:off x="2926404" y="5952797"/>
            <a:ext cx="452654" cy="135796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1" dirty="0">
                <a:solidFill>
                  <a:srgbClr val="FFFFFF"/>
                </a:solidFill>
                <a:latin typeface="Inter Bold"/>
              </a:rPr>
              <a:t>ASO</a:t>
            </a:r>
            <a:endParaRPr sz="600" b="1" dirty="0">
              <a:solidFill>
                <a:srgbClr val="FFFFFF"/>
              </a:solidFill>
              <a:latin typeface="Inter Bold"/>
            </a:endParaRPr>
          </a:p>
        </p:txBody>
      </p:sp>
      <p:pic>
        <p:nvPicPr>
          <p:cNvPr id="51" name="Graphic 50">
            <a:extLst>
              <a:ext uri="{FF2B5EF4-FFF2-40B4-BE49-F238E27FC236}">
                <a16:creationId xmlns:a16="http://schemas.microsoft.com/office/drawing/2014/main" id="{986DFAA1-C358-1847-82FD-46079599F7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9364"/>
          <a:stretch>
            <a:fillRect/>
          </a:stretch>
        </p:blipFill>
        <p:spPr>
          <a:xfrm>
            <a:off x="3985612" y="5959585"/>
            <a:ext cx="90428" cy="18137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7F15279-E8DD-03BA-A6B2-23CB5D933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14060" y="906780"/>
            <a:ext cx="13334999" cy="6667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05 / DECISION FRAMEWORK  · 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64280"/>
            <a:ext cx="16192499" cy="1676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FFFFFF"/>
                </a:solidFill>
                <a:latin typeface="Inter Black"/>
              </a:rPr>
              <a:t>LET’S BUILD.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888356"/>
            <a:ext cx="15240000" cy="6191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FOUR TOOLS. FOUR PROBLEMS. LIVE.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231BC8-1024-0328-6A6A-18CD82E9EC78}"/>
              </a:ext>
            </a:extLst>
          </p:cNvPr>
          <p:cNvSpPr/>
          <p:nvPr/>
        </p:nvSpPr>
        <p:spPr>
          <a:xfrm>
            <a:off x="1165578" y="7098312"/>
            <a:ext cx="818717" cy="4191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56E7A0F-EDD6-C331-5059-652208640353}"/>
              </a:ext>
            </a:extLst>
          </p:cNvPr>
          <p:cNvSpPr/>
          <p:nvPr/>
        </p:nvSpPr>
        <p:spPr>
          <a:xfrm>
            <a:off x="1260829" y="7193562"/>
            <a:ext cx="228600" cy="2286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4A3E2E-9712-12EA-9225-4F12290E3EA5}"/>
              </a:ext>
            </a:extLst>
          </p:cNvPr>
          <p:cNvSpPr txBox="1"/>
          <p:nvPr/>
        </p:nvSpPr>
        <p:spPr>
          <a:xfrm>
            <a:off x="1508045" y="7191028"/>
            <a:ext cx="257175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78D4"/>
                </a:solidFill>
                <a:latin typeface="Inter ExtraBold"/>
              </a:rPr>
              <a:t>ASO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59B19C-016F-411C-5A90-B9E210C32F0D}"/>
              </a:ext>
            </a:extLst>
          </p:cNvPr>
          <p:cNvSpPr/>
          <p:nvPr/>
        </p:nvSpPr>
        <p:spPr>
          <a:xfrm>
            <a:off x="2099028" y="7098312"/>
            <a:ext cx="1743075" cy="4191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15437F7-9882-BB68-053E-DE5BA798947F}"/>
              </a:ext>
            </a:extLst>
          </p:cNvPr>
          <p:cNvSpPr/>
          <p:nvPr/>
        </p:nvSpPr>
        <p:spPr>
          <a:xfrm>
            <a:off x="2189517" y="7193562"/>
            <a:ext cx="228600" cy="228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12CBA5-8381-3513-B532-F45716F7FF51}"/>
              </a:ext>
            </a:extLst>
          </p:cNvPr>
          <p:cNvSpPr txBox="1"/>
          <p:nvPr/>
        </p:nvSpPr>
        <p:spPr>
          <a:xfrm>
            <a:off x="2388520" y="7191028"/>
            <a:ext cx="857250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dirty="0" err="1">
                <a:solidFill>
                  <a:srgbClr val="EF4444"/>
                </a:solidFill>
                <a:latin typeface="Inter ExtraBold"/>
              </a:rPr>
              <a:t>CROSSPLANE</a:t>
            </a:r>
            <a:endParaRPr sz="1050" b="1" dirty="0">
              <a:solidFill>
                <a:srgbClr val="EF4444"/>
              </a:solidFill>
              <a:latin typeface="Inter ExtraBold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7FEA38F-DAAF-233C-F097-7029D111BC39}"/>
              </a:ext>
            </a:extLst>
          </p:cNvPr>
          <p:cNvSpPr/>
          <p:nvPr/>
        </p:nvSpPr>
        <p:spPr>
          <a:xfrm>
            <a:off x="3962335" y="7098312"/>
            <a:ext cx="818717" cy="4191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481E588-2625-AFCA-84F2-4B86922C7DD8}"/>
              </a:ext>
            </a:extLst>
          </p:cNvPr>
          <p:cNvSpPr/>
          <p:nvPr/>
        </p:nvSpPr>
        <p:spPr>
          <a:xfrm>
            <a:off x="4053559" y="719356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A0E704-8FF9-3CFC-F089-64E1D3BA7462}"/>
              </a:ext>
            </a:extLst>
          </p:cNvPr>
          <p:cNvSpPr txBox="1"/>
          <p:nvPr/>
        </p:nvSpPr>
        <p:spPr>
          <a:xfrm>
            <a:off x="4288925" y="7191028"/>
            <a:ext cx="257175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B5CF6"/>
                </a:solidFill>
                <a:latin typeface="Inter ExtraBold"/>
              </a:rPr>
              <a:t>KRO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1F39F0-9A68-BA4C-501F-8FC4D4A07DBE}"/>
              </a:ext>
            </a:extLst>
          </p:cNvPr>
          <p:cNvSpPr/>
          <p:nvPr/>
        </p:nvSpPr>
        <p:spPr>
          <a:xfrm>
            <a:off x="4941289" y="7098312"/>
            <a:ext cx="1743075" cy="4191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77B996F-C435-D71E-A509-43641095D4AF}"/>
              </a:ext>
            </a:extLst>
          </p:cNvPr>
          <p:cNvSpPr/>
          <p:nvPr/>
        </p:nvSpPr>
        <p:spPr>
          <a:xfrm>
            <a:off x="5027014" y="7193562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A6618D-70F4-308E-5EE8-27B0A7F55898}"/>
              </a:ext>
            </a:extLst>
          </p:cNvPr>
          <p:cNvSpPr txBox="1"/>
          <p:nvPr/>
        </p:nvSpPr>
        <p:spPr>
          <a:xfrm>
            <a:off x="5255614" y="7191028"/>
            <a:ext cx="857250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dirty="0" err="1">
                <a:solidFill>
                  <a:srgbClr val="10B981"/>
                </a:solidFill>
                <a:latin typeface="Inter ExtraBold"/>
              </a:rPr>
              <a:t>TERRANETES</a:t>
            </a:r>
            <a:endParaRPr sz="1050" b="1" dirty="0">
              <a:solidFill>
                <a:srgbClr val="10B981"/>
              </a:solidFill>
              <a:latin typeface="Inter ExtraBold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3AFCFB-9B17-7D15-5A2E-1BED40AB2C18}"/>
              </a:ext>
            </a:extLst>
          </p:cNvPr>
          <p:cNvSpPr txBox="1"/>
          <p:nvPr/>
        </p:nvSpPr>
        <p:spPr>
          <a:xfrm>
            <a:off x="3989242" y="7223171"/>
            <a:ext cx="452654" cy="135796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1" dirty="0">
                <a:solidFill>
                  <a:srgbClr val="FFFFFF"/>
                </a:solidFill>
                <a:latin typeface="Inter Bold"/>
              </a:rPr>
              <a:t>KRO</a:t>
            </a:r>
            <a:endParaRPr sz="600" b="1" dirty="0">
              <a:solidFill>
                <a:srgbClr val="FFFFFF"/>
              </a:solidFill>
              <a:latin typeface="Inter Bold"/>
            </a:endParaRPr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3232BA47-A261-6632-ED42-AC326A8EDF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6961"/>
          <a:stretch>
            <a:fillRect/>
          </a:stretch>
        </p:blipFill>
        <p:spPr>
          <a:xfrm>
            <a:off x="5008885" y="7195142"/>
            <a:ext cx="209712" cy="23311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624D72A-287D-53DC-956A-37153B320B16}"/>
              </a:ext>
            </a:extLst>
          </p:cNvPr>
          <p:cNvSpPr txBox="1"/>
          <p:nvPr/>
        </p:nvSpPr>
        <p:spPr>
          <a:xfrm>
            <a:off x="1196383" y="7221809"/>
            <a:ext cx="452654" cy="135796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1" dirty="0">
                <a:solidFill>
                  <a:srgbClr val="FFFFFF"/>
                </a:solidFill>
                <a:latin typeface="Inter Bold"/>
              </a:rPr>
              <a:t>ASO</a:t>
            </a:r>
            <a:endParaRPr sz="600" b="1" dirty="0">
              <a:solidFill>
                <a:srgbClr val="FFFFFF"/>
              </a:solidFill>
              <a:latin typeface="Inter Bold"/>
            </a:endParaRP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2B35E3DF-9385-3917-8332-61F9852041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9364"/>
          <a:stretch>
            <a:fillRect/>
          </a:stretch>
        </p:blipFill>
        <p:spPr>
          <a:xfrm>
            <a:off x="2255591" y="7228597"/>
            <a:ext cx="90428" cy="18137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F9F52E6-73A4-8F74-2466-6C2BB8E183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954500" y="1523999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35500" y="1523999"/>
            <a:ext cx="133350" cy="1333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716500" y="1523999"/>
            <a:ext cx="133350" cy="13335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33060" y="2049780"/>
            <a:ext cx="9953625" cy="57626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5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ASO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37310" y="1049655"/>
            <a:ext cx="3810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06 / ASO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949862"/>
            <a:ext cx="16002000" cy="1676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 dirty="0">
                <a:solidFill>
                  <a:srgbClr val="FFFFFF"/>
                </a:solidFill>
                <a:latin typeface="Inter Black"/>
              </a:rPr>
              <a:t>ASO.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7088505"/>
            <a:ext cx="16002000" cy="7239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0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YOUR AZURE. YAML-DRIVEN.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7D7A7F9-C171-58C9-0646-F837946E3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37310" y="1049655"/>
            <a:ext cx="3810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06 / 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33670"/>
            <a:ext cx="16002000" cy="6191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dirty="0">
                <a:solidFill>
                  <a:srgbClr val="FFFFFF"/>
                </a:solidFill>
                <a:latin typeface="Inter Black"/>
              </a:rPr>
              <a:t>WHAT WE'RE BUILDING.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621400"/>
            <a:ext cx="16002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spc="150" dirty="0">
                <a:solidFill>
                  <a:schemeClr val="bg1">
                    <a:lumMod val="65000"/>
                  </a:schemeClr>
                </a:solidFill>
                <a:latin typeface="Inter SemiBold"/>
              </a:rPr>
              <a:t>GIT COMMIT  →  ARGO CD  →  ASO CONTROLLER  →  AZURE RESOURCE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5295897"/>
            <a:ext cx="3524250" cy="2857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3000" y="5295897"/>
            <a:ext cx="3524250" cy="4762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42060" y="5440677"/>
            <a:ext cx="3143250" cy="152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spc="225" dirty="0">
                <a:solidFill>
                  <a:srgbClr val="888888"/>
                </a:solidFill>
                <a:latin typeface="Inter Bold"/>
              </a:rPr>
              <a:t>GIT REPO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60" y="5848609"/>
            <a:ext cx="314325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FFFFFF"/>
                </a:solidFill>
                <a:latin typeface="Inter ExtraBold"/>
              </a:rPr>
              <a:t>storageaccount.yaml</a:t>
            </a:r>
            <a:endParaRPr sz="2000" b="1" dirty="0">
              <a:solidFill>
                <a:srgbClr val="FFFFFF"/>
              </a:solidFill>
              <a:latin typeface="Inter Extra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42060" y="6529518"/>
            <a:ext cx="3143250" cy="1904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Developer commits a Kubernetes manifest to the main branch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5425" y="5295897"/>
            <a:ext cx="3524250" cy="2857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05425" y="5295897"/>
            <a:ext cx="3524250" cy="47624"/>
          </a:xfrm>
          <a:prstGeom prst="rect">
            <a:avLst/>
          </a:prstGeom>
          <a:solidFill>
            <a:srgbClr val="EF7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04485" y="5440677"/>
            <a:ext cx="3143250" cy="152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spc="225">
                <a:solidFill>
                  <a:srgbClr val="EF7B4D"/>
                </a:solidFill>
                <a:latin typeface="Inter Bold"/>
              </a:rPr>
              <a:t>ARGO 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485" y="5848609"/>
            <a:ext cx="314325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 ExtraBold"/>
              </a:rPr>
              <a:t>Detects &amp; deploys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4485" y="6529518"/>
            <a:ext cx="3143250" cy="1904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chemeClr val="bg1">
                    <a:lumMod val="95000"/>
                  </a:schemeClr>
                </a:solidFill>
                <a:latin typeface="Inter"/>
              </a:rPr>
              <a:t>Watches the Git repo and applies the manifest to the cluster on every push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67850" y="5295897"/>
            <a:ext cx="3524250" cy="2857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67850" y="5295897"/>
            <a:ext cx="3524250" cy="4762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66909" y="5440677"/>
            <a:ext cx="3143250" cy="152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spc="225">
                <a:solidFill>
                  <a:srgbClr val="0078D4"/>
                </a:solidFill>
                <a:latin typeface="Inter Bold"/>
              </a:rPr>
              <a:t>ASO 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6909" y="5848609"/>
            <a:ext cx="314325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 ExtraBold"/>
              </a:rPr>
              <a:t>Reads CRD, calls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66909" y="6529518"/>
            <a:ext cx="3143250" cy="1904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chemeClr val="bg1">
                    <a:lumMod val="95000"/>
                  </a:schemeClr>
                </a:solidFill>
                <a:latin typeface="Inter"/>
              </a:rPr>
              <a:t>Azure Service Operator reconciles the StorageAccount CRD via Azure ARM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630275" y="5295897"/>
            <a:ext cx="3524250" cy="2857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3630275" y="5295897"/>
            <a:ext cx="3524250" cy="47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729335" y="5440677"/>
            <a:ext cx="3143250" cy="152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spc="225">
                <a:solidFill>
                  <a:srgbClr val="10B981"/>
                </a:solidFill>
                <a:latin typeface="Inter Bold"/>
              </a:rPr>
              <a:t>AZURE RESOURCE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29335" y="5848609"/>
            <a:ext cx="314325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 ExtraBold"/>
              </a:rPr>
              <a:t>Storage Account 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29335" y="6529518"/>
            <a:ext cx="3143250" cy="1904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chemeClr val="bg1">
                    <a:lumMod val="95000"/>
                  </a:schemeClr>
                </a:solidFill>
                <a:latin typeface="Inter"/>
              </a:rPr>
              <a:t>Azure Storage Account is provisioned and managed through the GitOps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6310" y="6517002"/>
            <a:ext cx="257175" cy="3238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Inter Bold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28735" y="6517002"/>
            <a:ext cx="257175" cy="3238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chemeClr val="tx1">
                    <a:lumMod val="50000"/>
                    <a:lumOff val="50000"/>
                  </a:schemeClr>
                </a:solidFill>
                <a:latin typeface="Inter Bold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91160" y="6517002"/>
            <a:ext cx="257175" cy="3238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chemeClr val="tx1">
                    <a:lumMod val="50000"/>
                    <a:lumOff val="50000"/>
                  </a:schemeClr>
                </a:solidFill>
                <a:latin typeface="Inter Bold"/>
              </a:rPr>
              <a:t>→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CEAB218-516A-9795-A0EB-2892336340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671060" y="716280"/>
            <a:ext cx="12506324" cy="53054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5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YAML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47625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06 / ASO ·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88055"/>
            <a:ext cx="16002000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>
                <a:solidFill>
                  <a:srgbClr val="FFFFFF"/>
                </a:solidFill>
                <a:latin typeface="Inter Black"/>
              </a:rPr>
              <a:t>APPLY YAML.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735830"/>
            <a:ext cx="16002000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>
                <a:solidFill>
                  <a:srgbClr val="FFFFFF"/>
                </a:solidFill>
                <a:latin typeface="Inter Black"/>
              </a:rPr>
              <a:t>GET AZURE.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259830"/>
            <a:ext cx="16002000" cy="4762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rgbClr val="444444"/>
                </a:solidFill>
                <a:latin typeface="Inter Black"/>
              </a:rPr>
              <a:t>NO TERRAFORM. NO BICEP.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7320915"/>
            <a:ext cx="2124075" cy="533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33500" y="7454264"/>
            <a:ext cx="266700" cy="2667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58749" y="7436552"/>
            <a:ext cx="114300" cy="152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Inter 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4010" y="7470951"/>
            <a:ext cx="1457325" cy="1809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 ExtraBold"/>
              </a:rPr>
              <a:t>KUBECTL APPLY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14750" y="7320915"/>
            <a:ext cx="2162174" cy="533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905249" y="7454264"/>
            <a:ext cx="266700" cy="266700"/>
          </a:xfrm>
          <a:prstGeom prst="ellipse">
            <a:avLst/>
          </a:prstGeom>
          <a:solidFill>
            <a:srgbClr val="EF7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23184" y="7429237"/>
            <a:ext cx="114300" cy="152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nter 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5760" y="7470951"/>
            <a:ext cx="1495425" cy="1809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Inter ExtraBold"/>
              </a:rPr>
              <a:t>ARGO CD SYNCS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4599" y="7320915"/>
            <a:ext cx="2886075" cy="533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15100" y="7454264"/>
            <a:ext cx="266700" cy="2667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3033" y="7436552"/>
            <a:ext cx="114300" cy="152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Inter 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5610" y="7470951"/>
            <a:ext cx="2219325" cy="1809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 ExtraBold"/>
              </a:rPr>
              <a:t>AZURE RESOURCE 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9935" y="7408545"/>
            <a:ext cx="219075" cy="2762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44444"/>
                </a:solidFill>
                <a:latin typeface="Inter Bold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9784" y="7408545"/>
            <a:ext cx="219075" cy="2762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44444"/>
                </a:solidFill>
                <a:latin typeface="Inter Bold"/>
              </a:rPr>
              <a:t>→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AAC945CC-6B37-2417-9B8F-D8EA5418FE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57310" y="-161925"/>
            <a:ext cx="9163050" cy="53054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500" b="1" dirty="0">
                <a:solidFill>
                  <a:srgbClr val="000000">
                    <a:alpha val="3000"/>
                  </a:srgbClr>
                </a:solidFill>
                <a:latin typeface="Inter Black"/>
              </a:rPr>
              <a:t>ASO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3810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888888"/>
                </a:solidFill>
                <a:latin typeface="Inter SemiBold"/>
              </a:rPr>
              <a:t>06 / ASO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88030"/>
            <a:ext cx="16002000" cy="5524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00000"/>
                </a:solidFill>
                <a:latin typeface="Inter Black"/>
              </a:rPr>
              <a:t>FAST. TRANSPARENT. COMPOSABLE.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050030"/>
            <a:ext cx="16002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pc="75" dirty="0">
                <a:solidFill>
                  <a:srgbClr val="AAAAAA"/>
                </a:solidFill>
                <a:latin typeface="Inter SemiBold"/>
              </a:rPr>
              <a:t>THREE THINGS TO KNOW BEFORE YOU CHOOSE ASO.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4933950"/>
            <a:ext cx="16002000" cy="8001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71600" y="5162550"/>
            <a:ext cx="342900" cy="3429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03597" y="5183117"/>
            <a:ext cx="1524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Inter 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3560" y="5031105"/>
            <a:ext cx="13906499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Inter ExtraBold"/>
              </a:rPr>
              <a:t>FAST TO 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3560" y="5326380"/>
            <a:ext cx="13906499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666666"/>
                </a:solidFill>
                <a:latin typeface="Inter"/>
              </a:rPr>
              <a:t>Zero abstractions to design. Install ASO, configure workload identity, start provisioning.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6127432"/>
            <a:ext cx="16002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371600" y="6356032"/>
            <a:ext cx="342900" cy="3429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94266" y="6376600"/>
            <a:ext cx="1524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Inter 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3560" y="6224588"/>
            <a:ext cx="13906499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Inter ExtraBold"/>
              </a:rPr>
              <a:t>TRANSPARENT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3560" y="6519863"/>
            <a:ext cx="13906499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66666"/>
                </a:solidFill>
                <a:latin typeface="Inter"/>
              </a:rPr>
              <a:t>Developers see Azure resource types directly. A feature for Azure-native teams; a limitation when you want to hide the cloud layer.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279004"/>
            <a:ext cx="16002000" cy="8001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371600" y="7507604"/>
            <a:ext cx="342900" cy="3429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94266" y="7528171"/>
            <a:ext cx="1524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Inter 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3560" y="7376159"/>
            <a:ext cx="13906499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Inter ExtraBold"/>
              </a:rPr>
              <a:t>COMPOSABLE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3560" y="7671434"/>
            <a:ext cx="13906499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66666"/>
                </a:solidFill>
                <a:latin typeface="Inter"/>
              </a:rPr>
              <a:t>Pairs naturally with KRO for higher-level developer APIs. ASO handles the Azure layer; KRO composes the experience.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347710"/>
            <a:ext cx="16002000" cy="49339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80160" y="8471535"/>
            <a:ext cx="348615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50" dirty="0">
                <a:solidFill>
                  <a:srgbClr val="FFFFFF"/>
                </a:solidFill>
                <a:latin typeface="Inter Bold"/>
              </a:rPr>
              <a:t>WANT CLOUD-AGNOSTIC ABSTRACTIONS?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8710" y="8471535"/>
            <a:ext cx="28575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spc="75" dirty="0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→  </a:t>
            </a:r>
            <a:r>
              <a:rPr sz="1050" b="0" spc="75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CROSSPLANE</a:t>
            </a:r>
            <a:r>
              <a:rPr sz="1050" b="0" spc="75" dirty="0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 IS NEXT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3F1FDF66-4AC4-9F21-A9E7-392DD9E898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954500" y="1523999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35500" y="1523999"/>
            <a:ext cx="133350" cy="1333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716500" y="1523999"/>
            <a:ext cx="133350" cy="13335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47060" y="2049780"/>
            <a:ext cx="15830550" cy="57626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5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CROSS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07 / CROSSPLANE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954905"/>
            <a:ext cx="16002000" cy="1676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 dirty="0" err="1">
                <a:solidFill>
                  <a:srgbClr val="FFFFFF"/>
                </a:solidFill>
                <a:latin typeface="Inter Black"/>
              </a:rPr>
              <a:t>CROSSPLANE</a:t>
            </a:r>
            <a:r>
              <a:rPr sz="15000" b="1" dirty="0">
                <a:solidFill>
                  <a:srgbClr val="FFFFFF"/>
                </a:solidFill>
                <a:latin typeface="Inter Blac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7145655"/>
            <a:ext cx="16002000" cy="7239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0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YOU DESIGN THE API.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11A0A39-74C2-C849-D6AE-07AE5F1BC3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07 / CROSSPLANE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54704"/>
            <a:ext cx="16002000" cy="6191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Inter Black"/>
              </a:rPr>
              <a:t>WHAT WE'RE BUILDING.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23386"/>
            <a:ext cx="16002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spc="150" dirty="0">
                <a:solidFill>
                  <a:schemeClr val="bg1">
                    <a:lumMod val="65000"/>
                  </a:schemeClr>
                </a:solidFill>
                <a:latin typeface="Inter SemiBold"/>
              </a:rPr>
              <a:t>DEVELOPER WRITES 10 LINES  →  </a:t>
            </a:r>
            <a:r>
              <a:rPr sz="2400" b="0" spc="150" dirty="0" err="1">
                <a:solidFill>
                  <a:schemeClr val="bg1">
                    <a:lumMod val="65000"/>
                  </a:schemeClr>
                </a:solidFill>
                <a:latin typeface="Inter SemiBold"/>
              </a:rPr>
              <a:t>CROSSPLANE</a:t>
            </a:r>
            <a:r>
              <a:rPr sz="2400" b="0" spc="150" dirty="0">
                <a:solidFill>
                  <a:schemeClr val="bg1">
                    <a:lumMod val="65000"/>
                  </a:schemeClr>
                </a:solidFill>
                <a:latin typeface="Inter SemiBold"/>
              </a:rPr>
              <a:t> PROVISIONS ACROSS TWO CLOUDS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5462585"/>
            <a:ext cx="4857750" cy="2857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3000" y="5462585"/>
            <a:ext cx="4857750" cy="4762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42060" y="5607365"/>
            <a:ext cx="4476750" cy="152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spc="225" dirty="0">
                <a:solidFill>
                  <a:srgbClr val="888888"/>
                </a:solidFill>
                <a:latin typeface="Inter Bold"/>
              </a:rPr>
              <a:t>DEVELOPER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60" y="6102806"/>
            <a:ext cx="447675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FFFFFF"/>
                </a:solidFill>
                <a:latin typeface="Inter ExtraBold"/>
              </a:rPr>
              <a:t>AppTeam</a:t>
            </a:r>
            <a:r>
              <a:rPr sz="2000" b="1" dirty="0">
                <a:solidFill>
                  <a:srgbClr val="FFFFFF"/>
                </a:solidFill>
                <a:latin typeface="Inter ExtraBold"/>
              </a:rPr>
              <a:t>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2060" y="6529304"/>
            <a:ext cx="4476750" cy="1904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10 lines.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Inter"/>
              </a:rPr>
              <a:t>teamName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 +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Inter"/>
              </a:rPr>
              <a:t>githubOrg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. No Azure fields. No region. No SKU.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38925" y="5462585"/>
            <a:ext cx="4857750" cy="2857500"/>
          </a:xfrm>
          <a:prstGeom prst="rect">
            <a:avLst/>
          </a:prstGeom>
          <a:solidFill>
            <a:srgbClr val="111111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38925" y="5462585"/>
            <a:ext cx="4857750" cy="4762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37984" y="5607365"/>
            <a:ext cx="4476750" cy="152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spc="225">
                <a:solidFill>
                  <a:srgbClr val="EF4444"/>
                </a:solidFill>
                <a:latin typeface="Inter Bold"/>
              </a:rPr>
              <a:t>CROSSPLANE COMPOSITION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7984" y="6102806"/>
            <a:ext cx="447675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 ExtraBold"/>
              </a:rPr>
              <a:t>Platform team's API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7984" y="6529304"/>
            <a:ext cx="4476750" cy="1904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Inter"/>
              </a:rPr>
              <a:t>XRD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 defines the API. Composition encodes every platform opinion — naming, networking, tagging, backup.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34850" y="5462585"/>
            <a:ext cx="4857750" cy="2857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134850" y="5462585"/>
            <a:ext cx="4857750" cy="47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233910" y="5607365"/>
            <a:ext cx="4476750" cy="152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spc="225">
                <a:solidFill>
                  <a:srgbClr val="10B981"/>
                </a:solidFill>
                <a:latin typeface="Inter Bold"/>
              </a:rPr>
              <a:t>CLOUD RESOURCES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33910" y="6102806"/>
            <a:ext cx="447675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Inter ExtraBold"/>
              </a:rPr>
              <a:t>3 from 1 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33910" y="6492668"/>
            <a:ext cx="447675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— Azure Resource 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33910" y="6849033"/>
            <a:ext cx="447675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— Azure Storage Account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33910" y="7225402"/>
            <a:ext cx="447675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9F7AEA"/>
                </a:solidFill>
                <a:latin typeface="Inter"/>
              </a:rPr>
              <a:t>— GitHub Repository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810" y="6559865"/>
            <a:ext cx="285750" cy="2857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44444"/>
                </a:solidFill>
                <a:latin typeface="Inter Bold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5735" y="6559865"/>
            <a:ext cx="285750" cy="2857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44444"/>
                </a:solidFill>
                <a:latin typeface="Inter Bold"/>
              </a:rPr>
              <a:t>→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FC363482-15C0-5100-4053-AF923487EA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42560" y="716280"/>
            <a:ext cx="7124700" cy="53054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5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07 / CROSSPLANE  · 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88055"/>
            <a:ext cx="16002000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>
                <a:solidFill>
                  <a:srgbClr val="FFFFFF"/>
                </a:solidFill>
                <a:latin typeface="Inter Black"/>
              </a:rPr>
              <a:t>ONE CLAIM.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820546"/>
            <a:ext cx="16002000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 dirty="0">
                <a:solidFill>
                  <a:srgbClr val="FFFFFF"/>
                </a:solidFill>
                <a:latin typeface="Inter Black"/>
              </a:rPr>
              <a:t>THREE RESOURCES.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330820"/>
            <a:ext cx="16002000" cy="4762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AZURE + GITHUB. ZERO CLOUD KNOWLEDGE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7431405"/>
            <a:ext cx="1895475" cy="5334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76350" y="7564754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69356" y="7543630"/>
            <a:ext cx="1524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Inter 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7617" y="7558142"/>
            <a:ext cx="1238249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Inter ExtraBold"/>
              </a:rPr>
              <a:t>APPSTORAGE</a:t>
            </a:r>
            <a:endParaRPr sz="1200" b="1" dirty="0">
              <a:solidFill>
                <a:srgbClr val="FFFFFF"/>
              </a:solidFill>
              <a:latin typeface="Inter ExtraBold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486150" y="7431405"/>
            <a:ext cx="1590675" cy="5334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19499" y="7564754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2505" y="7543630"/>
            <a:ext cx="1524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nter 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0767" y="7558142"/>
            <a:ext cx="95250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Inter ExtraBold"/>
              </a:rPr>
              <a:t>APPTEAM</a:t>
            </a:r>
            <a:endParaRPr sz="1200" b="1" dirty="0">
              <a:solidFill>
                <a:srgbClr val="FFFFFF"/>
              </a:solidFill>
              <a:latin typeface="Inter ExtraBold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524499" y="7431405"/>
            <a:ext cx="2733674" cy="5334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57850" y="7564754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27682" y="7543630"/>
            <a:ext cx="17145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nter Bol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39117" y="7558142"/>
            <a:ext cx="207645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Inter ExtraBold"/>
              </a:rPr>
              <a:t>TWO </a:t>
            </a:r>
            <a:r>
              <a:rPr lang="en-US" sz="1200" b="1" dirty="0">
                <a:solidFill>
                  <a:srgbClr val="FFFFFF"/>
                </a:solidFill>
                <a:latin typeface="Inter ExtraBold"/>
              </a:rPr>
              <a:t>PROVIDERS</a:t>
            </a:r>
            <a:r>
              <a:rPr sz="1200" b="1" dirty="0">
                <a:solidFill>
                  <a:srgbClr val="FFFFFF"/>
                </a:solidFill>
                <a:latin typeface="Inter ExtraBold"/>
              </a:rPr>
              <a:t>. ONE API.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4E127724-A54B-1694-7E8F-F3C360E358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147060" y="848003"/>
            <a:ext cx="14582775" cy="53054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500" b="1" dirty="0">
                <a:solidFill>
                  <a:srgbClr val="000000">
                    <a:alpha val="3000"/>
                  </a:srgbClr>
                </a:solidFill>
                <a:latin typeface="Inter Black"/>
              </a:rPr>
              <a:t>CROSS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888888"/>
                </a:solidFill>
                <a:latin typeface="Inter SemiBold"/>
              </a:rPr>
              <a:t>07 / CROSSPLANE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09925"/>
            <a:ext cx="16002000" cy="5524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00000"/>
                </a:solidFill>
                <a:latin typeface="Inter Black"/>
              </a:rPr>
              <a:t>OWN YOUR ABSTRACTION.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959543"/>
            <a:ext cx="16002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75" dirty="0">
                <a:solidFill>
                  <a:srgbClr val="AAAAAA"/>
                </a:solidFill>
                <a:latin typeface="Inter SemiBold"/>
              </a:rPr>
              <a:t>THREE THINGS </a:t>
            </a:r>
            <a:r>
              <a:rPr sz="1500" b="0" spc="75" dirty="0" err="1">
                <a:solidFill>
                  <a:srgbClr val="AAAAAA"/>
                </a:solidFill>
                <a:latin typeface="Inter SemiBold"/>
              </a:rPr>
              <a:t>CROSSPLANE</a:t>
            </a:r>
            <a:r>
              <a:rPr sz="1500" b="0" spc="75" dirty="0">
                <a:solidFill>
                  <a:srgbClr val="AAAAAA"/>
                </a:solidFill>
                <a:latin typeface="Inter SemiBold"/>
              </a:rPr>
              <a:t> CHANGES.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4933672"/>
            <a:ext cx="16002000" cy="8001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71600" y="5162272"/>
            <a:ext cx="342900" cy="342900"/>
          </a:xfrm>
          <a:prstGeom prst="roundRect">
            <a:avLst>
              <a:gd name="adj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96086" y="5153026"/>
            <a:ext cx="1524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FFFFFF"/>
                </a:solidFill>
                <a:latin typeface="Inter 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3560" y="5030827"/>
            <a:ext cx="13906499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Inter ExtraBold"/>
              </a:rPr>
              <a:t>PLATFORM INVESTMENT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3560" y="5314951"/>
            <a:ext cx="13906499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666666"/>
                </a:solidFill>
                <a:latin typeface="Inter"/>
              </a:rPr>
              <a:t>Write Compositions once. Every team that joins gets the same experience, forever.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5935739"/>
            <a:ext cx="16002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371600" y="6164339"/>
            <a:ext cx="342900" cy="342900"/>
          </a:xfrm>
          <a:prstGeom prst="roundRect">
            <a:avLst>
              <a:gd name="adj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84935" y="6155094"/>
            <a:ext cx="1524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 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3560" y="6032895"/>
            <a:ext cx="13906499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Inter ExtraBold"/>
              </a:rPr>
              <a:t>CLOUD AGNOSTIC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3560" y="6317019"/>
            <a:ext cx="13906499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66666"/>
                </a:solidFill>
                <a:latin typeface="Inter"/>
              </a:rPr>
              <a:t>Today Azure. Swap the Composition. Developer manifest unchanged. That's genuine abstraction.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081557"/>
            <a:ext cx="16002000" cy="8001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371600" y="7310157"/>
            <a:ext cx="342900" cy="342900"/>
          </a:xfrm>
          <a:prstGeom prst="roundRect">
            <a:avLst>
              <a:gd name="adj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84935" y="7300911"/>
            <a:ext cx="1524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 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3560" y="7178712"/>
            <a:ext cx="13906499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Inter ExtraBold"/>
              </a:rPr>
              <a:t>ENFORCES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3560" y="7462836"/>
            <a:ext cx="13906499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666666"/>
                </a:solidFill>
                <a:latin typeface="Inter"/>
              </a:rPr>
              <a:t>Backup, naming, tagging, networking baked into every Composition. Impossible for developers to get it wrong.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223524"/>
            <a:ext cx="16002000" cy="55435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80160" y="8386007"/>
            <a:ext cx="27432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50">
                <a:solidFill>
                  <a:srgbClr val="FFFFFF"/>
                </a:solidFill>
                <a:latin typeface="Inter Bold"/>
              </a:rPr>
              <a:t>SMALL TEAM OR AZURE-NATIVE?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5760" y="8386007"/>
            <a:ext cx="19050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spc="75" dirty="0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→  KRO IS NEXT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61A3AEBF-814C-1F48-BF22-5D0A6DA926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954500" y="1523999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35500" y="1523999"/>
            <a:ext cx="133350" cy="1333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716500" y="1523999"/>
            <a:ext cx="133350" cy="13335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85560" y="2049780"/>
            <a:ext cx="9925050" cy="57626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5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KRO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37310" y="1049655"/>
            <a:ext cx="3810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08 / KRO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143500"/>
            <a:ext cx="16002000" cy="1676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 dirty="0">
                <a:solidFill>
                  <a:srgbClr val="FFFFFF"/>
                </a:solidFill>
                <a:latin typeface="Inter Black"/>
              </a:rPr>
              <a:t>KRO.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7372350"/>
            <a:ext cx="16002000" cy="7239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0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ONE CR. MANY RESOURCES.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2CB28D6-1B60-ABD6-A481-3E8B44455A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37310" y="1049655"/>
            <a:ext cx="3810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08 / KRO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54704"/>
            <a:ext cx="16002000" cy="6191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Inter Black"/>
              </a:rPr>
              <a:t>WHAT WE'RE BUILDING.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68705"/>
            <a:ext cx="16002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spc="150" dirty="0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DEVELOPER WRITES 3 FIELDS  →  KRO COMPOSES NAMESPACE + </a:t>
            </a:r>
            <a:r>
              <a:rPr sz="1600" b="0" spc="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RBAC</a:t>
            </a:r>
            <a:r>
              <a:rPr sz="1600" b="0" spc="150" dirty="0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 + AZURE STORAGE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5606414"/>
            <a:ext cx="4857750" cy="2857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3000" y="5606414"/>
            <a:ext cx="4857750" cy="4762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242060" y="5751194"/>
            <a:ext cx="4476750" cy="152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spc="225" dirty="0">
                <a:solidFill>
                  <a:srgbClr val="888888"/>
                </a:solidFill>
                <a:latin typeface="Inter Bold"/>
              </a:rPr>
              <a:t>DEVELOPER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60" y="6184714"/>
            <a:ext cx="447675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FFFFFF"/>
                </a:solidFill>
                <a:latin typeface="Inter ExtraBold"/>
              </a:rPr>
              <a:t>MyApp</a:t>
            </a:r>
            <a:r>
              <a:rPr sz="2000" b="1" dirty="0">
                <a:solidFill>
                  <a:srgbClr val="FFFFFF"/>
                </a:solidFill>
                <a:latin typeface="Inter ExtraBold"/>
              </a:rPr>
              <a:t> instance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2060" y="6681385"/>
            <a:ext cx="4476750" cy="1904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3 fields. name + team + size. No Azure, no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Inter"/>
              </a:rPr>
              <a:t>RBAC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, no resource groups.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38925" y="5606414"/>
            <a:ext cx="4857750" cy="2857500"/>
          </a:xfrm>
          <a:prstGeom prst="rect">
            <a:avLst/>
          </a:prstGeom>
          <a:solidFill>
            <a:srgbClr val="111111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38925" y="5606414"/>
            <a:ext cx="4857750" cy="4762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6737984" y="5751194"/>
            <a:ext cx="4476750" cy="152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spc="225">
                <a:solidFill>
                  <a:srgbClr val="8B5CF6"/>
                </a:solidFill>
                <a:latin typeface="Inter Bold"/>
              </a:rPr>
              <a:t>KRO RESOURCEGRAPHDEF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7984" y="6184714"/>
            <a:ext cx="447675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 ExtraBold"/>
              </a:rPr>
              <a:t>Platform team's template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7984" y="6681385"/>
            <a:ext cx="4476750" cy="1904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Defines namespace,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Inter"/>
              </a:rPr>
              <a:t>RoleBinding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, and ASO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Inter"/>
              </a:rPr>
              <a:t>StorageAccount</a:t>
            </a: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. All consistently named and wired.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34850" y="5606414"/>
            <a:ext cx="4857750" cy="2857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134850" y="5606414"/>
            <a:ext cx="4857750" cy="47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12233910" y="5751194"/>
            <a:ext cx="4476750" cy="152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spc="225">
                <a:solidFill>
                  <a:srgbClr val="10B981"/>
                </a:solidFill>
                <a:latin typeface="Inter Bold"/>
              </a:rPr>
              <a:t>KUBERNETES + AZURE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33910" y="6184714"/>
            <a:ext cx="447675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 ExtraBold"/>
              </a:rPr>
              <a:t>3 resources instantly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33910" y="6681385"/>
            <a:ext cx="447675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chemeClr val="bg1">
                    <a:lumMod val="95000"/>
                  </a:schemeClr>
                </a:solidFill>
                <a:latin typeface="Inter"/>
              </a:rPr>
              <a:t>— Kubernetes Namespace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33910" y="7049827"/>
            <a:ext cx="447675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— Kubernetes </a:t>
            </a:r>
            <a:r>
              <a:rPr sz="2000" b="0" dirty="0" err="1">
                <a:solidFill>
                  <a:schemeClr val="bg1">
                    <a:lumMod val="95000"/>
                  </a:schemeClr>
                </a:solidFill>
                <a:latin typeface="Inter"/>
              </a:rPr>
              <a:t>RoleBinding</a:t>
            </a:r>
            <a:endParaRPr sz="2000" b="0" dirty="0">
              <a:solidFill>
                <a:schemeClr val="bg1">
                  <a:lumMod val="95000"/>
                </a:schemeClr>
              </a:solidFill>
              <a:latin typeface="Inte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233910" y="7442983"/>
            <a:ext cx="447675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78D4"/>
                </a:solidFill>
                <a:latin typeface="Inter"/>
              </a:rPr>
              <a:t>— Azure Storage Account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3263" y="6703694"/>
            <a:ext cx="285750" cy="2857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chemeClr val="tx1">
                    <a:lumMod val="50000"/>
                    <a:lumOff val="50000"/>
                  </a:schemeClr>
                </a:solidFill>
                <a:latin typeface="Inter Bold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29188" y="6703694"/>
            <a:ext cx="285750" cy="2857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Inter Bold"/>
              </a:rPr>
              <a:t>→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015D9C49-58EC-3B16-D4A5-4FD0B6884E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42560" y="716280"/>
            <a:ext cx="8886825" cy="53054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5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RGD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08 / KRO  · 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90888"/>
            <a:ext cx="16002000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 dirty="0">
                <a:solidFill>
                  <a:srgbClr val="FFFFFF"/>
                </a:solidFill>
                <a:latin typeface="Inter Black"/>
              </a:rPr>
              <a:t>THREE FIELDS.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735830"/>
            <a:ext cx="16002000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>
                <a:solidFill>
                  <a:srgbClr val="FFFFFF"/>
                </a:solidFill>
                <a:latin typeface="Inter Black"/>
              </a:rPr>
              <a:t>THREE RESOURCES.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308408"/>
            <a:ext cx="16002000" cy="4762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chemeClr val="bg1">
                    <a:lumMod val="95000"/>
                  </a:schemeClr>
                </a:solidFill>
                <a:latin typeface="Inter Black"/>
              </a:rPr>
              <a:t>NAMESPACE + </a:t>
            </a:r>
            <a:r>
              <a:rPr sz="2700" b="1" dirty="0" err="1">
                <a:solidFill>
                  <a:schemeClr val="bg1">
                    <a:lumMod val="95000"/>
                  </a:schemeClr>
                </a:solidFill>
                <a:latin typeface="Inter Black"/>
              </a:rPr>
              <a:t>RBAC</a:t>
            </a:r>
            <a:r>
              <a:rPr sz="2700" b="1" dirty="0">
                <a:solidFill>
                  <a:schemeClr val="bg1">
                    <a:lumMod val="95000"/>
                  </a:schemeClr>
                </a:solidFill>
                <a:latin typeface="Inter Black"/>
              </a:rPr>
              <a:t> + AZURE. ONE GIT COMMIT.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7431405"/>
            <a:ext cx="2066924" cy="5334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76350" y="7564754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5705" y="7557278"/>
            <a:ext cx="1524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Inter Bold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7815" y="7570284"/>
            <a:ext cx="140970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Inter ExtraBold"/>
              </a:rPr>
              <a:t>PLATFORM RGD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7431405"/>
            <a:ext cx="2266950" cy="5334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790950" y="7564754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00305" y="7557278"/>
            <a:ext cx="1524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Inter Bold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2415" y="7570284"/>
            <a:ext cx="161925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 ExtraBold"/>
              </a:rPr>
              <a:t>MYAPP INSTANCE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2225" y="7431405"/>
            <a:ext cx="2486025" cy="5334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05575" y="7564754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1756" y="7557278"/>
            <a:ext cx="17145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Inter Bol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7040" y="7570284"/>
            <a:ext cx="182880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 ExtraBold"/>
              </a:rPr>
              <a:t>K8S + AZURE READY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7B5BBEA3-2112-8605-6CB0-A11482D6F5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19060" y="1859280"/>
            <a:ext cx="9144000" cy="53054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500" b="1">
                <a:solidFill>
                  <a:srgbClr val="000000">
                    <a:alpha val="3000"/>
                  </a:srgbClr>
                </a:solidFill>
                <a:latin typeface="Inter Black"/>
              </a:rPr>
              <a:t>KRO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3810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888888"/>
                </a:solidFill>
                <a:latin typeface="Inter SemiBold"/>
              </a:rPr>
              <a:t>08 / KRO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84222"/>
            <a:ext cx="16002000" cy="5524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dirty="0">
                <a:solidFill>
                  <a:srgbClr val="000000"/>
                </a:solidFill>
                <a:latin typeface="Inter Black"/>
              </a:rPr>
              <a:t>COMPOSE WITHOUT COMPLEXITY.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009746"/>
            <a:ext cx="16002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spc="75" dirty="0">
                <a:solidFill>
                  <a:srgbClr val="AAAAAA"/>
                </a:solidFill>
                <a:latin typeface="Inter SemiBold"/>
              </a:rPr>
              <a:t>THREE THINGS KRO GETS RIGHT.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5046345"/>
            <a:ext cx="16002000" cy="8001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71600" y="5274945"/>
            <a:ext cx="342900" cy="34290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09319" y="5289042"/>
            <a:ext cx="1524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FFFFFF"/>
                </a:solidFill>
                <a:latin typeface="Inter 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3560" y="5143500"/>
            <a:ext cx="13906499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Inter ExtraBold"/>
              </a:rPr>
              <a:t>FAST TO ADOPT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3560" y="5438775"/>
            <a:ext cx="13906499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66666"/>
                </a:solidFill>
                <a:latin typeface="Inter"/>
              </a:rPr>
              <a:t>The ResourceGraphDefinition format is straightforward. Write a template in an afternoon, not a sprint.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6075045"/>
            <a:ext cx="16002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371600" y="6303645"/>
            <a:ext cx="342900" cy="34290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97127" y="6305551"/>
            <a:ext cx="1524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FFFFFF"/>
                </a:solidFill>
                <a:latin typeface="Inter 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3560" y="6172201"/>
            <a:ext cx="13906499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Inter ExtraBold"/>
              </a:rPr>
              <a:t>TRANSPARENT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3560" y="6467476"/>
            <a:ext cx="13906499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66666"/>
                </a:solidFill>
                <a:latin typeface="Inter"/>
              </a:rPr>
              <a:t>Composition, not abstraction. You see exactly what was created. No magic provider layer.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179944"/>
            <a:ext cx="16002000" cy="8001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371600" y="7408544"/>
            <a:ext cx="342900" cy="34290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97127" y="7410449"/>
            <a:ext cx="1524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FFFFFF"/>
                </a:solidFill>
                <a:latin typeface="Inter 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3560" y="7277099"/>
            <a:ext cx="13906499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Inter ExtraBold"/>
              </a:rPr>
              <a:t>PAIRS WITH ASO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3560" y="7572374"/>
            <a:ext cx="13906499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66666"/>
                </a:solidFill>
                <a:latin typeface="Inter"/>
              </a:rPr>
              <a:t>KRO handles app assembly; ASO handles Azure provisioning. A complete story without needing Crossplane.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284843"/>
            <a:ext cx="16002000" cy="666749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80160" y="8526207"/>
            <a:ext cx="4695825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50">
                <a:solidFill>
                  <a:srgbClr val="FFFFFF"/>
                </a:solidFill>
                <a:latin typeface="Inter Bold"/>
              </a:rPr>
              <a:t>NEED FULL CLOUD ABSTRACTION OR MULTI-CLOUD?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1641" y="8526207"/>
            <a:ext cx="32385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spc="75" dirty="0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→  </a:t>
            </a:r>
            <a:r>
              <a:rPr sz="1200" b="0" spc="75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CROSSPLANE</a:t>
            </a:r>
            <a:r>
              <a:rPr sz="1200" b="0" spc="75" dirty="0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 HANDLES THAT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37C44269-D223-3A93-7923-A57BD04B87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954500" y="1523999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35500" y="1523999"/>
            <a:ext cx="133350" cy="1333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716500" y="1523999"/>
            <a:ext cx="133350" cy="13335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37560" y="2049780"/>
            <a:ext cx="15392399" cy="57626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500" b="1" dirty="0">
                <a:solidFill>
                  <a:srgbClr val="FFFFFF">
                    <a:alpha val="5000"/>
                  </a:srgbClr>
                </a:solidFill>
                <a:latin typeface="Inter Black"/>
              </a:rPr>
              <a:t>TERRA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09 / TERRANETES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669155"/>
            <a:ext cx="16002000" cy="15049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0" b="1" dirty="0" err="1">
                <a:solidFill>
                  <a:srgbClr val="FFFFFF"/>
                </a:solidFill>
                <a:latin typeface="Inter Black"/>
              </a:rPr>
              <a:t>TERRANETES</a:t>
            </a:r>
            <a:r>
              <a:rPr sz="13500" b="1" dirty="0">
                <a:solidFill>
                  <a:srgbClr val="FFFFFF"/>
                </a:solidFill>
                <a:latin typeface="Inter Blac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6669405"/>
            <a:ext cx="16002000" cy="5524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dirty="0">
                <a:solidFill>
                  <a:schemeClr val="bg1">
                    <a:lumMod val="95000"/>
                  </a:schemeClr>
                </a:solidFill>
                <a:latin typeface="Inter Black"/>
              </a:rPr>
              <a:t>YOUR TERRAFORM. OUR CONTROL PLANE.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991F2FB-32A5-AA0B-A366-DA60D27F79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09 / TERRANETES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54704"/>
            <a:ext cx="16002000" cy="6191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Inter Black"/>
              </a:rPr>
              <a:t>WHAT WE'RE BUILDING.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40528"/>
            <a:ext cx="16002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spc="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CLOUDRESOURCE</a:t>
            </a:r>
            <a:r>
              <a:rPr sz="2000" b="0" spc="150" dirty="0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 CR  →  </a:t>
            </a:r>
            <a:r>
              <a:rPr sz="2000" b="0" spc="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OPENTOFU</a:t>
            </a:r>
            <a:r>
              <a:rPr sz="2000" b="0" spc="150" dirty="0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 JOB  →  AZURE + GITHUB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5874456"/>
            <a:ext cx="4857750" cy="2857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3000" y="5874456"/>
            <a:ext cx="4857750" cy="571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242060" y="6028761"/>
            <a:ext cx="4476750" cy="152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spc="225" dirty="0">
                <a:solidFill>
                  <a:srgbClr val="999999"/>
                </a:solidFill>
                <a:latin typeface="Inter Bold"/>
              </a:rPr>
              <a:t>DEVELOPER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60" y="6537778"/>
            <a:ext cx="447675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 ExtraBold"/>
              </a:rPr>
              <a:t>CloudResource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2060" y="7104304"/>
            <a:ext cx="4476750" cy="1904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Points to a Terraform module in Git with variable values. No HCL needed from the developer.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38925" y="5874456"/>
            <a:ext cx="4857750" cy="2857500"/>
          </a:xfrm>
          <a:prstGeom prst="rect">
            <a:avLst/>
          </a:prstGeom>
          <a:solidFill>
            <a:srgbClr val="111111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38925" y="5874456"/>
            <a:ext cx="485775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6737984" y="6028761"/>
            <a:ext cx="4476750" cy="152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spc="225">
                <a:solidFill>
                  <a:srgbClr val="10B981"/>
                </a:solidFill>
                <a:latin typeface="Inter Bold"/>
              </a:rPr>
              <a:t>TERRANETES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7984" y="6537778"/>
            <a:ext cx="447675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 ExtraBold"/>
              </a:rPr>
              <a:t>Runs OpenTofu as a Job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7984" y="7104304"/>
            <a:ext cx="4476750" cy="1904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Inter"/>
              </a:rPr>
              <a:t>1000+ Terraform providers. Policy gate before apply. State in Kubernetes Secrets.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34850" y="5874456"/>
            <a:ext cx="4857750" cy="2857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134850" y="5874456"/>
            <a:ext cx="485775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12233910" y="6028761"/>
            <a:ext cx="4476750" cy="152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spc="225">
                <a:solidFill>
                  <a:srgbClr val="10B981"/>
                </a:solidFill>
                <a:latin typeface="Inter Bold"/>
              </a:rPr>
              <a:t>CLOUD RESOURCES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33910" y="6537778"/>
            <a:ext cx="447675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Inter ExtraBold"/>
              </a:rPr>
              <a:t>2 from 1 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33910" y="7009054"/>
            <a:ext cx="447675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78D4"/>
                </a:solidFill>
                <a:latin typeface="Inter"/>
              </a:rPr>
              <a:t>— Azure Resource 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33910" y="7471228"/>
            <a:ext cx="447675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9F7AEA"/>
                </a:solidFill>
                <a:latin typeface="Inter"/>
              </a:rPr>
              <a:t>— GitHub Repository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2506" y="6971736"/>
            <a:ext cx="285750" cy="2857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chemeClr val="bg1">
                    <a:lumMod val="95000"/>
                  </a:schemeClr>
                </a:solidFill>
                <a:latin typeface="Inter Bold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78431" y="6971736"/>
            <a:ext cx="285750" cy="2857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chemeClr val="bg1">
                    <a:lumMod val="95000"/>
                  </a:schemeClr>
                </a:solidFill>
                <a:latin typeface="Inter Bold"/>
              </a:rPr>
              <a:t>→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0BAB9DEF-D18E-B72B-C263-716F0BBDD4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71060" y="716280"/>
            <a:ext cx="11296650" cy="53054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5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TOFU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09 / TERRANETES  · 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90888"/>
            <a:ext cx="16002000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 dirty="0">
                <a:solidFill>
                  <a:srgbClr val="FFFFFF"/>
                </a:solidFill>
                <a:latin typeface="Inter Black"/>
              </a:rPr>
              <a:t>YOUR MODULES.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735830"/>
            <a:ext cx="16002000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 dirty="0">
                <a:solidFill>
                  <a:srgbClr val="FFFFFF"/>
                </a:solidFill>
                <a:latin typeface="Inter Black"/>
              </a:rPr>
              <a:t>OUR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311743"/>
            <a:ext cx="16002000" cy="4762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1000+ PROVIDERS. NO REWRITE. KUBERNETES-NATIVE.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7744777"/>
            <a:ext cx="2762249" cy="533400"/>
          </a:xfrm>
          <a:prstGeom prst="roundRect">
            <a:avLst>
              <a:gd name="adj" fmla="val 21428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76350" y="7878126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23909" y="7891890"/>
            <a:ext cx="190499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Inter Bold"/>
              </a:rPr>
              <a:t>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6860" y="7870126"/>
            <a:ext cx="2105024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Inter ExtraBold"/>
              </a:rPr>
              <a:t>CLOUDRESOURCE</a:t>
            </a:r>
            <a:r>
              <a:rPr sz="1200" b="1" dirty="0">
                <a:solidFill>
                  <a:srgbClr val="FFFFFF"/>
                </a:solidFill>
                <a:latin typeface="Inter ExtraBold"/>
              </a:rPr>
              <a:t> YAML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2924" y="7744777"/>
            <a:ext cx="2552700" cy="533400"/>
          </a:xfrm>
          <a:prstGeom prst="roundRect">
            <a:avLst>
              <a:gd name="adj" fmla="val 21428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86275" y="7878126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43359" y="7891890"/>
            <a:ext cx="190499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Inter Bold"/>
              </a:rPr>
              <a:t>TF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6784" y="7870126"/>
            <a:ext cx="1895475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Inter ExtraBold"/>
              </a:rPr>
              <a:t>OPENTOFU</a:t>
            </a:r>
            <a:r>
              <a:rPr sz="1200" b="1" dirty="0">
                <a:solidFill>
                  <a:srgbClr val="FFFFFF"/>
                </a:solidFill>
                <a:latin typeface="Inter ExtraBold"/>
              </a:rPr>
              <a:t> JOB RUNS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3300" y="7744777"/>
            <a:ext cx="2781300" cy="533400"/>
          </a:xfrm>
          <a:prstGeom prst="roundRect">
            <a:avLst>
              <a:gd name="adj" fmla="val 21428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86650" y="7878126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42835" y="7866012"/>
            <a:ext cx="17145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Inter Bol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7159" y="7870126"/>
            <a:ext cx="2124075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 ExtraBold"/>
              </a:rPr>
              <a:t>AZURE + GITHUB READY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E9900EDB-AD87-E5E0-3D78-BA4F347877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Rectangle 3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3337560" y="1859280"/>
            <a:ext cx="14173200" cy="53054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1400" b="1" dirty="0">
                <a:solidFill>
                  <a:srgbClr val="000000">
                    <a:alpha val="3000"/>
                  </a:srgbClr>
                </a:solidFill>
                <a:latin typeface="Inter Black"/>
              </a:rPr>
              <a:t>TERRA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spc="300">
                <a:solidFill>
                  <a:srgbClr val="888888"/>
                </a:solidFill>
                <a:latin typeface="Inter SemiBold"/>
              </a:rPr>
              <a:t>09 / TERRANETES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92704"/>
            <a:ext cx="16002000" cy="5524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00000"/>
                </a:solidFill>
                <a:latin typeface="Inter Black"/>
              </a:rPr>
              <a:t>MEET TEAMS WHERE THEY 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53259"/>
            <a:ext cx="16002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spc="75" dirty="0">
                <a:solidFill>
                  <a:srgbClr val="AAAAAA"/>
                </a:solidFill>
                <a:latin typeface="Inter SemiBold"/>
              </a:rPr>
              <a:t>THREE THINGS </a:t>
            </a:r>
            <a:r>
              <a:rPr sz="2400" b="0" spc="75" dirty="0" err="1">
                <a:solidFill>
                  <a:srgbClr val="AAAAAA"/>
                </a:solidFill>
                <a:latin typeface="Inter SemiBold"/>
              </a:rPr>
              <a:t>TERRANETES</a:t>
            </a:r>
            <a:r>
              <a:rPr sz="2400" b="0" spc="75" dirty="0">
                <a:solidFill>
                  <a:srgbClr val="AAAAAA"/>
                </a:solidFill>
                <a:latin typeface="Inter SemiBold"/>
              </a:rPr>
              <a:t> GETS RIGHT.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4926852"/>
            <a:ext cx="16002000" cy="8001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1371600" y="5155452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1394874" y="5157357"/>
            <a:ext cx="1524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FFFFFF"/>
                </a:solidFill>
                <a:latin typeface="Inter 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3560" y="5024007"/>
            <a:ext cx="13906499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Inter ExtraBold"/>
              </a:rPr>
              <a:t>NO REWRITE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3560" y="5319282"/>
            <a:ext cx="13906499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44444"/>
                </a:solidFill>
                <a:latin typeface="Inter"/>
              </a:rPr>
              <a:t>Existing Terraform modules work as-is. Teams keep writing HCL. The platform wraps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5953414"/>
            <a:ext cx="16002000" cy="800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ectangle 15"/>
          <p:cNvSpPr/>
          <p:nvPr/>
        </p:nvSpPr>
        <p:spPr>
          <a:xfrm>
            <a:off x="1371600" y="618201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1384935" y="6173981"/>
            <a:ext cx="1524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FFFFFF"/>
                </a:solidFill>
                <a:latin typeface="Inter 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3560" y="6050570"/>
            <a:ext cx="13906499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Inter ExtraBold"/>
              </a:rPr>
              <a:t>POLICY GATES BUILT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3560" y="6345845"/>
            <a:ext cx="13906499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444444"/>
                </a:solidFill>
                <a:latin typeface="Inter"/>
              </a:rPr>
              <a:t>Require approval before any apply. Restrict modules. Enforce cost controls in Kubernetes, not CI scripts.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999539"/>
            <a:ext cx="16002000" cy="8001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Rectangle 20"/>
          <p:cNvSpPr/>
          <p:nvPr/>
        </p:nvSpPr>
        <p:spPr>
          <a:xfrm>
            <a:off x="1371600" y="7228139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1384935" y="7220105"/>
            <a:ext cx="1524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 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3560" y="7096694"/>
            <a:ext cx="13906499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Inter ExtraBold"/>
              </a:rPr>
              <a:t>GRADUAL MIGRATION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3560" y="7391969"/>
            <a:ext cx="13906499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444444"/>
                </a:solidFill>
                <a:latin typeface="Inter"/>
              </a:rPr>
              <a:t>Easier start</a:t>
            </a:r>
            <a:r>
              <a:rPr sz="1600" b="0" dirty="0">
                <a:solidFill>
                  <a:srgbClr val="444444"/>
                </a:solidFill>
                <a:latin typeface="Inter"/>
              </a:rPr>
              <a:t>. Migrate specific resources to ASO or </a:t>
            </a:r>
            <a:r>
              <a:rPr sz="1600" b="0" dirty="0" err="1">
                <a:solidFill>
                  <a:srgbClr val="444444"/>
                </a:solidFill>
                <a:latin typeface="Inter"/>
              </a:rPr>
              <a:t>Crossplane</a:t>
            </a:r>
            <a:r>
              <a:rPr sz="1600" b="0" dirty="0">
                <a:solidFill>
                  <a:srgbClr val="444444"/>
                </a:solidFill>
                <a:latin typeface="Inter"/>
              </a:rPr>
              <a:t> as they mature</a:t>
            </a:r>
            <a:r>
              <a:rPr lang="en-US" sz="1600" b="0" dirty="0">
                <a:solidFill>
                  <a:srgbClr val="444444"/>
                </a:solidFill>
                <a:latin typeface="Inter"/>
              </a:rPr>
              <a:t>,</a:t>
            </a:r>
            <a:r>
              <a:rPr sz="1600" b="0" dirty="0">
                <a:solidFill>
                  <a:srgbClr val="444444"/>
                </a:solidFill>
                <a:latin typeface="Inter"/>
              </a:rPr>
              <a:t> driven by real need.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86202"/>
            <a:ext cx="16002000" cy="65722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1276350" y="8307346"/>
            <a:ext cx="2238375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50" dirty="0">
                <a:solidFill>
                  <a:srgbClr val="FFFFFF"/>
                </a:solidFill>
                <a:latin typeface="Inter Bold"/>
              </a:rPr>
              <a:t>NO EXISTING TERRAFORM?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2452" y="8307346"/>
            <a:ext cx="47625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spc="75" dirty="0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→  START DIRECTLY WITH ASO OR </a:t>
            </a:r>
            <a:r>
              <a:rPr sz="1200" b="0" spc="75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CROSSPLANE</a:t>
            </a:r>
            <a:endParaRPr sz="1200" b="0" spc="75" dirty="0">
              <a:solidFill>
                <a:schemeClr val="tx1">
                  <a:lumMod val="50000"/>
                  <a:lumOff val="50000"/>
                </a:schemeClr>
              </a:solidFill>
              <a:latin typeface="Inter SemiBold"/>
            </a:endParaRP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FBFB9607-5531-6FB0-192F-056FFF0B18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954500" y="1523999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35500" y="1523999"/>
            <a:ext cx="133350" cy="1333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716500" y="1523999"/>
            <a:ext cx="133350" cy="13335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75560" y="2049780"/>
            <a:ext cx="13334999" cy="6095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500" b="1" dirty="0">
                <a:solidFill>
                  <a:srgbClr val="FFFFFF">
                    <a:alpha val="5000"/>
                  </a:srgbClr>
                </a:solidFill>
                <a:latin typeface="Inter Black"/>
              </a:rPr>
              <a:t>YOURS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10 / SOVEREIGNTY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810124"/>
            <a:ext cx="16002000" cy="15049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0" b="1" dirty="0">
                <a:solidFill>
                  <a:srgbClr val="FFFFFF"/>
                </a:solidFill>
                <a:latin typeface="Inter Black"/>
              </a:rPr>
              <a:t>YOUR API.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6810374"/>
            <a:ext cx="16002000" cy="5524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YOUR STATE. YOUR AUDIT TRAIL.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504812A-230E-5F58-CAE9-03C1FC13D2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497205"/>
            <a:ext cx="6858000" cy="6095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500" b="1" dirty="0">
                <a:solidFill>
                  <a:srgbClr val="000000">
                    <a:alpha val="3000"/>
                  </a:srgbClr>
                </a:solidFill>
                <a:latin typeface="Inter Black"/>
              </a:rPr>
              <a:t>AI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888888"/>
                </a:solidFill>
                <a:latin typeface="Inter SemiBold"/>
              </a:rPr>
              <a:t>10 / AI +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92704"/>
            <a:ext cx="16002000" cy="5524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00000"/>
                </a:solidFill>
                <a:latin typeface="Inter Black"/>
              </a:rPr>
              <a:t>AI WRITES THE YAML.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86150"/>
            <a:ext cx="16002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pc="75" dirty="0">
                <a:solidFill>
                  <a:srgbClr val="AAAAAA"/>
                </a:solidFill>
                <a:latin typeface="Inter SemiBold"/>
              </a:rPr>
              <a:t>THE PLATFORM DECIDES WHAT RUNS.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4758690"/>
            <a:ext cx="16002000" cy="800100"/>
          </a:xfrm>
          <a:prstGeom prst="roundRect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71600" y="4987290"/>
            <a:ext cx="342900" cy="342900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93248" y="4989195"/>
            <a:ext cx="1524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 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3560" y="4855845"/>
            <a:ext cx="13906499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Inter ExtraBold"/>
              </a:rPr>
              <a:t>AI ACCELERATES VELOCITY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3560" y="5151120"/>
            <a:ext cx="13906499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666666"/>
                </a:solidFill>
                <a:latin typeface="Inter"/>
              </a:rPr>
              <a:t>Developers generate more infrastructure requests, faster. Platforms built for ticket queues will break under that load.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5793104"/>
            <a:ext cx="16002000" cy="8001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371600" y="6021704"/>
            <a:ext cx="342900" cy="342900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93248" y="6023610"/>
            <a:ext cx="1524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 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3560" y="5890260"/>
            <a:ext cx="13906499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Inter ExtraBold"/>
              </a:rPr>
              <a:t>PLATFORMS NEED GUARDRAILS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3560" y="6185535"/>
            <a:ext cx="13906499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Inter"/>
              </a:rPr>
              <a:t>Self-service CRs. Automatic policy gates. GitOps audit trails. Scales linearly with developer velocity.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827518"/>
            <a:ext cx="16002000" cy="800100"/>
          </a:xfrm>
          <a:prstGeom prst="roundRect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371600" y="7056118"/>
            <a:ext cx="342900" cy="342900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93248" y="7058023"/>
            <a:ext cx="1524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 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3560" y="6924673"/>
            <a:ext cx="13906499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Inter ExtraBold"/>
              </a:rPr>
              <a:t>AI BUILDS THE PLATFORM TOO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3560" y="7219948"/>
            <a:ext cx="13906499" cy="30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666666"/>
                </a:solidFill>
                <a:latin typeface="Inter"/>
              </a:rPr>
              <a:t>Crossplane Compositions, KRO </a:t>
            </a:r>
            <a:r>
              <a:rPr sz="1400" b="0" dirty="0" err="1">
                <a:solidFill>
                  <a:srgbClr val="666666"/>
                </a:solidFill>
                <a:latin typeface="Inter"/>
              </a:rPr>
              <a:t>ResourceGroups</a:t>
            </a:r>
            <a:r>
              <a:rPr sz="1400" b="0" dirty="0">
                <a:solidFill>
                  <a:srgbClr val="666666"/>
                </a:solidFill>
                <a:latin typeface="Inter"/>
              </a:rPr>
              <a:t>, </a:t>
            </a:r>
            <a:r>
              <a:rPr sz="1400" b="0" dirty="0" err="1">
                <a:solidFill>
                  <a:srgbClr val="666666"/>
                </a:solidFill>
                <a:latin typeface="Inter"/>
              </a:rPr>
              <a:t>Terranetes</a:t>
            </a:r>
            <a:r>
              <a:rPr sz="1400" b="0" dirty="0">
                <a:solidFill>
                  <a:srgbClr val="666666"/>
                </a:solidFill>
                <a:latin typeface="Inter"/>
              </a:rPr>
              <a:t> policies</a:t>
            </a:r>
            <a:r>
              <a:rPr lang="en-US" sz="1400" b="0" dirty="0">
                <a:solidFill>
                  <a:srgbClr val="666666"/>
                </a:solidFill>
                <a:latin typeface="Inter"/>
              </a:rPr>
              <a:t>,</a:t>
            </a:r>
            <a:r>
              <a:rPr sz="1400" b="0" dirty="0">
                <a:solidFill>
                  <a:srgbClr val="666666"/>
                </a:solidFill>
                <a:latin typeface="Inter"/>
              </a:rPr>
              <a:t> well-structured schemas AI is very good at generating.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7856220"/>
            <a:ext cx="16002000" cy="571500"/>
          </a:xfrm>
          <a:prstGeom prst="roundRect">
            <a:avLst>
              <a:gd name="adj" fmla="val 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80160" y="8033210"/>
            <a:ext cx="32385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50">
                <a:solidFill>
                  <a:srgbClr val="FFFFFF"/>
                </a:solidFill>
                <a:latin typeface="Inter Bold"/>
              </a:rPr>
              <a:t>THE BOTTLENECK ISN'T THE DEVELOPER.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2951" y="8033210"/>
            <a:ext cx="47625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spc="75" dirty="0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→  IT'S A PLATFORM THAT DOESN'T SCALE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F31CB2EF-4C61-4630-3FFA-AB455EA84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11 / THE WHOLE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17621"/>
            <a:ext cx="16002000" cy="6191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Inter Black"/>
              </a:rPr>
              <a:t>THE COMPLETE STACK.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628211"/>
            <a:ext cx="16002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spc="150" dirty="0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GIT  →  ARGO CD  →  KUBERNETES API  →  </a:t>
            </a:r>
            <a:r>
              <a:rPr lang="en-US" sz="2000" b="0" spc="150" dirty="0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4</a:t>
            </a:r>
            <a:r>
              <a:rPr sz="2000" b="0" spc="150" dirty="0">
                <a:solidFill>
                  <a:schemeClr val="tx1">
                    <a:lumMod val="50000"/>
                    <a:lumOff val="50000"/>
                  </a:schemeClr>
                </a:solidFill>
                <a:latin typeface="Inter SemiBold"/>
              </a:rPr>
              <a:t> TOOLS  →  AZURE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4932184"/>
            <a:ext cx="4857750" cy="2857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1143000" y="4932184"/>
            <a:ext cx="4857750" cy="4762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242060" y="5076964"/>
            <a:ext cx="4476750" cy="152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spc="225" dirty="0">
                <a:solidFill>
                  <a:srgbClr val="888888"/>
                </a:solidFill>
                <a:latin typeface="Inter Bold"/>
              </a:rPr>
              <a:t>SOURCE OF TRUTH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60" y="5545587"/>
            <a:ext cx="447675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Inter ExtraBold"/>
              </a:rPr>
              <a:t>Git + Argo 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2060" y="6042796"/>
            <a:ext cx="4476750" cy="1904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chemeClr val="bg1"/>
                </a:solidFill>
                <a:latin typeface="Inter"/>
              </a:rPr>
              <a:t>Every intent starts as a commit. Argo CD continuously reconciles the cluster to match the Git state.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38925" y="4932184"/>
            <a:ext cx="4857750" cy="2857500"/>
          </a:xfrm>
          <a:prstGeom prst="rect">
            <a:avLst/>
          </a:prstGeom>
          <a:solidFill>
            <a:srgbClr val="111111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6638925" y="4932184"/>
            <a:ext cx="4857750" cy="4762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6737984" y="5076964"/>
            <a:ext cx="4476750" cy="152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spc="225" dirty="0">
                <a:solidFill>
                  <a:srgbClr val="6366F1"/>
                </a:solidFill>
                <a:latin typeface="Inter Bold"/>
              </a:rPr>
              <a:t>THE CONTROL PLANE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7984" y="5545587"/>
            <a:ext cx="447675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 ExtraBold"/>
              </a:rPr>
              <a:t>Kubernetes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7984" y="6042796"/>
            <a:ext cx="4476750" cy="1904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chemeClr val="bg1"/>
                </a:solidFill>
                <a:latin typeface="Inter"/>
              </a:rPr>
              <a:t>The unified entry point for every team, tool, and automation. One API. One audit trail. Yours.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34850" y="4932184"/>
            <a:ext cx="4857750" cy="2857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Rectangle 19"/>
          <p:cNvSpPr/>
          <p:nvPr/>
        </p:nvSpPr>
        <p:spPr>
          <a:xfrm>
            <a:off x="12134850" y="4932184"/>
            <a:ext cx="4857750" cy="47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12233910" y="5076964"/>
            <a:ext cx="4476750" cy="152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spc="225">
                <a:solidFill>
                  <a:srgbClr val="10B981"/>
                </a:solidFill>
                <a:latin typeface="Inter Bold"/>
              </a:rPr>
              <a:t>THE PROVISIONERS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33910" y="5545587"/>
            <a:ext cx="447675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Inter ExtraBold"/>
              </a:rPr>
              <a:t>Four tools. One Azure.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33910" y="5983698"/>
            <a:ext cx="447675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0078D4"/>
                </a:solidFill>
                <a:latin typeface="Inter"/>
              </a:rPr>
              <a:t>— ASO  ·  direct Azure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33910" y="6286440"/>
            <a:ext cx="447675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EF4444"/>
                </a:solidFill>
                <a:latin typeface="Inter"/>
              </a:rPr>
              <a:t>— </a:t>
            </a:r>
            <a:r>
              <a:rPr b="0" dirty="0" err="1">
                <a:solidFill>
                  <a:srgbClr val="EF4444"/>
                </a:solidFill>
                <a:latin typeface="Inter"/>
              </a:rPr>
              <a:t>Crossplane</a:t>
            </a:r>
            <a:r>
              <a:rPr b="0" dirty="0">
                <a:solidFill>
                  <a:srgbClr val="EF4444"/>
                </a:solidFill>
                <a:latin typeface="Inter"/>
              </a:rPr>
              <a:t>  ·  platform abstractions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33910" y="6900156"/>
            <a:ext cx="4476750" cy="190499"/>
          </a:xfrm>
          <a:prstGeom prst="rect">
            <a:avLst/>
          </a:prstGeom>
          <a:noFill/>
        </p:spPr>
        <p:txBody>
          <a:bodyPr wrap="none"/>
          <a:lstStyle/>
          <a:p>
            <a:r>
              <a:rPr b="0" dirty="0">
                <a:solidFill>
                  <a:srgbClr val="10B981"/>
                </a:solidFill>
                <a:latin typeface="Inter" panose="02000503000000020004" pitchFamily="2" charset="0"/>
                <a:ea typeface="Inter" panose="02000503000000020004" pitchFamily="2" charset="0"/>
              </a:rPr>
              <a:t>— </a:t>
            </a:r>
            <a:r>
              <a:rPr lang="en-US" b="0" dirty="0" err="1">
                <a:solidFill>
                  <a:srgbClr val="10B981"/>
                </a:solidFill>
                <a:latin typeface="Inter" panose="02000503000000020004" pitchFamily="2" charset="0"/>
                <a:ea typeface="Inter" panose="02000503000000020004" pitchFamily="2" charset="0"/>
              </a:rPr>
              <a:t>Terranetes</a:t>
            </a:r>
            <a:r>
              <a:rPr lang="en-US" b="0" dirty="0">
                <a:solidFill>
                  <a:srgbClr val="10B98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dirty="0">
                <a:solidFill>
                  <a:srgbClr val="10B98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·  Migration Path </a:t>
            </a:r>
            <a:br>
              <a:rPr lang="en-US" dirty="0">
                <a:solidFill>
                  <a:srgbClr val="10B98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dirty="0">
                <a:solidFill>
                  <a:srgbClr val="10B98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                          for existing platforms</a:t>
            </a:r>
            <a:endParaRPr b="0" dirty="0">
              <a:solidFill>
                <a:srgbClr val="10B98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99810" y="6029464"/>
            <a:ext cx="285750" cy="2857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Inter Bold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5735" y="6029464"/>
            <a:ext cx="285750" cy="2857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chemeClr val="tx1">
                    <a:lumMod val="50000"/>
                    <a:lumOff val="50000"/>
                  </a:schemeClr>
                </a:solidFill>
                <a:latin typeface="Inter Bold"/>
              </a:rPr>
              <a:t>→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674DD4-2A31-0C20-106C-FBA106132056}"/>
              </a:ext>
            </a:extLst>
          </p:cNvPr>
          <p:cNvSpPr txBox="1"/>
          <p:nvPr/>
        </p:nvSpPr>
        <p:spPr>
          <a:xfrm>
            <a:off x="12220575" y="6595357"/>
            <a:ext cx="4476750" cy="190499"/>
          </a:xfrm>
          <a:prstGeom prst="rect">
            <a:avLst/>
          </a:prstGeom>
          <a:noFill/>
        </p:spPr>
        <p:txBody>
          <a:bodyPr wrap="none"/>
          <a:lstStyle>
            <a:defPPr>
              <a:defRPr lang="en-US"/>
            </a:defPPr>
            <a:lvl1pPr>
              <a:defRPr sz="1600" b="0">
                <a:solidFill>
                  <a:srgbClr val="8B5CF6"/>
                </a:solidFill>
                <a:latin typeface="Inter"/>
              </a:defRPr>
            </a:lvl1pPr>
          </a:lstStyle>
          <a:p>
            <a:r>
              <a:rPr sz="1800" dirty="0"/>
              <a:t>— </a:t>
            </a:r>
            <a:r>
              <a:rPr lang="en-US" sz="1800" dirty="0"/>
              <a:t>KRO  ·  Orchestrations </a:t>
            </a:r>
            <a:endParaRPr sz="1800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716DA159-5015-FF75-32EF-AE60389FF9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1600" y="9504603"/>
            <a:ext cx="1257300" cy="310777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954500" y="1523999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35500" y="1523999"/>
            <a:ext cx="133350" cy="1333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716500" y="1523999"/>
            <a:ext cx="133350" cy="13335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67175" y="845712"/>
            <a:ext cx="13525500" cy="6095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7500" b="1" dirty="0">
                <a:solidFill>
                  <a:srgbClr val="FFFFFF">
                    <a:alpha val="5000"/>
                  </a:srgbClr>
                </a:solidFill>
                <a:latin typeface="Inter Black"/>
              </a:rPr>
              <a:t>PLATFORM</a:t>
            </a:r>
            <a:endParaRPr sz="37500" b="1" dirty="0">
              <a:solidFill>
                <a:srgbClr val="FFFFFF">
                  <a:alpha val="5000"/>
                </a:srgbClr>
              </a:solidFill>
              <a:latin typeface="Inter Black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1109182"/>
            <a:ext cx="16002000" cy="1333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0" b="1" dirty="0">
                <a:solidFill>
                  <a:srgbClr val="FFFFFF"/>
                </a:solidFill>
                <a:latin typeface="Inter Black"/>
              </a:rPr>
              <a:t>SELF SERVICE.</a:t>
            </a:r>
            <a:endParaRPr sz="12000" b="1" dirty="0">
              <a:solidFill>
                <a:srgbClr val="FFFFFF"/>
              </a:solidFill>
              <a:latin typeface="Inter Black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" y="6248875"/>
            <a:ext cx="16002000" cy="7239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00" b="1" dirty="0">
                <a:solidFill>
                  <a:schemeClr val="bg1">
                    <a:lumMod val="65000"/>
                  </a:schemeClr>
                </a:solidFill>
                <a:latin typeface="Inter Black"/>
              </a:rPr>
              <a:t>THANK YOU.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8C7C0A-FF45-CD25-88F8-B12DCE2B6D80}"/>
              </a:ext>
            </a:extLst>
          </p:cNvPr>
          <p:cNvSpPr txBox="1"/>
          <p:nvPr/>
        </p:nvSpPr>
        <p:spPr>
          <a:xfrm>
            <a:off x="1051560" y="2718906"/>
            <a:ext cx="16002000" cy="1333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0" b="1" dirty="0" err="1">
                <a:solidFill>
                  <a:srgbClr val="FFFFFF"/>
                </a:solidFill>
                <a:latin typeface="Inter Black"/>
              </a:rPr>
              <a:t>GITOPS</a:t>
            </a:r>
            <a:r>
              <a:rPr lang="en-US" sz="12000" b="1" dirty="0">
                <a:solidFill>
                  <a:srgbClr val="FFFFFF"/>
                </a:solidFill>
                <a:latin typeface="Inter Black"/>
              </a:rPr>
              <a:t>.</a:t>
            </a:r>
            <a:endParaRPr sz="12000" b="1" dirty="0">
              <a:solidFill>
                <a:srgbClr val="FFFFFF"/>
              </a:solidFill>
              <a:latin typeface="Inter Black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A11505-8E64-4EE2-C9DD-4E678979DA63}"/>
              </a:ext>
            </a:extLst>
          </p:cNvPr>
          <p:cNvSpPr txBox="1"/>
          <p:nvPr/>
        </p:nvSpPr>
        <p:spPr>
          <a:xfrm>
            <a:off x="1051560" y="4444837"/>
            <a:ext cx="16002000" cy="1333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0" b="1" dirty="0">
                <a:solidFill>
                  <a:srgbClr val="FFFFFF"/>
                </a:solidFill>
                <a:latin typeface="Inter Black"/>
              </a:rPr>
              <a:t>GOLDEN PATHS.</a:t>
            </a:r>
            <a:endParaRPr sz="12000" b="1" dirty="0">
              <a:solidFill>
                <a:srgbClr val="FFFFFF"/>
              </a:solidFill>
              <a:latin typeface="Inter Black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4F7A216-E72E-4D9A-4FD6-73CC7269A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5035" y="5143500"/>
            <a:ext cx="4492943" cy="449294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BA6335B-B85C-2CEA-90E7-97DB3C1851DE}"/>
              </a:ext>
            </a:extLst>
          </p:cNvPr>
          <p:cNvSpPr/>
          <p:nvPr/>
        </p:nvSpPr>
        <p:spPr>
          <a:xfrm>
            <a:off x="1143000" y="8031137"/>
            <a:ext cx="761999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D9B801-B42B-4684-E501-472A209D3190}"/>
              </a:ext>
            </a:extLst>
          </p:cNvPr>
          <p:cNvSpPr txBox="1"/>
          <p:nvPr/>
        </p:nvSpPr>
        <p:spPr>
          <a:xfrm>
            <a:off x="1051560" y="8090192"/>
            <a:ext cx="8572500" cy="4381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50" b="1" dirty="0">
                <a:solidFill>
                  <a:srgbClr val="FFFFFF"/>
                </a:solidFill>
                <a:latin typeface="Inter ExtraBold"/>
              </a:rPr>
              <a:t>Geert van der Cruijsen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C79080-C93D-7507-9B4B-9458B1C2D8F7}"/>
              </a:ext>
            </a:extLst>
          </p:cNvPr>
          <p:cNvSpPr txBox="1"/>
          <p:nvPr/>
        </p:nvSpPr>
        <p:spPr>
          <a:xfrm>
            <a:off x="1051560" y="8566442"/>
            <a:ext cx="857250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spc="75" dirty="0">
                <a:solidFill>
                  <a:srgbClr val="888888"/>
                </a:solidFill>
                <a:latin typeface="Inter"/>
              </a:rPr>
              <a:t>CEO &amp; Co-founder · Zure NL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ACDA2A31-66AF-2693-6E9A-5EC750CC7B6E}"/>
              </a:ext>
            </a:extLst>
          </p:cNvPr>
          <p:cNvSpPr txBox="1">
            <a:spLocks/>
          </p:cNvSpPr>
          <p:nvPr/>
        </p:nvSpPr>
        <p:spPr>
          <a:xfrm rot="21288925">
            <a:off x="6609897" y="8442303"/>
            <a:ext cx="2032788" cy="189483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noProof="0" dirty="0">
                <a:solidFill>
                  <a:schemeClr val="bg1"/>
                </a:solidFill>
                <a:latin typeface="Bradley Hand ITC" panose="020F0502020204030204" pitchFamily="34" charset="0"/>
                <a:cs typeface="Bradley Hand ITC" panose="020F0502020204030204" pitchFamily="34" charset="0"/>
              </a:rPr>
              <a:t>Or connect </a:t>
            </a:r>
          </a:p>
          <a:p>
            <a:r>
              <a:rPr lang="en-US" sz="2000" noProof="0" dirty="0">
                <a:solidFill>
                  <a:schemeClr val="bg1"/>
                </a:solidFill>
                <a:latin typeface="Bradley Hand ITC" panose="020F0502020204030204" pitchFamily="34" charset="0"/>
                <a:cs typeface="Bradley Hand ITC" panose="020F0502020204030204" pitchFamily="34" charset="0"/>
              </a:rPr>
              <a:t>on LinkedIn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9C8EE0D-7D79-90ED-0FB7-DB55DD6FD997}"/>
              </a:ext>
            </a:extLst>
          </p:cNvPr>
          <p:cNvSpPr txBox="1">
            <a:spLocks/>
          </p:cNvSpPr>
          <p:nvPr/>
        </p:nvSpPr>
        <p:spPr>
          <a:xfrm rot="669477">
            <a:off x="5943897" y="7680826"/>
            <a:ext cx="2032788" cy="189483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noProof="0" dirty="0">
                <a:solidFill>
                  <a:schemeClr val="bg1"/>
                </a:solidFill>
                <a:latin typeface="Bradley Hand ITC" panose="020F0502020204030204" pitchFamily="34" charset="0"/>
                <a:cs typeface="Bradley Hand ITC" panose="020F0502020204030204" pitchFamily="34" charset="0"/>
              </a:rPr>
              <a:t>Let’s Chat</a:t>
            </a:r>
          </a:p>
          <a:p>
            <a:r>
              <a:rPr lang="en-US" sz="2000" noProof="0" dirty="0">
                <a:solidFill>
                  <a:schemeClr val="bg1"/>
                </a:solidFill>
                <a:latin typeface="Bradley Hand ITC" panose="020F0502020204030204" pitchFamily="34" charset="0"/>
                <a:cs typeface="Bradley Hand ITC" panose="020F0502020204030204" pitchFamily="34" charset="0"/>
              </a:rPr>
              <a:t>afterwards!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70F2B793-6553-06E5-F11C-4D87E2ECF86E}"/>
              </a:ext>
            </a:extLst>
          </p:cNvPr>
          <p:cNvSpPr/>
          <p:nvPr/>
        </p:nvSpPr>
        <p:spPr>
          <a:xfrm rot="7232209">
            <a:off x="5526461" y="7689634"/>
            <a:ext cx="768192" cy="721105"/>
          </a:xfrm>
          <a:custGeom>
            <a:avLst/>
            <a:gdLst>
              <a:gd name="csX0" fmla="*/ 384096 w 768192"/>
              <a:gd name="csY0" fmla="*/ 0 h 721105"/>
              <a:gd name="csX1" fmla="*/ 768192 w 768192"/>
              <a:gd name="csY1" fmla="*/ 360553 h 721105"/>
              <a:gd name="csX2" fmla="*/ 384096 w 768192"/>
              <a:gd name="csY2" fmla="*/ 360553 h 721105"/>
              <a:gd name="csX3" fmla="*/ 384096 w 768192"/>
              <a:gd name="csY3" fmla="*/ 0 h 721105"/>
              <a:gd name="csX0" fmla="*/ 384096 w 768192"/>
              <a:gd name="csY0" fmla="*/ 0 h 721105"/>
              <a:gd name="csX1" fmla="*/ 768192 w 768192"/>
              <a:gd name="csY1" fmla="*/ 360553 h 7211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68192" h="721105" stroke="0" extrusionOk="0">
                <a:moveTo>
                  <a:pt x="384096" y="0"/>
                </a:moveTo>
                <a:cubicBezTo>
                  <a:pt x="589064" y="-4418"/>
                  <a:pt x="751454" y="167707"/>
                  <a:pt x="768192" y="360553"/>
                </a:cubicBezTo>
                <a:cubicBezTo>
                  <a:pt x="613079" y="341821"/>
                  <a:pt x="491421" y="346426"/>
                  <a:pt x="384096" y="360553"/>
                </a:cubicBezTo>
                <a:cubicBezTo>
                  <a:pt x="401233" y="254345"/>
                  <a:pt x="383513" y="88372"/>
                  <a:pt x="384096" y="0"/>
                </a:cubicBezTo>
                <a:close/>
              </a:path>
              <a:path w="768192" h="721105" fill="none" extrusionOk="0">
                <a:moveTo>
                  <a:pt x="384096" y="0"/>
                </a:moveTo>
                <a:cubicBezTo>
                  <a:pt x="615924" y="-40539"/>
                  <a:pt x="720043" y="154052"/>
                  <a:pt x="768192" y="360553"/>
                </a:cubicBezTo>
              </a:path>
              <a:path w="768192" h="721105" fill="none" stroke="0" extrusionOk="0">
                <a:moveTo>
                  <a:pt x="384096" y="0"/>
                </a:moveTo>
                <a:cubicBezTo>
                  <a:pt x="640140" y="20982"/>
                  <a:pt x="791497" y="164190"/>
                  <a:pt x="768192" y="360553"/>
                </a:cubicBezTo>
              </a:path>
            </a:pathLst>
          </a:custGeom>
          <a:ln w="127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59A746A4-95B1-BE99-0974-EC35B155AB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" y="9179167"/>
            <a:ext cx="2541270" cy="6281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2694</TotalTime>
  <Words>1901</Words>
  <Application>Microsoft Macintosh PowerPoint</Application>
  <PresentationFormat>Custom</PresentationFormat>
  <Paragraphs>497</Paragraphs>
  <Slides>48</Slides>
  <Notes>1</Notes>
  <HiddenSlides>1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Aptos</vt:lpstr>
      <vt:lpstr>Arial</vt:lpstr>
      <vt:lpstr>Bradley Hand ITC</vt:lpstr>
      <vt:lpstr>Calibri</vt:lpstr>
      <vt:lpstr>Inter</vt:lpstr>
      <vt:lpstr>Inter Black</vt:lpstr>
      <vt:lpstr>Inter Bold</vt:lpstr>
      <vt:lpstr>Inter ExtraBold</vt:lpstr>
      <vt:lpstr>Inter Medium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Geert van der Cruijsen</cp:lastModifiedBy>
  <cp:revision>18</cp:revision>
  <dcterms:created xsi:type="dcterms:W3CDTF">2013-01-27T09:14:16Z</dcterms:created>
  <dcterms:modified xsi:type="dcterms:W3CDTF">2026-05-13T11:24:32Z</dcterms:modified>
  <cp:category/>
</cp:coreProperties>
</file>