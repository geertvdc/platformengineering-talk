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5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304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sldSz cx="18288000" cy="10287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10B981"/>
    <a:srgbClr val="0078D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699"/>
    <p:restoredTop sz="94531"/>
  </p:normalViewPr>
  <p:slideViewPr>
    <p:cSldViewPr snapToGrid="0" snapToObjects="1">
      <p:cViewPr>
        <p:scale>
          <a:sx n="67" d="100"/>
          <a:sy n="67" d="100"/>
        </p:scale>
        <p:origin x="1344" y="13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FDD5DE5-1897-0943-A013-A36087D6FBB8}" type="datetimeFigureOut">
              <a:rPr lang="en-US" smtClean="0"/>
              <a:t>5/13/26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5979DD-9270-8243-AD6C-F99AA961276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94336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35979DD-9270-8243-AD6C-F99AA9612760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5284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2.sv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svg"/><Relationship Id="rId5" Type="http://schemas.openxmlformats.org/officeDocument/2006/relationships/image" Target="../media/image7.svg"/><Relationship Id="rId4" Type="http://schemas.openxmlformats.org/officeDocument/2006/relationships/image" Target="../media/image6.sv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Relationship Id="rId4" Type="http://schemas.openxmlformats.org/officeDocument/2006/relationships/image" Target="../media/image7.sv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svg"/><Relationship Id="rId4" Type="http://schemas.openxmlformats.org/officeDocument/2006/relationships/image" Target="../media/image7.sv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7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sv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14471967_3840_2160_30fps">
            <a:hlinkClick r:id="" action="ppaction://media"/>
            <a:extLst>
              <a:ext uri="{FF2B5EF4-FFF2-40B4-BE49-F238E27FC236}">
                <a16:creationId xmlns:a16="http://schemas.microsoft.com/office/drawing/2014/main" id="{D317D280-7682-64C9-6A1A-215E4A1352E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763" y="7938"/>
            <a:ext cx="18288000" cy="10287000"/>
          </a:xfrm>
          <a:prstGeom prst="rect">
            <a:avLst/>
          </a:prstGeom>
        </p:spPr>
      </p:pic>
      <p:sp>
        <p:nvSpPr>
          <p:cNvPr id="2" name="Rectangle 1"/>
          <p:cNvSpPr/>
          <p:nvPr/>
        </p:nvSpPr>
        <p:spPr>
          <a:xfrm>
            <a:off x="0" y="-46038"/>
            <a:ext cx="18288000" cy="10294938"/>
          </a:xfrm>
          <a:prstGeom prst="rect">
            <a:avLst/>
          </a:prstGeom>
          <a:gradFill>
            <a:gsLst>
              <a:gs pos="52000">
                <a:schemeClr val="tx1"/>
              </a:gs>
              <a:gs pos="100000">
                <a:schemeClr val="tx1">
                  <a:alpha val="0"/>
                </a:schemeClr>
              </a:gs>
            </a:gsLst>
            <a:lin ang="5400000" scaled="1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954500" y="1904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7335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716500" y="1904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6954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335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716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 dirty="0" err="1">
                <a:solidFill>
                  <a:srgbClr val="FFFFFF"/>
                </a:solidFill>
                <a:latin typeface="Inter SemiBold"/>
              </a:rPr>
              <a:t>TECHORAMA</a:t>
            </a:r>
            <a:r>
              <a:rPr sz="1500" b="0" spc="300" dirty="0">
                <a:solidFill>
                  <a:srgbClr val="FFFFFF"/>
                </a:solidFill>
                <a:latin typeface="Inter SemiBold"/>
              </a:rPr>
              <a:t> BELGIUM</a:t>
            </a:r>
            <a:r>
              <a:rPr lang="en-US" sz="1500" b="0" spc="300" dirty="0">
                <a:solidFill>
                  <a:srgbClr val="FFFFFF"/>
                </a:solidFill>
                <a:latin typeface="Inter SemiBold"/>
              </a:rPr>
              <a:t> 2026</a:t>
            </a:r>
            <a:endParaRPr sz="1500" b="0" spc="300" dirty="0">
              <a:solidFill>
                <a:srgbClr val="FFFFFF"/>
              </a:solidFill>
              <a:latin typeface="Inter SemiBold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51560" y="1640997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 dirty="0">
                <a:solidFill>
                  <a:srgbClr val="FFFFFF"/>
                </a:solidFill>
                <a:latin typeface="Inter Black"/>
              </a:rPr>
              <a:t>CLOUD NATIVE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812573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PLATFORM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984148"/>
            <a:ext cx="142875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666666"/>
                </a:solidFill>
                <a:latin typeface="Inter Black"/>
              </a:rPr>
              <a:t>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275357"/>
            <a:ext cx="8572500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dirty="0">
                <a:solidFill>
                  <a:srgbClr val="444444"/>
                </a:solidFill>
                <a:latin typeface="Inter Black"/>
              </a:rPr>
              <a:t>ON AZURE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649930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6558359"/>
            <a:ext cx="8572500" cy="4381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 dirty="0">
                <a:solidFill>
                  <a:srgbClr val="FFFFFF"/>
                </a:solidFill>
                <a:latin typeface="Inter ExtraBold"/>
              </a:rPr>
              <a:t>Geert van der Cruijsen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7034609"/>
            <a:ext cx="857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spc="75">
                <a:solidFill>
                  <a:srgbClr val="888888"/>
                </a:solidFill>
                <a:latin typeface="Inter"/>
              </a:rPr>
              <a:t>CEO &amp; Co-founder · Zure NL</a:t>
            </a: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C730E104-FCEC-9B58-8E6D-B00A42A7519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4734486" y="8472536"/>
            <a:ext cx="2601014" cy="64291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20020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2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2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243560" y="-1760220"/>
            <a:ext cx="3810000" cy="92201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0" b="1">
                <a:solidFill>
                  <a:srgbClr val="FFFFFF">
                    <a:alpha val="4000"/>
                  </a:srgbClr>
                </a:solidFill>
                <a:latin typeface="Inter Black"/>
              </a:rPr>
              <a:t>!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7716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6954500" y="2286000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7335500" y="2286000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7716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3659505"/>
            <a:ext cx="15240000" cy="18859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0" b="1">
                <a:solidFill>
                  <a:srgbClr val="FFFFFF"/>
                </a:solidFill>
                <a:latin typeface="Inter Black"/>
              </a:rPr>
              <a:t>THE CHAOS.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" y="5735955"/>
            <a:ext cx="152400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BEFORE THE PLATFORM.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B3A8DC13-59C6-449E-5696-9A67AFD1080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433560" y="-1188720"/>
            <a:ext cx="7620000" cy="80676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 dirty="0">
                <a:solidFill>
                  <a:srgbClr val="000000"/>
                </a:solidFill>
                <a:latin typeface="Inter SemiBold"/>
              </a:rPr>
              <a:t>0</a:t>
            </a:r>
            <a:r>
              <a:rPr lang="en-US" sz="1500" b="0" spc="300" dirty="0">
                <a:solidFill>
                  <a:srgbClr val="000000"/>
                </a:solidFill>
                <a:latin typeface="Inter SemiBold"/>
              </a:rPr>
              <a:t>1</a:t>
            </a:r>
            <a:r>
              <a:rPr sz="1500" b="0" spc="300" dirty="0">
                <a:solidFill>
                  <a:srgbClr val="000000"/>
                </a:solidFill>
                <a:latin typeface="Inter SemiBold"/>
              </a:rPr>
              <a:t> / </a:t>
            </a:r>
            <a:r>
              <a:rPr lang="en-US" sz="1500" spc="300" dirty="0">
                <a:solidFill>
                  <a:srgbClr val="000000"/>
                </a:solidFill>
                <a:latin typeface="Inter SemiBold"/>
              </a:rPr>
              <a:t>THE CHAOS</a:t>
            </a:r>
            <a:endParaRPr sz="1500" b="0" spc="300" dirty="0">
              <a:solidFill>
                <a:srgbClr val="000000"/>
              </a:solidFill>
              <a:latin typeface="Inter SemiBold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051560" y="3326129"/>
            <a:ext cx="15240000" cy="20097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0" b="1" dirty="0">
                <a:solidFill>
                  <a:srgbClr val="000000"/>
                </a:solidFill>
                <a:latin typeface="Inter Black"/>
              </a:rPr>
              <a:t>DAY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5583555"/>
            <a:ext cx="7620000" cy="342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0">
                <a:solidFill>
                  <a:srgbClr val="AAAAAA"/>
                </a:solidFill>
                <a:latin typeface="Inter"/>
              </a:rPr>
              <a:t>Three things. Zero answers.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NAMESPACE.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60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67499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760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DATABASE.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0" y="7993380"/>
            <a:ext cx="4952999" cy="8286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DDDDDD"/>
                </a:solidFill>
                <a:latin typeface="Inter Black"/>
              </a:rPr>
              <a:t>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191999" y="8963025"/>
            <a:ext cx="4952999" cy="190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2100560" y="9003030"/>
            <a:ext cx="49529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spc="150">
                <a:solidFill>
                  <a:srgbClr val="000000"/>
                </a:solidFill>
                <a:latin typeface="Inter ExtraBold"/>
              </a:rPr>
              <a:t>PIPELINE.</a:t>
            </a: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C5D9CBE4-5262-C526-1895-88FE17D10C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2100560" y="-617219"/>
            <a:ext cx="4762500" cy="80676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?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71500" y="1523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571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1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 dirty="0">
                <a:solidFill>
                  <a:srgbClr val="FFFFFF"/>
                </a:solidFill>
                <a:latin typeface="Inter SemiBold"/>
              </a:rPr>
              <a:t>0</a:t>
            </a:r>
            <a:r>
              <a:rPr lang="en-US" sz="1500" b="0" spc="300" dirty="0">
                <a:solidFill>
                  <a:srgbClr val="FFFFFF"/>
                </a:solidFill>
                <a:latin typeface="Inter SemiBold"/>
              </a:rPr>
              <a:t>1</a:t>
            </a:r>
            <a:r>
              <a:rPr sz="1500" b="0" spc="300" dirty="0">
                <a:solidFill>
                  <a:srgbClr val="FFFFFF"/>
                </a:solidFill>
                <a:latin typeface="Inter SemiBold"/>
              </a:rPr>
              <a:t> / </a:t>
            </a:r>
            <a:r>
              <a:rPr lang="en-US" sz="1500" b="0" spc="300" dirty="0">
                <a:solidFill>
                  <a:srgbClr val="FFFFFF"/>
                </a:solidFill>
                <a:latin typeface="Inter SemiBold"/>
              </a:rPr>
              <a:t>THE CHAOS</a:t>
            </a:r>
            <a:endParaRPr sz="1500" b="0" spc="300" dirty="0">
              <a:solidFill>
                <a:srgbClr val="FFFFFF"/>
              </a:solidFill>
              <a:latin typeface="Inter SemiBold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51560" y="23736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WHO DO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40881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5802630"/>
            <a:ext cx="1524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CALL?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A219437B-0F7C-C61A-3D9A-67BBAEEB116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242560" y="716280"/>
            <a:ext cx="11430000" cy="4762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QUEUE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2859405"/>
            <a:ext cx="8572500" cy="76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dirty="0">
                <a:solidFill>
                  <a:schemeClr val="bg1">
                    <a:lumMod val="65000"/>
                  </a:schemeClr>
                </a:solidFill>
                <a:latin typeface="Inter ExtraBold"/>
              </a:rPr>
              <a:t>THE TICKET QUEUE.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554730"/>
            <a:ext cx="762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 dirty="0">
                <a:solidFill>
                  <a:srgbClr val="FFFFFF"/>
                </a:solidFill>
                <a:latin typeface="Inter Black"/>
              </a:rPr>
              <a:t>SLOW.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5535930"/>
            <a:ext cx="11430000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INCONSISTENT.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6520815"/>
            <a:ext cx="11430000" cy="1143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600" b="1" dirty="0">
                <a:solidFill>
                  <a:srgbClr val="FFFFFF"/>
                </a:solidFill>
                <a:latin typeface="Inter Black"/>
              </a:rPr>
              <a:t>BOTTLENECK.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6C77B5F7-7628-C659-716E-4CC42CF1F5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4386560" y="7098030"/>
            <a:ext cx="2381250" cy="285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863060" y="4526280"/>
            <a:ext cx="1143000" cy="1333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>
                <a:solidFill>
                  <a:srgbClr val="FFFFFF">
                    <a:alpha val="7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624809" y="6145530"/>
            <a:ext cx="1714500" cy="2095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>
                    <a:alpha val="10000"/>
                  </a:srgbClr>
                </a:solidFill>
                <a:latin typeface="Inter Black"/>
              </a:rPr>
              <a:t>*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1500" y="1523999"/>
            <a:ext cx="152400" cy="15240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571500" y="1904999"/>
            <a:ext cx="152400" cy="15240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571500" y="2286000"/>
            <a:ext cx="152400" cy="1524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21280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EVERY TEAM.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259580"/>
            <a:ext cx="857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EVERY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5897880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 dirty="0">
                <a:solidFill>
                  <a:srgbClr val="FFFFFF"/>
                </a:solidFill>
                <a:latin typeface="Inter Black"/>
              </a:rPr>
              <a:t>SNOWFLAKE.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601075"/>
            <a:ext cx="1143000" cy="57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590E463F-EA5C-0F86-8A47-344BC551A3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70560" y="1859280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" b="1">
                <a:solidFill>
                  <a:srgbClr val="FFFFFF">
                    <a:alpha val="11000"/>
                  </a:srgbClr>
                </a:solidFill>
                <a:latin typeface="Inter ExtraBold"/>
              </a:rPr>
              <a:t>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100560" y="1287780"/>
            <a:ext cx="4762500" cy="514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42560" y="8241029"/>
            <a:ext cx="4762500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INFRASTRUCTURE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53060" y="6621780"/>
            <a:ext cx="4762500" cy="5429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COMPLIANCE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7764780"/>
            <a:ext cx="4762500" cy="4667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MONITORING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76560" y="8907780"/>
            <a:ext cx="4762500" cy="3905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NETWORKING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339059" y="2621280"/>
            <a:ext cx="4762500" cy="761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FFFFFF">
                    <a:alpha val="12000"/>
                  </a:srgbClr>
                </a:solidFill>
                <a:latin typeface="Inter ExtraBold"/>
              </a:rPr>
              <a:t>COST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909810" y="5478780"/>
            <a:ext cx="4762500" cy="37147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OBSERVABILITY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2535555"/>
            <a:ext cx="14287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TOO MUCH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4154804"/>
            <a:ext cx="476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5774055"/>
            <a:ext cx="8572500" cy="1571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HOLD.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43000" y="8610600"/>
            <a:ext cx="1143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C78122CE-0556-B877-2EF2-1494A62F859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8572500" y="-2857500"/>
            <a:ext cx="13334999" cy="13335000"/>
          </a:xfrm>
          <a:prstGeom prst="ellipse">
            <a:avLst/>
          </a:prstGeom>
          <a:solidFill>
            <a:srgbClr val="FFFFFF">
              <a:alpha val="3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954500" y="7810500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335500" y="7810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716500" y="7810500"/>
            <a:ext cx="133350" cy="133350"/>
          </a:xfrm>
          <a:prstGeom prst="ellipse">
            <a:avLst/>
          </a:prstGeom>
          <a:solidFill>
            <a:srgbClr val="FFFFFF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954500" y="8191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335500" y="8191500"/>
            <a:ext cx="133350" cy="133350"/>
          </a:xfrm>
          <a:prstGeom prst="ellipse">
            <a:avLst/>
          </a:prstGeom>
          <a:solidFill>
            <a:srgbClr val="FFFFFF">
              <a:alpha val="3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7716500" y="8191500"/>
            <a:ext cx="133350" cy="133350"/>
          </a:xfrm>
          <a:prstGeom prst="ellipse">
            <a:avLst/>
          </a:prstGeom>
          <a:solidFill>
            <a:srgbClr val="FFFFFF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01 / THE CHAOS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2954654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FFFFFF"/>
                </a:solidFill>
                <a:latin typeface="Inter Black"/>
              </a:rPr>
              <a:t>WHAT IF THEY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4335780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NEVER NEEDED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716905"/>
            <a:ext cx="133349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850" b="1">
                <a:solidFill>
                  <a:srgbClr val="FFFFFF"/>
                </a:solidFill>
                <a:latin typeface="Inter Black"/>
              </a:rPr>
              <a:t>TO CALL YOU?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8886825"/>
            <a:ext cx="1143000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E0054272-48D9-2EB3-DCAB-964222BCE7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433060" y="2240279"/>
            <a:ext cx="13334999" cy="6191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SCALE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954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335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716500" y="9524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954500" y="1333500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335500" y="1333500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7716500" y="1333500"/>
            <a:ext cx="133350" cy="133350"/>
          </a:xfrm>
          <a:prstGeom prst="ellipse">
            <a:avLst/>
          </a:prstGeom>
          <a:solidFill>
            <a:srgbClr val="0000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649980"/>
            <a:ext cx="85725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Inter Black"/>
              </a:rPr>
              <a:t>YOU BUILD IT. YOU RUN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4562475"/>
            <a:ext cx="1523999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51560" y="4783454"/>
            <a:ext cx="11430000" cy="1714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000000"/>
                </a:solidFill>
                <a:latin typeface="Inter Black"/>
              </a:rPr>
              <a:t>AT SCALE.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7D9A4C6F-8DB9-C424-65AF-3C8ACA3E4B3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481060" y="1835467"/>
            <a:ext cx="10477499" cy="3619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0" b="1" dirty="0">
                <a:solidFill>
                  <a:srgbClr val="FFFFFF">
                    <a:alpha val="6000"/>
                  </a:srgbClr>
                </a:solidFill>
                <a:latin typeface="Inter Black"/>
              </a:rPr>
              <a:t>TICKET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3954780"/>
            <a:ext cx="11430000" cy="15430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>
                <a:solidFill>
                  <a:srgbClr val="FFFFFF"/>
                </a:solidFill>
                <a:latin typeface="Inter Black"/>
              </a:rPr>
              <a:t>A PRODUCT.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807393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2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NOT A TICKET QUEUE.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978A8B21-1758-A05B-9793-EB010E8A2D9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433560" y="2335530"/>
            <a:ext cx="10477499" cy="7239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5000" b="1" dirty="0">
                <a:solidFill>
                  <a:srgbClr val="FFFFFF">
                    <a:alpha val="4000"/>
                  </a:srgbClr>
                </a:solidFill>
                <a:latin typeface="Inter Black"/>
              </a:rPr>
              <a:t>IDP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507105"/>
            <a:ext cx="5715000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THE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092065"/>
            <a:ext cx="10477499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 dirty="0">
                <a:solidFill>
                  <a:srgbClr val="FFFFFF"/>
                </a:solidFill>
                <a:latin typeface="Inter Black"/>
              </a:rPr>
              <a:t>PLATFORM.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87F14E1-2D5D-98BD-81F4-652DF19449E3}"/>
              </a:ext>
            </a:extLst>
          </p:cNvPr>
          <p:cNvSpPr txBox="1"/>
          <p:nvPr/>
        </p:nvSpPr>
        <p:spPr>
          <a:xfrm>
            <a:off x="1051560" y="6952297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42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BUILD &amp; OPERATE ONCE. 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42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GOLDEN PATHS FOR DEVOPS TEAMS</a:t>
            </a:r>
            <a:endParaRPr sz="4200" b="1" dirty="0">
              <a:solidFill>
                <a:schemeClr val="bg1">
                  <a:lumMod val="65000"/>
                </a:schemeClr>
              </a:solidFill>
              <a:latin typeface="Inter Black"/>
            </a:endParaRP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FA4DB22C-1A3F-FEC5-E980-CCB4F82998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719060" y="2811779"/>
            <a:ext cx="12382500" cy="6191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000000">
                    <a:alpha val="5000"/>
                  </a:srgbClr>
                </a:solidFill>
                <a:latin typeface="Inter Black"/>
              </a:rPr>
              <a:t>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021454"/>
            <a:ext cx="12382500" cy="13811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OPINIONATED.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673090"/>
            <a:ext cx="9525000" cy="7429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 dirty="0">
                <a:solidFill>
                  <a:srgbClr val="CCCCCC"/>
                </a:solidFill>
                <a:latin typeface="Inter Black"/>
              </a:rPr>
              <a:t>NOT MANDATORY.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06C71D6-333B-11AC-1300-600C9691DC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4800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666666"/>
                </a:solidFill>
                <a:latin typeface="Inter SemiBold"/>
              </a:rPr>
              <a:t>02 / PLATFORM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327910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 dirty="0">
                <a:solidFill>
                  <a:srgbClr val="FFFFFF"/>
                </a:solidFill>
                <a:latin typeface="Inter Black"/>
              </a:rPr>
              <a:t>SELF-SERVICE.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394710"/>
            <a:ext cx="76200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 dirty="0">
                <a:solidFill>
                  <a:schemeClr val="bg1">
                    <a:lumMod val="65000"/>
                  </a:schemeClr>
                </a:solidFill>
                <a:latin typeface="Inter"/>
              </a:rPr>
              <a:t>Developers provision what they need</a:t>
            </a:r>
            <a:r>
              <a:rPr lang="en-US" sz="3600" b="0" dirty="0">
                <a:solidFill>
                  <a:schemeClr val="bg1">
                    <a:lumMod val="65000"/>
                  </a:schemeClr>
                </a:solidFill>
                <a:latin typeface="Inter"/>
              </a:rPr>
              <a:t>,</a:t>
            </a:r>
            <a:r>
              <a:rPr sz="3600" b="0" dirty="0">
                <a:solidFill>
                  <a:schemeClr val="bg1">
                    <a:lumMod val="65000"/>
                  </a:schemeClr>
                </a:solidFill>
                <a:latin typeface="Inter"/>
              </a:rPr>
              <a:t> on demand.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239405"/>
            <a:ext cx="6838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4280534"/>
            <a:ext cx="95250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 dirty="0">
                <a:solidFill>
                  <a:srgbClr val="FFFFFF"/>
                </a:solidFill>
                <a:latin typeface="Inter Black"/>
              </a:rPr>
              <a:t>CONSISTENCY.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347335"/>
            <a:ext cx="85725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 dirty="0">
                <a:solidFill>
                  <a:schemeClr val="bg1">
                    <a:lumMod val="65000"/>
                  </a:schemeClr>
                </a:solidFill>
                <a:latin typeface="Inter"/>
              </a:rPr>
              <a:t>Every team’s infrastructure follows the same platform standards.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192031"/>
            <a:ext cx="6838950" cy="1905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6233160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 dirty="0">
                <a:solidFill>
                  <a:srgbClr val="FFFFFF"/>
                </a:solidFill>
                <a:latin typeface="Inter Black"/>
              </a:rPr>
              <a:t>BOUNDARIES.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7299960"/>
            <a:ext cx="7620000" cy="2476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 dirty="0">
                <a:solidFill>
                  <a:schemeClr val="bg1">
                    <a:lumMod val="65000"/>
                  </a:schemeClr>
                </a:solidFill>
                <a:latin typeface="Inter"/>
              </a:rPr>
              <a:t>Clear ownership between platform team and product team.</a:t>
            </a:r>
          </a:p>
        </p:txBody>
      </p:sp>
      <p:pic>
        <p:nvPicPr>
          <p:cNvPr id="3" name="Graphic 2">
            <a:extLst>
              <a:ext uri="{FF2B5EF4-FFF2-40B4-BE49-F238E27FC236}">
                <a16:creationId xmlns:a16="http://schemas.microsoft.com/office/drawing/2014/main" id="{9FB7AE11-300C-75DC-96D0-3025F235C53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7642860" y="430530"/>
            <a:ext cx="13334999" cy="7619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2500" b="1" dirty="0">
                <a:solidFill>
                  <a:srgbClr val="FFFFFF">
                    <a:alpha val="5000"/>
                  </a:srgbClr>
                </a:solidFill>
                <a:latin typeface="Inter Black"/>
              </a:rPr>
              <a:t>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7716500" y="1904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832246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 dirty="0">
                <a:solidFill>
                  <a:srgbClr val="FFFFFF"/>
                </a:solidFill>
                <a:latin typeface="Inter Black"/>
              </a:rPr>
              <a:t>KUBERNETES.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7122056"/>
            <a:ext cx="16192499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AN API. NOT A SCHEDULER.</a:t>
            </a:r>
          </a:p>
        </p:txBody>
      </p:sp>
      <p:pic>
        <p:nvPicPr>
          <p:cNvPr id="16" name="Graphic 15">
            <a:extLst>
              <a:ext uri="{FF2B5EF4-FFF2-40B4-BE49-F238E27FC236}">
                <a16:creationId xmlns:a16="http://schemas.microsoft.com/office/drawing/2014/main" id="{9F95BC26-406F-15B5-D2F2-65E676E6296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242560" y="2811779"/>
            <a:ext cx="13334999" cy="4762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0" b="1" dirty="0">
                <a:solidFill>
                  <a:srgbClr val="000000">
                    <a:alpha val="5000"/>
                  </a:srgbClr>
                </a:solidFill>
                <a:latin typeface="Inter Black"/>
              </a:rPr>
              <a:t>INTENT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6954500" y="1904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7335500" y="1904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6200776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 dirty="0">
                <a:solidFill>
                  <a:srgbClr val="000000"/>
                </a:solidFill>
                <a:latin typeface="Inter Black"/>
              </a:rPr>
              <a:t>YOU DECLARE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7753351"/>
            <a:ext cx="16192499" cy="10096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0" b="1">
                <a:solidFill>
                  <a:srgbClr val="CCCCCC"/>
                </a:solidFill>
                <a:latin typeface="Inter Black"/>
              </a:rPr>
              <a:t>KUBERNETES CONVERGES IT.</a:t>
            </a: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07A31F43-90C0-FAC6-0B8D-D702E22A02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100560" y="1287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ARGO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70560" y="1859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PROMETHEUS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39059" y="2430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5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ISTIO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42060" y="7764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FFFFFF">
                    <a:alpha val="10000"/>
                  </a:srgbClr>
                </a:solidFill>
                <a:latin typeface="Inter ExtraBold"/>
              </a:rPr>
              <a:t>FLUX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910060" y="8336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CROSSPLANE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42560" y="8717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OPENTELEMETRY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96060" y="6845724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" b="1">
                <a:solidFill>
                  <a:srgbClr val="FFFFFF">
                    <a:alpha val="9000"/>
                  </a:srgbClr>
                </a:solidFill>
                <a:latin typeface="Inter ExtraBold"/>
              </a:rPr>
              <a:t>CILIUM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86060" y="7406641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dirty="0">
                <a:solidFill>
                  <a:srgbClr val="FFFFFF">
                    <a:alpha val="10000"/>
                  </a:srgbClr>
                </a:solidFill>
                <a:latin typeface="Inter ExtraBold"/>
              </a:rPr>
              <a:t>OPA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0060" y="52882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>
                <a:solidFill>
                  <a:srgbClr val="FFFFFF">
                    <a:alpha val="7000"/>
                  </a:srgbClr>
                </a:solidFill>
                <a:latin typeface="Inter ExtraBold"/>
              </a:rPr>
              <a:t>KEDA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910559" y="7383780"/>
            <a:ext cx="7620000" cy="1904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50" b="1">
                <a:solidFill>
                  <a:srgbClr val="FFFFFF">
                    <a:alpha val="8000"/>
                  </a:srgbClr>
                </a:solidFill>
                <a:latin typeface="Inter ExtraBold"/>
              </a:rPr>
              <a:t>BACKSTAGE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37310" y="3598545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 dirty="0" err="1">
                <a:solidFill>
                  <a:srgbClr val="FFFFFF"/>
                </a:solidFill>
                <a:latin typeface="Inter Black"/>
              </a:rPr>
              <a:t>CNCF</a:t>
            </a:r>
            <a:r>
              <a:rPr sz="15000" b="1" dirty="0">
                <a:solidFill>
                  <a:srgbClr val="FFFFFF"/>
                </a:solidFill>
                <a:latin typeface="Inter Black"/>
              </a:rPr>
              <a:t> TOOL</a:t>
            </a:r>
            <a:r>
              <a:rPr lang="en-US" sz="15000" b="1" dirty="0">
                <a:solidFill>
                  <a:srgbClr val="FFFFFF"/>
                </a:solidFill>
                <a:latin typeface="Inter Black"/>
              </a:rPr>
              <a:t>BOX</a:t>
            </a:r>
            <a:r>
              <a:rPr sz="15000" b="1" dirty="0">
                <a:solidFill>
                  <a:srgbClr val="FFFFFF"/>
                </a:solidFill>
                <a:latin typeface="Inter Black"/>
              </a:rPr>
              <a:t>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37310" y="5774056"/>
            <a:ext cx="16192499" cy="8191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2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BUILD ON KUBERNETES.</a:t>
            </a:r>
          </a:p>
        </p:txBody>
      </p:sp>
      <p:pic>
        <p:nvPicPr>
          <p:cNvPr id="19" name="Graphic 18">
            <a:extLst>
              <a:ext uri="{FF2B5EF4-FFF2-40B4-BE49-F238E27FC236}">
                <a16:creationId xmlns:a16="http://schemas.microsoft.com/office/drawing/2014/main" id="{561F1790-4910-E3F4-8D17-898AB634E4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0" y="1316355"/>
            <a:ext cx="13334999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600" b="1" dirty="0" err="1">
                <a:solidFill>
                  <a:srgbClr val="000000">
                    <a:alpha val="5000"/>
                  </a:srgbClr>
                </a:solidFill>
                <a:latin typeface="Inter Black"/>
              </a:rPr>
              <a:t>GITOPS</a:t>
            </a:r>
            <a:endParaRPr sz="30600" b="1" dirty="0">
              <a:solidFill>
                <a:srgbClr val="000000">
                  <a:alpha val="5000"/>
                </a:srgbClr>
              </a:solidFill>
              <a:latin typeface="Inter Black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991101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000000"/>
                </a:solidFill>
                <a:latin typeface="Inter Black"/>
              </a:rPr>
              <a:t>GIT 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6324601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CCCCCC"/>
                </a:solidFill>
                <a:latin typeface="Inter Black"/>
              </a:rPr>
              <a:t>THE TRUTH.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8020051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8467726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DECLARATIVE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8763001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Desired state as data, not steps.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99659" y="8020051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99659" y="8467726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VERSIONED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99659" y="8763001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Every change is a Git commit.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7760" y="8020051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747760" y="8467726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dirty="0">
                <a:solidFill>
                  <a:srgbClr val="000000"/>
                </a:solidFill>
                <a:latin typeface="Inter ExtraBold"/>
              </a:rPr>
              <a:t>PULLED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47760" y="8763001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The cluster fetches; CI never pushes.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595860" y="8020051"/>
            <a:ext cx="3619499" cy="4191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00000"/>
                </a:solidFill>
                <a:latin typeface="Inter Black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595860" y="8467726"/>
            <a:ext cx="3619499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ExtraBold"/>
              </a:rPr>
              <a:t>RECONCILED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95860" y="8763001"/>
            <a:ext cx="3619499" cy="380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666666"/>
                </a:solidFill>
                <a:latin typeface="Inter Medium"/>
              </a:rPr>
              <a:t>Drift heals itself, continuously.</a:t>
            </a:r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3F590372-B37A-F583-FF5B-854F5758F1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242560" y="224027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ARGO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03 / CLOUD NATIVE + GITOPS  ·  DEMO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78739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 dirty="0">
                <a:solidFill>
                  <a:srgbClr val="FFFFFF"/>
                </a:solidFill>
                <a:latin typeface="Inter Black"/>
              </a:rPr>
              <a:t>ARGO CD.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7879079"/>
            <a:ext cx="16192499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DRIFT? RECONCILE.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2C6BAA10-D472-27CC-7CAB-AF27BDE261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970020" y="1104902"/>
            <a:ext cx="13334999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 dirty="0">
                <a:solidFill>
                  <a:srgbClr val="000000">
                    <a:alpha val="5000"/>
                  </a:srgbClr>
                </a:solidFill>
                <a:latin typeface="Inter Black"/>
              </a:rPr>
              <a:t>AZURE</a:t>
            </a:r>
          </a:p>
        </p:txBody>
      </p:sp>
      <p:sp>
        <p:nvSpPr>
          <p:cNvPr id="4" name="Oval 3"/>
          <p:cNvSpPr/>
          <p:nvPr/>
        </p:nvSpPr>
        <p:spPr>
          <a:xfrm>
            <a:off x="11430000" y="-1904999"/>
            <a:ext cx="11430000" cy="11430000"/>
          </a:xfrm>
          <a:prstGeom prst="ellipse">
            <a:avLst/>
          </a:prstGeom>
          <a:solidFill>
            <a:srgbClr val="000000">
              <a:alpha val="4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0" y="100965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000000">
              <a:alpha val="15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000000">
              <a:alpha val="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000000"/>
                </a:solidFill>
                <a:latin typeface="Inter SemiBold"/>
              </a:rPr>
              <a:t>03 / CLOUD NATIVE + GITOPS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5490212"/>
            <a:ext cx="16192499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000000"/>
                </a:solidFill>
                <a:latin typeface="Inter Black"/>
              </a:rPr>
              <a:t>AKS IS WHERE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6745080"/>
            <a:ext cx="16192499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 dirty="0">
                <a:solidFill>
                  <a:srgbClr val="000000"/>
                </a:solidFill>
                <a:latin typeface="Inter Black"/>
              </a:rPr>
              <a:t>IT RUNS.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8115301"/>
            <a:ext cx="16192499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 dirty="0">
                <a:solidFill>
                  <a:srgbClr val="CCCCCC"/>
                </a:solidFill>
                <a:latin typeface="Inter Black"/>
              </a:rPr>
              <a:t>NOT WHERE IT STOPS.</a:t>
            </a: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36B217B2-40ED-572E-D0CA-2D1BB7B4F6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37310" y="-61721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 dirty="0">
                <a:solidFill>
                  <a:srgbClr val="FFFFFF">
                    <a:alpha val="4000"/>
                  </a:srgbClr>
                </a:solidFill>
                <a:latin typeface="Inter Black"/>
              </a:rPr>
              <a:t>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06800" y="101346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500" b="0" spc="300" dirty="0">
                <a:solidFill>
                  <a:srgbClr val="FFFFFF"/>
                </a:solidFill>
                <a:latin typeface="Inter SemiBold"/>
              </a:rPr>
              <a:t>0</a:t>
            </a:r>
            <a:r>
              <a:rPr sz="1500" b="0" spc="300" dirty="0">
                <a:solidFill>
                  <a:srgbClr val="FFFFFF"/>
                </a:solidFill>
                <a:latin typeface="Inter SemiBold"/>
              </a:rPr>
              <a:t>3</a:t>
            </a:r>
            <a:r>
              <a:rPr lang="en-US" sz="1500" b="0" spc="300" dirty="0">
                <a:solidFill>
                  <a:srgbClr val="FFFFFF"/>
                </a:solidFill>
                <a:latin typeface="Inter SemiBold"/>
              </a:rPr>
              <a:t> / </a:t>
            </a:r>
            <a:r>
              <a:rPr sz="1500" b="0" spc="300" dirty="0" err="1">
                <a:solidFill>
                  <a:srgbClr val="FFFFFF"/>
                </a:solidFill>
                <a:latin typeface="Inter SemiBold"/>
              </a:rPr>
              <a:t>GITOPS</a:t>
            </a:r>
            <a:r>
              <a:rPr sz="1500" b="0" spc="300" dirty="0">
                <a:solidFill>
                  <a:srgbClr val="FFFFFF"/>
                </a:solidFill>
                <a:latin typeface="Inter SemiBold"/>
              </a:rPr>
              <a:t> ARCHITECTURE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004059"/>
            <a:ext cx="8572500" cy="8762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700" b="1" dirty="0">
                <a:solidFill>
                  <a:srgbClr val="FFFFFF"/>
                </a:solidFill>
                <a:latin typeface="Inter Black"/>
              </a:rPr>
              <a:t>HOW </a:t>
            </a:r>
            <a:r>
              <a:rPr sz="5700" b="1" dirty="0" err="1">
                <a:solidFill>
                  <a:srgbClr val="FFFFFF"/>
                </a:solidFill>
                <a:latin typeface="Inter Black"/>
              </a:rPr>
              <a:t>GITOPS</a:t>
            </a:r>
            <a:r>
              <a:rPr sz="5700" b="1" dirty="0">
                <a:solidFill>
                  <a:srgbClr val="FFFFFF"/>
                </a:solidFill>
                <a:latin typeface="Inter Black"/>
              </a:rPr>
              <a:t> WORKS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1810" y="3735705"/>
            <a:ext cx="2095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chemeClr val="bg1"/>
                </a:solidFill>
                <a:latin typeface="Inter"/>
              </a:rPr>
              <a:t>1  git push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66509" y="3735705"/>
            <a:ext cx="2095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chemeClr val="bg1"/>
                </a:solidFill>
                <a:latin typeface="Inter"/>
              </a:rPr>
              <a:t>2  </a:t>
            </a:r>
            <a:r>
              <a:rPr sz="2800" b="0" dirty="0" err="1">
                <a:solidFill>
                  <a:schemeClr val="bg1"/>
                </a:solidFill>
                <a:latin typeface="Inter"/>
              </a:rPr>
              <a:t>argo</a:t>
            </a:r>
            <a:r>
              <a:rPr sz="2800" b="0" dirty="0">
                <a:solidFill>
                  <a:schemeClr val="bg1"/>
                </a:solidFill>
                <a:latin typeface="Inter"/>
              </a:rPr>
              <a:t> pulls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9410" y="3735705"/>
            <a:ext cx="17145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0" dirty="0">
                <a:solidFill>
                  <a:schemeClr val="bg1"/>
                </a:solidFill>
                <a:latin typeface="Inter"/>
              </a:rPr>
              <a:t>3  apply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28033" y="5314240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 dirty="0">
                <a:solidFill>
                  <a:srgbClr val="FFFFFF"/>
                </a:solidFill>
                <a:latin typeface="Inter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37984" y="5327302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 dirty="0">
                <a:solidFill>
                  <a:srgbClr val="FFFFFF"/>
                </a:solidFill>
                <a:latin typeface="Inter"/>
              </a:rPr>
              <a:t>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43235" y="5307330"/>
            <a:ext cx="761999" cy="571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0" dirty="0">
                <a:solidFill>
                  <a:srgbClr val="FFFFFF"/>
                </a:solidFill>
                <a:latin typeface="Inter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4610100"/>
            <a:ext cx="2095499" cy="1904999"/>
          </a:xfrm>
          <a:prstGeom prst="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095750" y="4610100"/>
            <a:ext cx="2476499" cy="1904999"/>
          </a:xfrm>
          <a:prstGeom prst="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620000" y="4610100"/>
            <a:ext cx="2857500" cy="1904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620498" y="4610100"/>
            <a:ext cx="5524501" cy="1904999"/>
          </a:xfrm>
          <a:prstGeom prst="rect">
            <a:avLst/>
          </a:prstGeom>
          <a:noFill/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325878" y="5383530"/>
            <a:ext cx="13335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CCCCCC"/>
                </a:solidFill>
                <a:latin typeface="Inter Bold"/>
              </a:rPr>
              <a:t>DEVELOPER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04385" y="5383530"/>
            <a:ext cx="11430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CCCCCC"/>
                </a:solidFill>
                <a:latin typeface="Inter Bold"/>
              </a:rPr>
              <a:t>GIT REPO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5835" y="5354954"/>
            <a:ext cx="152399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0D0D0D"/>
                </a:solidFill>
                <a:latin typeface="Inter Bold"/>
              </a:rPr>
              <a:t>ARGO CD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157710" y="5364480"/>
            <a:ext cx="3238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CCCCCC"/>
                </a:solidFill>
                <a:latin typeface="Inter Bold"/>
              </a:rPr>
              <a:t>KUBERNETES CLUSTER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43000" y="6943725"/>
            <a:ext cx="5143500" cy="66675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280160" y="7091237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FFFFFF"/>
                </a:solidFill>
                <a:latin typeface="Inter ExtraBold"/>
              </a:rPr>
              <a:t>PULL NOT PUSH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72250" y="6943725"/>
            <a:ext cx="5143500" cy="66675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709410" y="7091237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 ExtraBold"/>
              </a:rPr>
              <a:t>GIT = SOURCE OF TRUTH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2001500" y="6943725"/>
            <a:ext cx="5143500" cy="66675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12138660" y="7091237"/>
            <a:ext cx="46863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 ExtraBold"/>
              </a:rPr>
              <a:t>ALWAYS CONVERGING</a:t>
            </a:r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id="{8516A51A-27AD-8A51-01CA-3546B08F35C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11450-C106-15C2-B2CC-B917CBB844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CB15B52-6CA6-87EB-76FD-797401C70B7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D6DB458-58EB-E846-6A44-DDBA1D299153}"/>
              </a:ext>
            </a:extLst>
          </p:cNvPr>
          <p:cNvSpPr txBox="1"/>
          <p:nvPr/>
        </p:nvSpPr>
        <p:spPr>
          <a:xfrm>
            <a:off x="670560" y="-236219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0" b="1" dirty="0">
                <a:solidFill>
                  <a:srgbClr val="000000">
                    <a:alpha val="4000"/>
                  </a:srgbClr>
                </a:solidFill>
                <a:latin typeface="Inter Black"/>
              </a:rPr>
              <a:t>ARGO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080E52-A9A2-4187-C070-103715FF6A0E}"/>
              </a:ext>
            </a:extLst>
          </p:cNvPr>
          <p:cNvSpPr/>
          <p:nvPr/>
        </p:nvSpPr>
        <p:spPr>
          <a:xfrm>
            <a:off x="1821180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2F6267E-FB1E-B886-DC44-FF197DA249B9}"/>
              </a:ext>
            </a:extLst>
          </p:cNvPr>
          <p:cNvSpPr/>
          <p:nvPr/>
        </p:nvSpPr>
        <p:spPr>
          <a:xfrm>
            <a:off x="16306800" y="101346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A80162-0539-B421-8481-5EF0E432D763}"/>
              </a:ext>
            </a:extLst>
          </p:cNvPr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E0B3123-A58C-1406-744A-703546973B40}"/>
              </a:ext>
            </a:extLst>
          </p:cNvPr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500" b="0" spc="300" dirty="0">
                <a:solidFill>
                  <a:srgbClr val="000000"/>
                </a:solidFill>
                <a:latin typeface="Inter SemiBold"/>
              </a:rPr>
              <a:t>03 / </a:t>
            </a:r>
            <a:r>
              <a:rPr sz="1500" b="0" spc="300" dirty="0">
                <a:solidFill>
                  <a:srgbClr val="000000"/>
                </a:solidFill>
                <a:latin typeface="Inter SemiBold"/>
              </a:rPr>
              <a:t>ARGO CD PATTERNS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EE5AD38-0DA2-444A-0DA4-123F53BA27FA}"/>
              </a:ext>
            </a:extLst>
          </p:cNvPr>
          <p:cNvSpPr txBox="1"/>
          <p:nvPr/>
        </p:nvSpPr>
        <p:spPr>
          <a:xfrm>
            <a:off x="1051560" y="2502218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000000"/>
                </a:solidFill>
                <a:latin typeface="Inter Black"/>
              </a:rPr>
              <a:t>APP OF APPS.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E229B00-2CFE-D470-D7E8-0F6081B23F47}"/>
              </a:ext>
            </a:extLst>
          </p:cNvPr>
          <p:cNvSpPr txBox="1"/>
          <p:nvPr/>
        </p:nvSpPr>
        <p:spPr>
          <a:xfrm>
            <a:off x="1051560" y="3216593"/>
            <a:ext cx="11430000" cy="7143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650" b="1">
                <a:solidFill>
                  <a:srgbClr val="000000"/>
                </a:solidFill>
                <a:latin typeface="Inter Black"/>
              </a:rPr>
              <a:t>APPLICATIONSETS.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437F7252-56CF-98DD-C98C-143F55D67CB7}"/>
              </a:ext>
            </a:extLst>
          </p:cNvPr>
          <p:cNvGrpSpPr/>
          <p:nvPr/>
        </p:nvGrpSpPr>
        <p:grpSpPr>
          <a:xfrm>
            <a:off x="1051559" y="4690110"/>
            <a:ext cx="15549525" cy="4377690"/>
            <a:chOff x="1051560" y="4690110"/>
            <a:chExt cx="13925550" cy="3920489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482DD14B-D095-A241-5E80-E2FA146DA828}"/>
                </a:ext>
              </a:extLst>
            </p:cNvPr>
            <p:cNvSpPr txBox="1"/>
            <p:nvPr/>
          </p:nvSpPr>
          <p:spPr>
            <a:xfrm>
              <a:off x="1051560" y="4690110"/>
              <a:ext cx="3810000" cy="257175"/>
            </a:xfrm>
            <a:prstGeom prst="rect">
              <a:avLst/>
            </a:prstGeom>
            <a:noFill/>
          </p:spPr>
          <p:txBody>
            <a:bodyPr wrap="none"/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000000"/>
                  </a:solidFill>
                  <a:latin typeface="Inter ExtraBold"/>
                </a:rPr>
                <a:t>APP OF APPS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14C512E5-410E-11F7-A370-DE5551A37D6D}"/>
                </a:ext>
              </a:extLst>
            </p:cNvPr>
            <p:cNvSpPr/>
            <p:nvPr/>
          </p:nvSpPr>
          <p:spPr>
            <a:xfrm>
              <a:off x="3743325" y="5154931"/>
              <a:ext cx="2667000" cy="666750"/>
            </a:xfrm>
            <a:prstGeom prst="rect">
              <a:avLst/>
            </a:prstGeom>
            <a:solidFill>
              <a:srgbClr val="11111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4998AE3D-BE84-6283-C5BA-26C998622801}"/>
                </a:ext>
              </a:extLst>
            </p:cNvPr>
            <p:cNvSpPr txBox="1"/>
            <p:nvPr/>
          </p:nvSpPr>
          <p:spPr>
            <a:xfrm>
              <a:off x="4248149" y="5356861"/>
              <a:ext cx="1657350" cy="180975"/>
            </a:xfrm>
            <a:prstGeom prst="rect">
              <a:avLst/>
            </a:prstGeom>
            <a:noFill/>
          </p:spPr>
          <p:txBody>
            <a:bodyPr wrap="none"/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b="1" dirty="0">
                  <a:solidFill>
                    <a:srgbClr val="FFFFFF"/>
                  </a:solidFill>
                  <a:latin typeface="Inter ExtraBold"/>
                </a:rPr>
                <a:t>ROOT-APP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73D28DEB-A391-A631-114F-35127F1205AA}"/>
                </a:ext>
              </a:extLst>
            </p:cNvPr>
            <p:cNvSpPr/>
            <p:nvPr/>
          </p:nvSpPr>
          <p:spPr>
            <a:xfrm>
              <a:off x="5067300" y="5821681"/>
              <a:ext cx="19050" cy="476249"/>
            </a:xfrm>
            <a:prstGeom prst="rect">
              <a:avLst/>
            </a:prstGeom>
            <a:solidFill>
              <a:srgbClr val="AAAAA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803DE931-12DD-1B6E-50C8-0ED385B9D932}"/>
                </a:ext>
              </a:extLst>
            </p:cNvPr>
            <p:cNvSpPr/>
            <p:nvPr/>
          </p:nvSpPr>
          <p:spPr>
            <a:xfrm>
              <a:off x="2047875" y="6297931"/>
              <a:ext cx="6057900" cy="19050"/>
            </a:xfrm>
            <a:prstGeom prst="rect">
              <a:avLst/>
            </a:prstGeom>
            <a:solidFill>
              <a:srgbClr val="AAAAA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0E8F46E-400C-AAD9-E4A6-CC3CCEC9CD5A}"/>
                </a:ext>
              </a:extLst>
            </p:cNvPr>
            <p:cNvSpPr/>
            <p:nvPr/>
          </p:nvSpPr>
          <p:spPr>
            <a:xfrm>
              <a:off x="2047875" y="6316980"/>
              <a:ext cx="19050" cy="266700"/>
            </a:xfrm>
            <a:prstGeom prst="rect">
              <a:avLst/>
            </a:prstGeom>
            <a:solidFill>
              <a:srgbClr val="AAAAA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9FA6BDBB-62D7-AA84-AAD7-83ADB3A8A44F}"/>
                </a:ext>
              </a:extLst>
            </p:cNvPr>
            <p:cNvSpPr/>
            <p:nvPr/>
          </p:nvSpPr>
          <p:spPr>
            <a:xfrm>
              <a:off x="5067300" y="6316980"/>
              <a:ext cx="19050" cy="266700"/>
            </a:xfrm>
            <a:prstGeom prst="rect">
              <a:avLst/>
            </a:prstGeom>
            <a:solidFill>
              <a:srgbClr val="AAAAA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C96FBCEC-0105-2B7F-1C5E-E74DE64CB2C3}"/>
                </a:ext>
              </a:extLst>
            </p:cNvPr>
            <p:cNvSpPr/>
            <p:nvPr/>
          </p:nvSpPr>
          <p:spPr>
            <a:xfrm>
              <a:off x="8086725" y="6316980"/>
              <a:ext cx="19050" cy="266700"/>
            </a:xfrm>
            <a:prstGeom prst="rect">
              <a:avLst/>
            </a:prstGeom>
            <a:solidFill>
              <a:srgbClr val="AAAAA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2C55129B-E4D3-9205-5EC3-2D398C901D73}"/>
                </a:ext>
              </a:extLst>
            </p:cNvPr>
            <p:cNvSpPr/>
            <p:nvPr/>
          </p:nvSpPr>
          <p:spPr>
            <a:xfrm>
              <a:off x="1143000" y="6583681"/>
              <a:ext cx="1828800" cy="571500"/>
            </a:xfrm>
            <a:prstGeom prst="rect">
              <a:avLst/>
            </a:prstGeom>
            <a:noFill/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9E6253D5-99C3-EADE-4C74-3BBA26E1E573}"/>
                </a:ext>
              </a:extLst>
            </p:cNvPr>
            <p:cNvSpPr/>
            <p:nvPr/>
          </p:nvSpPr>
          <p:spPr>
            <a:xfrm>
              <a:off x="4152900" y="6583681"/>
              <a:ext cx="1828800" cy="571500"/>
            </a:xfrm>
            <a:prstGeom prst="rect">
              <a:avLst/>
            </a:prstGeom>
            <a:noFill/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4540FE3C-EAB7-2707-2C3E-0C5A7E570254}"/>
                </a:ext>
              </a:extLst>
            </p:cNvPr>
            <p:cNvSpPr/>
            <p:nvPr/>
          </p:nvSpPr>
          <p:spPr>
            <a:xfrm>
              <a:off x="7181849" y="6583681"/>
              <a:ext cx="1828800" cy="571500"/>
            </a:xfrm>
            <a:prstGeom prst="rect">
              <a:avLst/>
            </a:prstGeom>
            <a:noFill/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B18DEE56-3B4B-CD49-039D-77E9B56FE1A4}"/>
                </a:ext>
              </a:extLst>
            </p:cNvPr>
            <p:cNvSpPr txBox="1"/>
            <p:nvPr/>
          </p:nvSpPr>
          <p:spPr>
            <a:xfrm>
              <a:off x="1280160" y="6699886"/>
              <a:ext cx="1371600" cy="161924"/>
            </a:xfrm>
            <a:prstGeom prst="rect">
              <a:avLst/>
            </a:prstGeom>
            <a:noFill/>
          </p:spPr>
          <p:txBody>
            <a:bodyPr wrap="none"/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333333"/>
                  </a:solidFill>
                  <a:latin typeface="Inter Bold"/>
                </a:rPr>
                <a:t>INFRA-APP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CB8529AC-A302-75DA-2E9F-64EF229C9422}"/>
                </a:ext>
              </a:extLst>
            </p:cNvPr>
            <p:cNvSpPr txBox="1"/>
            <p:nvPr/>
          </p:nvSpPr>
          <p:spPr>
            <a:xfrm>
              <a:off x="4137659" y="6699886"/>
              <a:ext cx="1676400" cy="161924"/>
            </a:xfrm>
            <a:prstGeom prst="rect">
              <a:avLst/>
            </a:prstGeom>
            <a:noFill/>
          </p:spPr>
          <p:txBody>
            <a:bodyPr wrap="none"/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333333"/>
                  </a:solidFill>
                  <a:latin typeface="Inter Bold"/>
                </a:rPr>
                <a:t>PLATFORM-APP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7343AF59-2FB3-8D11-87AB-AF6E151E1D04}"/>
                </a:ext>
              </a:extLst>
            </p:cNvPr>
            <p:cNvSpPr txBox="1"/>
            <p:nvPr/>
          </p:nvSpPr>
          <p:spPr>
            <a:xfrm>
              <a:off x="7319010" y="6699886"/>
              <a:ext cx="1371600" cy="161924"/>
            </a:xfrm>
            <a:prstGeom prst="rect">
              <a:avLst/>
            </a:prstGeom>
            <a:noFill/>
          </p:spPr>
          <p:txBody>
            <a:bodyPr wrap="none"/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333333"/>
                  </a:solidFill>
                  <a:latin typeface="Inter Bold"/>
                </a:rPr>
                <a:t>APPS-APP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FA0DA69-E1F0-C03A-CA4B-930C828854E1}"/>
                </a:ext>
              </a:extLst>
            </p:cNvPr>
            <p:cNvSpPr/>
            <p:nvPr/>
          </p:nvSpPr>
          <p:spPr>
            <a:xfrm>
              <a:off x="9105900" y="4764406"/>
              <a:ext cx="19050" cy="2809875"/>
            </a:xfrm>
            <a:prstGeom prst="rect">
              <a:avLst/>
            </a:prstGeom>
            <a:solidFill>
              <a:srgbClr val="CCCCCC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8F6895C6-EA8D-7491-E923-8F593A5E6AE4}"/>
                </a:ext>
              </a:extLst>
            </p:cNvPr>
            <p:cNvSpPr txBox="1"/>
            <p:nvPr/>
          </p:nvSpPr>
          <p:spPr>
            <a:xfrm>
              <a:off x="9262110" y="4690110"/>
              <a:ext cx="5715000" cy="257175"/>
            </a:xfrm>
            <a:prstGeom prst="rect">
              <a:avLst/>
            </a:prstGeom>
            <a:noFill/>
          </p:spPr>
          <p:txBody>
            <a:bodyPr wrap="none"/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400" b="1">
                  <a:solidFill>
                    <a:srgbClr val="000000"/>
                  </a:solidFill>
                  <a:latin typeface="Inter ExtraBold"/>
                </a:rPr>
                <a:t>APPLICATIONSETS</a:t>
              </a:r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6243D24-EDC2-3728-A1B1-099B71273840}"/>
                </a:ext>
              </a:extLst>
            </p:cNvPr>
            <p:cNvSpPr/>
            <p:nvPr/>
          </p:nvSpPr>
          <p:spPr>
            <a:xfrm>
              <a:off x="9353550" y="6145530"/>
              <a:ext cx="2667000" cy="761999"/>
            </a:xfrm>
            <a:prstGeom prst="rect">
              <a:avLst/>
            </a:prstGeom>
            <a:solidFill>
              <a:srgbClr val="11111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365AD056-BB0D-82A1-E732-D1FE7FAFCA13}"/>
                </a:ext>
              </a:extLst>
            </p:cNvPr>
            <p:cNvSpPr txBox="1"/>
            <p:nvPr/>
          </p:nvSpPr>
          <p:spPr>
            <a:xfrm>
              <a:off x="9532620" y="6408389"/>
              <a:ext cx="2209800" cy="180975"/>
            </a:xfrm>
            <a:prstGeom prst="rect">
              <a:avLst/>
            </a:prstGeom>
            <a:noFill/>
          </p:spPr>
          <p:txBody>
            <a:bodyPr wrap="none"/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400" b="1" spc="75" dirty="0" err="1">
                  <a:solidFill>
                    <a:srgbClr val="FFFFFF"/>
                  </a:solidFill>
                  <a:latin typeface="Inter ExtraBold"/>
                </a:rPr>
                <a:t>APPSET</a:t>
              </a:r>
              <a:r>
                <a:rPr sz="1400" b="1" spc="75" dirty="0">
                  <a:solidFill>
                    <a:srgbClr val="FFFFFF"/>
                  </a:solidFill>
                  <a:latin typeface="Inter ExtraBold"/>
                </a:rPr>
                <a:t> TEMPLATE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AC29228E-B336-2D69-90BC-2C62A6D75514}"/>
                </a:ext>
              </a:extLst>
            </p:cNvPr>
            <p:cNvSpPr txBox="1"/>
            <p:nvPr/>
          </p:nvSpPr>
          <p:spPr>
            <a:xfrm>
              <a:off x="11976735" y="6290311"/>
              <a:ext cx="571500" cy="476249"/>
            </a:xfrm>
            <a:prstGeom prst="rect">
              <a:avLst/>
            </a:prstGeom>
            <a:noFill/>
          </p:spPr>
          <p:txBody>
            <a:bodyPr wrap="none"/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4000" b="0">
                  <a:solidFill>
                    <a:srgbClr val="444444"/>
                  </a:solidFill>
                  <a:latin typeface="Inter"/>
                </a:rPr>
                <a:t>→</a:t>
              </a:r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50F8212E-8779-911D-776D-1458C9ED403A}"/>
                </a:ext>
              </a:extLst>
            </p:cNvPr>
            <p:cNvSpPr/>
            <p:nvPr/>
          </p:nvSpPr>
          <p:spPr>
            <a:xfrm>
              <a:off x="12782550" y="5383530"/>
              <a:ext cx="1905000" cy="666750"/>
            </a:xfrm>
            <a:prstGeom prst="rect">
              <a:avLst/>
            </a:prstGeom>
            <a:noFill/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27A27FD0-306B-B79B-C2CB-C5C6EA683BA6}"/>
                </a:ext>
              </a:extLst>
            </p:cNvPr>
            <p:cNvSpPr txBox="1"/>
            <p:nvPr/>
          </p:nvSpPr>
          <p:spPr>
            <a:xfrm>
              <a:off x="12919710" y="5537836"/>
              <a:ext cx="1447800" cy="161924"/>
            </a:xfrm>
            <a:prstGeom prst="rect">
              <a:avLst/>
            </a:prstGeom>
            <a:noFill/>
          </p:spPr>
          <p:txBody>
            <a:bodyPr wrap="none"/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333333"/>
                  </a:solidFill>
                  <a:latin typeface="Inter Bold"/>
                </a:rPr>
                <a:t>dev-cluster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7B1780F5-FB4C-74E2-411A-0FE3F9EB2814}"/>
                </a:ext>
              </a:extLst>
            </p:cNvPr>
            <p:cNvSpPr/>
            <p:nvPr/>
          </p:nvSpPr>
          <p:spPr>
            <a:xfrm>
              <a:off x="12782550" y="6145530"/>
              <a:ext cx="1905000" cy="666750"/>
            </a:xfrm>
            <a:prstGeom prst="rect">
              <a:avLst/>
            </a:prstGeom>
            <a:noFill/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2EF6978-65DC-BC28-D132-03C267FC0FDA}"/>
                </a:ext>
              </a:extLst>
            </p:cNvPr>
            <p:cNvSpPr txBox="1"/>
            <p:nvPr/>
          </p:nvSpPr>
          <p:spPr>
            <a:xfrm>
              <a:off x="12919710" y="6299836"/>
              <a:ext cx="1447800" cy="161924"/>
            </a:xfrm>
            <a:prstGeom prst="rect">
              <a:avLst/>
            </a:prstGeom>
            <a:noFill/>
          </p:spPr>
          <p:txBody>
            <a:bodyPr wrap="none"/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333333"/>
                  </a:solidFill>
                  <a:latin typeface="Inter Bold"/>
                </a:rPr>
                <a:t>staging-cluster</a:t>
              </a:r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9D958E95-29F8-DBBD-3C0D-018EC761B305}"/>
                </a:ext>
              </a:extLst>
            </p:cNvPr>
            <p:cNvSpPr/>
            <p:nvPr/>
          </p:nvSpPr>
          <p:spPr>
            <a:xfrm>
              <a:off x="12782550" y="6907531"/>
              <a:ext cx="1905000" cy="666750"/>
            </a:xfrm>
            <a:prstGeom prst="rect">
              <a:avLst/>
            </a:prstGeom>
            <a:noFill/>
            <a:ln w="9525">
              <a:solidFill>
                <a:schemeClr val="tx1">
                  <a:lumMod val="85000"/>
                  <a:lumOff val="15000"/>
                </a:schemeClr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0908A96-BC4F-7311-4723-41902E0F0E15}"/>
                </a:ext>
              </a:extLst>
            </p:cNvPr>
            <p:cNvSpPr txBox="1"/>
            <p:nvPr/>
          </p:nvSpPr>
          <p:spPr>
            <a:xfrm>
              <a:off x="12919710" y="7061836"/>
              <a:ext cx="1447800" cy="161924"/>
            </a:xfrm>
            <a:prstGeom prst="rect">
              <a:avLst/>
            </a:prstGeom>
            <a:noFill/>
          </p:spPr>
          <p:txBody>
            <a:bodyPr wrap="none"/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333333"/>
                  </a:solidFill>
                  <a:latin typeface="Inter Bold"/>
                </a:rPr>
                <a:t>prod-cluster</a:t>
              </a:r>
            </a:p>
          </p:txBody>
        </p:sp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225A4DC7-B6B3-0611-65C3-E06CB6776BE1}"/>
                </a:ext>
              </a:extLst>
            </p:cNvPr>
            <p:cNvSpPr/>
            <p:nvPr/>
          </p:nvSpPr>
          <p:spPr>
            <a:xfrm>
              <a:off x="1143000" y="8134350"/>
              <a:ext cx="13544550" cy="476249"/>
            </a:xfrm>
            <a:prstGeom prst="rect">
              <a:avLst/>
            </a:prstGeom>
            <a:solidFill>
              <a:srgbClr val="111111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sz="2800"/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76EAD979-5FF3-1085-49B4-920F329B0A5A}"/>
                </a:ext>
              </a:extLst>
            </p:cNvPr>
            <p:cNvSpPr txBox="1"/>
            <p:nvPr/>
          </p:nvSpPr>
          <p:spPr>
            <a:xfrm>
              <a:off x="3280409" y="8231505"/>
              <a:ext cx="11553825" cy="180975"/>
            </a:xfrm>
            <a:prstGeom prst="rect">
              <a:avLst/>
            </a:prstGeom>
            <a:noFill/>
          </p:spPr>
          <p:txBody>
            <a:bodyPr wrap="none"/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b="1" spc="225">
                  <a:solidFill>
                    <a:srgbClr val="FFFFFF"/>
                  </a:solidFill>
                  <a:latin typeface="Inter Bold"/>
                </a:rPr>
                <a:t>DRIFT DETECTED  →  ARGO RECONCILES WITHIN SECONDS</a:t>
              </a:r>
            </a:p>
          </p:txBody>
        </p:sp>
      </p:grpSp>
      <p:pic>
        <p:nvPicPr>
          <p:cNvPr id="37" name="Graphic 36">
            <a:extLst>
              <a:ext uri="{FF2B5EF4-FFF2-40B4-BE49-F238E27FC236}">
                <a16:creationId xmlns:a16="http://schemas.microsoft.com/office/drawing/2014/main" id="{D6C4AEA3-CC74-CC8A-373B-7DBAC862B7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62165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576060" y="716280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MESSY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143500"/>
            <a:ext cx="8572500" cy="666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ExtraBold"/>
              </a:rPr>
              <a:t>THE MESSY REALITY.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506403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0" b="1" dirty="0">
                <a:solidFill>
                  <a:srgbClr val="FFFFFF"/>
                </a:solidFill>
                <a:latin typeface="Inter Black"/>
              </a:rPr>
              <a:t>MULTIPLE</a:t>
            </a:r>
            <a:r>
              <a:rPr lang="en-US" sz="12500" b="1" dirty="0">
                <a:solidFill>
                  <a:srgbClr val="FFFFFF"/>
                </a:solidFill>
                <a:latin typeface="Inter Black"/>
              </a:rPr>
              <a:t> TEAMS</a:t>
            </a:r>
            <a:r>
              <a:rPr sz="12500" b="1" dirty="0">
                <a:solidFill>
                  <a:srgbClr val="FFFFFF"/>
                </a:solidFill>
                <a:latin typeface="Inter Black"/>
              </a:rPr>
              <a:t>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143500"/>
            <a:ext cx="8572500" cy="7524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7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EXISTING</a:t>
            </a:r>
            <a:r>
              <a:rPr lang="en-US" sz="67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 IAC</a:t>
            </a:r>
            <a:r>
              <a:rPr sz="67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lack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6052185"/>
            <a:ext cx="13334999" cy="8382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7500" b="1" dirty="0">
                <a:solidFill>
                  <a:srgbClr val="FFFFFF"/>
                </a:solidFill>
                <a:latin typeface="Inter Black"/>
              </a:rPr>
              <a:t>COMPLIANCE</a:t>
            </a:r>
            <a:r>
              <a:rPr sz="7500" b="1" dirty="0">
                <a:solidFill>
                  <a:srgbClr val="FFFFFF"/>
                </a:solidFill>
                <a:latin typeface="Inter Black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A6F66F58-9C10-F655-812E-E16DE4F1DAA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242560" y="1383029"/>
            <a:ext cx="15240000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0000" b="1">
                <a:solidFill>
                  <a:srgbClr val="000000">
                    <a:alpha val="4000"/>
                  </a:srgbClr>
                </a:solidFill>
                <a:latin typeface="Inter Black"/>
              </a:rPr>
              <a:t>TENSION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87980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135630"/>
            <a:ext cx="72389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SELF-SERVICE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81060" y="3583304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57360" y="3373755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dirty="0">
                <a:solidFill>
                  <a:srgbClr val="888888"/>
                </a:solidFill>
                <a:latin typeface="Inter Black"/>
              </a:rPr>
              <a:t>GUARDRAILS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4305300"/>
            <a:ext cx="16002000" cy="190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51560" y="4497705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4745355"/>
            <a:ext cx="72389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CONSISTENCY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90560" y="5193030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66859" y="4983480"/>
            <a:ext cx="47625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FLEXIBILITY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5915024"/>
            <a:ext cx="16002000" cy="1905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051560" y="6107430"/>
            <a:ext cx="571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300">
                <a:solidFill>
                  <a:srgbClr val="CCCCCC"/>
                </a:solidFill>
                <a:latin typeface="Inter 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1560" y="6355080"/>
            <a:ext cx="5524499" cy="8572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0" b="1">
                <a:solidFill>
                  <a:srgbClr val="000000"/>
                </a:solidFill>
                <a:latin typeface="Inter Black"/>
              </a:rPr>
              <a:t>VELOCITY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90360" y="6802755"/>
            <a:ext cx="761999" cy="380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AAAAAA"/>
                </a:solidFill>
                <a:latin typeface="Inter Bold"/>
              </a:rPr>
              <a:t>vs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66660" y="6593205"/>
            <a:ext cx="3619499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888888"/>
                </a:solidFill>
                <a:latin typeface="Inter Black"/>
              </a:rPr>
              <a:t>CONTROL</a:t>
            </a:r>
          </a:p>
        </p:txBody>
      </p:sp>
      <p:pic>
        <p:nvPicPr>
          <p:cNvPr id="22" name="Graphic 21">
            <a:extLst>
              <a:ext uri="{FF2B5EF4-FFF2-40B4-BE49-F238E27FC236}">
                <a16:creationId xmlns:a16="http://schemas.microsoft.com/office/drawing/2014/main" id="{219372CD-E4D0-3F42-34C9-5D5B2F0E96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004810" y="1859280"/>
            <a:ext cx="11430000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9000" b="1" dirty="0">
                <a:solidFill>
                  <a:srgbClr val="FFFFFF">
                    <a:alpha val="5000"/>
                  </a:srgbClr>
                </a:solidFill>
                <a:latin typeface="Inter Black"/>
              </a:rPr>
              <a:t>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868929"/>
            <a:ext cx="16192499" cy="13430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0" b="1">
                <a:solidFill>
                  <a:srgbClr val="FFFFFF"/>
                </a:solidFill>
                <a:latin typeface="Inter Black"/>
              </a:rPr>
              <a:t>SOVEREIGNTY.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535804"/>
            <a:ext cx="11430000" cy="514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5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WHO CONTROLS THE API?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6581775"/>
            <a:ext cx="5196840" cy="85725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80160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150">
                <a:solidFill>
                  <a:srgbClr val="FFFFFF"/>
                </a:solidFill>
                <a:latin typeface="Inter ExtraBold"/>
              </a:rPr>
              <a:t>WHERE IS THE STATE?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77000" y="6581775"/>
            <a:ext cx="5196840" cy="85725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614159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150" dirty="0">
                <a:solidFill>
                  <a:srgbClr val="FFFFFF"/>
                </a:solidFill>
                <a:latin typeface="Inter ExtraBold"/>
              </a:rPr>
              <a:t>WHO OWNS THE AUDIT TRAIL?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11000" y="6581775"/>
            <a:ext cx="5334000" cy="85725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1948160" y="6831330"/>
            <a:ext cx="476250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150">
                <a:solidFill>
                  <a:srgbClr val="FFFFFF"/>
                </a:solidFill>
                <a:latin typeface="Inter ExtraBold"/>
              </a:rPr>
              <a:t>WHAT IF THE VENDOR LEAVES?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905874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F9DD7CA9-2A65-732D-DDF0-E209768DD40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04 / REAL-WORLD COMPLEXITY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1704976"/>
            <a:ext cx="152400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000" b="1" dirty="0">
                <a:solidFill>
                  <a:srgbClr val="000000"/>
                </a:solidFill>
                <a:latin typeface="Inter Black"/>
              </a:rPr>
              <a:t>THE FLEXIBLE CONTROL PLANE.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83180"/>
            <a:ext cx="11430000" cy="342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50" b="1" dirty="0">
                <a:solidFill>
                  <a:srgbClr val="888888"/>
                </a:solidFill>
                <a:latin typeface="Inter Bold"/>
              </a:rPr>
              <a:t>ONE ENGINE. </a:t>
            </a:r>
            <a:r>
              <a:rPr lang="en-US" sz="2250" b="1" dirty="0">
                <a:solidFill>
                  <a:srgbClr val="888888"/>
                </a:solidFill>
                <a:latin typeface="Inter Bold"/>
              </a:rPr>
              <a:t>4 </a:t>
            </a:r>
            <a:r>
              <a:rPr sz="2250" b="1" dirty="0">
                <a:solidFill>
                  <a:srgbClr val="888888"/>
                </a:solidFill>
                <a:latin typeface="Inter Bold"/>
              </a:rPr>
              <a:t>TOOLS. YOUR CHOICE.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3724275"/>
            <a:ext cx="16002000" cy="5143500"/>
          </a:xfrm>
          <a:prstGeom prst="rect">
            <a:avLst/>
          </a:prstGeom>
          <a:noFill/>
          <a:ln w="9525">
            <a:solidFill>
              <a:srgbClr val="326C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257299" y="3373754"/>
            <a:ext cx="2051685" cy="407671"/>
          </a:xfrm>
          <a:prstGeom prst="rect">
            <a:avLst/>
          </a:prstGeom>
          <a:solidFill>
            <a:srgbClr val="326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615965" y="3478531"/>
            <a:ext cx="142875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75" b="1" spc="150" dirty="0">
                <a:solidFill>
                  <a:srgbClr val="FFFFFF"/>
                </a:solidFill>
                <a:latin typeface="Inter Bold"/>
              </a:rPr>
              <a:t>KUBERNETES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573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2933700" y="3990974"/>
            <a:ext cx="533400" cy="5334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937510" y="4078605"/>
            <a:ext cx="2095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endParaRPr sz="1350" b="1" dirty="0">
              <a:solidFill>
                <a:srgbClr val="FFFFFF"/>
              </a:solidFill>
              <a:latin typeface="Inter Bold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3944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ASO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44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Azure resources as K8s CRDs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485899" y="5126355"/>
            <a:ext cx="938123" cy="2743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1478910" y="5159437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 dirty="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197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896099" y="3990974"/>
            <a:ext cx="533400" cy="5334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3568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CROSSPLANE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68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Build your own platform API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48299" y="5126355"/>
            <a:ext cx="938123" cy="27432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441309" y="5159437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821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858500" y="3990974"/>
            <a:ext cx="533400" cy="5334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93192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KRO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192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Compose multi-resource app concepts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410699" y="5126355"/>
            <a:ext cx="938123" cy="274320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9403710" y="5159437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 dirty="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144500" y="3838575"/>
            <a:ext cx="3886200" cy="17049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14820899" y="3990974"/>
            <a:ext cx="533400" cy="5334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3281660" y="4478655"/>
            <a:ext cx="34290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TERRANETES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281660" y="4754880"/>
            <a:ext cx="3429000" cy="32384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888888"/>
                </a:solidFill>
                <a:latin typeface="Inter Medium"/>
              </a:rPr>
              <a:t>Terraform under K8s control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373099" y="5126355"/>
            <a:ext cx="938123" cy="2743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3366110" y="5159437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Bold"/>
              </a:rPr>
              <a:t>DEMO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2323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66584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0993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4853285" y="55073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57300" y="6019800"/>
            <a:ext cx="15773400" cy="1143000"/>
          </a:xfrm>
          <a:prstGeom prst="rect">
            <a:avLst/>
          </a:prstGeom>
          <a:solidFill>
            <a:srgbClr val="1A33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Oval 44"/>
          <p:cNvSpPr/>
          <p:nvPr/>
        </p:nvSpPr>
        <p:spPr>
          <a:xfrm>
            <a:off x="6257925" y="6324600"/>
            <a:ext cx="533400" cy="533400"/>
          </a:xfrm>
          <a:prstGeom prst="ellipse">
            <a:avLst/>
          </a:prstGeom>
          <a:solidFill>
            <a:srgbClr val="326C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61810" y="6307454"/>
            <a:ext cx="5715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Inter Black"/>
              </a:rPr>
              <a:t>KUBERNETES API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61810" y="6612254"/>
            <a:ext cx="76200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150" dirty="0">
                <a:solidFill>
                  <a:srgbClr val="4A7AB5"/>
                </a:solidFill>
                <a:latin typeface="Inter SemiBold"/>
              </a:rPr>
              <a:t>THE CONTROL PLANE — ALL TOOLS RUN AS OPERATORS HERE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938259" y="7145655"/>
            <a:ext cx="28575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CCCCCC"/>
                </a:solidFill>
                <a:latin typeface="Inter"/>
              </a:rPr>
              <a:t>↓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257300" y="7600950"/>
            <a:ext cx="15773400" cy="11430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Oval 50"/>
          <p:cNvSpPr/>
          <p:nvPr/>
        </p:nvSpPr>
        <p:spPr>
          <a:xfrm>
            <a:off x="6581775" y="7905749"/>
            <a:ext cx="533400" cy="5334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7166609" y="7905749"/>
            <a:ext cx="3810000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solidFill>
                  <a:srgbClr val="FFFFFF"/>
                </a:solidFill>
                <a:latin typeface="Inter Black"/>
              </a:rPr>
              <a:t>ARGO CD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66609" y="8210549"/>
            <a:ext cx="6667499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15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GITOPS</a:t>
            </a:r>
            <a:r>
              <a:rPr sz="1050" b="0" spc="150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 DELIVERY LAYER — SITS BENEATH ALL TOOLS</a:t>
            </a:r>
          </a:p>
        </p:txBody>
      </p:sp>
      <p:pic>
        <p:nvPicPr>
          <p:cNvPr id="58" name="Graphic 57">
            <a:extLst>
              <a:ext uri="{FF2B5EF4-FFF2-40B4-BE49-F238E27FC236}">
                <a16:creationId xmlns:a16="http://schemas.microsoft.com/office/drawing/2014/main" id="{120FDC80-4A16-CA86-F08D-8927B3D71B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355834" y="3449955"/>
            <a:ext cx="260131" cy="260131"/>
          </a:xfrm>
          <a:prstGeom prst="rect">
            <a:avLst/>
          </a:prstGeom>
        </p:spPr>
      </p:pic>
      <p:pic>
        <p:nvPicPr>
          <p:cNvPr id="59" name="Graphic 58">
            <a:extLst>
              <a:ext uri="{FF2B5EF4-FFF2-40B4-BE49-F238E27FC236}">
                <a16:creationId xmlns:a16="http://schemas.microsoft.com/office/drawing/2014/main" id="{5A7956D6-82B2-3F10-28D9-CFCEB5EBF9B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366750" y="6425290"/>
            <a:ext cx="327419" cy="327419"/>
          </a:xfrm>
          <a:prstGeom prst="rect">
            <a:avLst/>
          </a:prstGeom>
        </p:spPr>
      </p:pic>
      <p:pic>
        <p:nvPicPr>
          <p:cNvPr id="60" name="Graphic 59">
            <a:extLst>
              <a:ext uri="{FF2B5EF4-FFF2-40B4-BE49-F238E27FC236}">
                <a16:creationId xmlns:a16="http://schemas.microsoft.com/office/drawing/2014/main" id="{9230F561-B78F-2E71-2A3E-DF75DFBE71D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-1" r="62917"/>
          <a:stretch>
            <a:fillRect/>
          </a:stretch>
        </p:blipFill>
        <p:spPr>
          <a:xfrm>
            <a:off x="6703890" y="7994431"/>
            <a:ext cx="298490" cy="366792"/>
          </a:xfrm>
          <a:prstGeom prst="rect">
            <a:avLst/>
          </a:prstGeom>
        </p:spPr>
      </p:pic>
      <p:pic>
        <p:nvPicPr>
          <p:cNvPr id="63" name="Graphic 62">
            <a:extLst>
              <a:ext uri="{FF2B5EF4-FFF2-40B4-BE49-F238E27FC236}">
                <a16:creationId xmlns:a16="http://schemas.microsoft.com/office/drawing/2014/main" id="{56FF10D3-8D9D-8C97-1D0D-5102A9DE413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89364"/>
          <a:stretch>
            <a:fillRect/>
          </a:stretch>
        </p:blipFill>
        <p:spPr>
          <a:xfrm>
            <a:off x="7075267" y="4075879"/>
            <a:ext cx="177068" cy="355149"/>
          </a:xfrm>
          <a:prstGeom prst="rect">
            <a:avLst/>
          </a:prstGeom>
        </p:spPr>
      </p:pic>
      <p:sp>
        <p:nvSpPr>
          <p:cNvPr id="64" name="TextBox 63">
            <a:extLst>
              <a:ext uri="{FF2B5EF4-FFF2-40B4-BE49-F238E27FC236}">
                <a16:creationId xmlns:a16="http://schemas.microsoft.com/office/drawing/2014/main" id="{78A695B5-0978-DB82-5F35-DA9CB924F96A}"/>
              </a:ext>
            </a:extLst>
          </p:cNvPr>
          <p:cNvSpPr txBox="1"/>
          <p:nvPr/>
        </p:nvSpPr>
        <p:spPr>
          <a:xfrm>
            <a:off x="10885004" y="4145818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b="1" spc="150" dirty="0">
                <a:solidFill>
                  <a:srgbClr val="FFFFFF"/>
                </a:solidFill>
                <a:latin typeface="Inter Bold"/>
              </a:rPr>
              <a:t>KRO</a:t>
            </a:r>
            <a:endParaRPr sz="1000" b="1" spc="150" dirty="0">
              <a:solidFill>
                <a:srgbClr val="FFFFFF"/>
              </a:solidFill>
              <a:latin typeface="Inter Bold"/>
            </a:endParaRPr>
          </a:p>
        </p:txBody>
      </p:sp>
      <p:pic>
        <p:nvPicPr>
          <p:cNvPr id="66" name="Graphic 65">
            <a:extLst>
              <a:ext uri="{FF2B5EF4-FFF2-40B4-BE49-F238E27FC236}">
                <a16:creationId xmlns:a16="http://schemas.microsoft.com/office/drawing/2014/main" id="{6A3A9E92-B248-B875-8290-DFE2263A770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r="76961"/>
          <a:stretch>
            <a:fillRect/>
          </a:stretch>
        </p:blipFill>
        <p:spPr>
          <a:xfrm>
            <a:off x="14828850" y="4027253"/>
            <a:ext cx="410639" cy="456468"/>
          </a:xfrm>
          <a:prstGeom prst="rect">
            <a:avLst/>
          </a:prstGeom>
        </p:spPr>
      </p:pic>
      <p:sp>
        <p:nvSpPr>
          <p:cNvPr id="67" name="TextBox 66">
            <a:extLst>
              <a:ext uri="{FF2B5EF4-FFF2-40B4-BE49-F238E27FC236}">
                <a16:creationId xmlns:a16="http://schemas.microsoft.com/office/drawing/2014/main" id="{1E0D6E93-0950-D921-0FCD-1ACA7B75361F}"/>
              </a:ext>
            </a:extLst>
          </p:cNvPr>
          <p:cNvSpPr txBox="1"/>
          <p:nvPr/>
        </p:nvSpPr>
        <p:spPr>
          <a:xfrm>
            <a:off x="2956037" y="4145601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b="1" spc="150" dirty="0">
                <a:solidFill>
                  <a:srgbClr val="FFFFFF"/>
                </a:solidFill>
                <a:latin typeface="Inter Bold"/>
              </a:rPr>
              <a:t>ASO</a:t>
            </a:r>
            <a:endParaRPr sz="1000" b="1" spc="150" dirty="0">
              <a:solidFill>
                <a:srgbClr val="FFFFFF"/>
              </a:solidFill>
              <a:latin typeface="Inter Bold"/>
            </a:endParaRPr>
          </a:p>
        </p:txBody>
      </p:sp>
      <p:pic>
        <p:nvPicPr>
          <p:cNvPr id="21" name="Graphic 20">
            <a:extLst>
              <a:ext uri="{FF2B5EF4-FFF2-40B4-BE49-F238E27FC236}">
                <a16:creationId xmlns:a16="http://schemas.microsoft.com/office/drawing/2014/main" id="{0EFED3A1-A779-7F37-E1EE-9D3CC13CC94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05 / DECISION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45030"/>
            <a:ext cx="8572500" cy="6858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0" b="1" dirty="0">
                <a:solidFill>
                  <a:srgbClr val="000000"/>
                </a:solidFill>
                <a:latin typeface="Inter Black"/>
              </a:rPr>
              <a:t>4</a:t>
            </a:r>
            <a:r>
              <a:rPr sz="6000" b="1" dirty="0">
                <a:solidFill>
                  <a:srgbClr val="000000"/>
                </a:solidFill>
                <a:latin typeface="Inter Black"/>
              </a:rPr>
              <a:t> TOOLS.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097530"/>
            <a:ext cx="1238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>
                <a:solidFill>
                  <a:srgbClr val="AAAAAA"/>
                </a:solidFill>
                <a:latin typeface="Inter SemiBold"/>
              </a:rPr>
              <a:t>CHOOSE BY ABSTRACTION, SKILLS, AND EXISTING INVESTMENTS.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4152900"/>
            <a:ext cx="16002000" cy="87629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1371600" y="4343400"/>
            <a:ext cx="495300" cy="495299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965960" y="428815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 dirty="0">
                <a:solidFill>
                  <a:srgbClr val="000000"/>
                </a:solidFill>
                <a:latin typeface="Inter Black"/>
              </a:rPr>
              <a:t>ASO — AZURE SERVICE OPERATOR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65960" y="455485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Azure resources in Git as Kubernetes YAML. If you think in Azure terms and want GitOps, start here.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763873" y="4415309"/>
            <a:ext cx="1062991" cy="25717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720060" y="4437832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LOW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672435" y="4697622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0078D4"/>
                </a:solidFill>
                <a:latin typeface="Inter Bold"/>
              </a:rPr>
              <a:t>✅ AZURE NATIVE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5086350"/>
            <a:ext cx="16002000" cy="8762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43000" y="5086350"/>
            <a:ext cx="16002000" cy="876299"/>
          </a:xfrm>
          <a:prstGeom prst="rect">
            <a:avLst/>
          </a:prstGeom>
          <a:noFill/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1371600" y="5276850"/>
            <a:ext cx="495300" cy="495299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965960" y="52216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CROSSPLANE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65960" y="548830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You design the API your developers use. Everything Azure is hidden behind your abstractions. Own the platform contract.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763873" y="5348759"/>
            <a:ext cx="1062991" cy="25717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15720060" y="5371282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HIGH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672435" y="5631072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888888"/>
                </a:solidFill>
                <a:latin typeface="Inter Bold"/>
              </a:rPr>
              <a:t>PARTIAL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6019800"/>
            <a:ext cx="16002000" cy="876299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/>
          <p:cNvSpPr/>
          <p:nvPr/>
        </p:nvSpPr>
        <p:spPr>
          <a:xfrm>
            <a:off x="1371600" y="6210300"/>
            <a:ext cx="495300" cy="495299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965960" y="615505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KRO — KUBERNETES RESOURCE ORCHESTRATOR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65960" y="642175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One CR expands into many. Compose app-level concepts without full Crossplane complexity. Pairs perfectly with ASO.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5763873" y="6282209"/>
            <a:ext cx="1062991" cy="25717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5720060" y="6304732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MEDIUM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672435" y="6564522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>
                <a:solidFill>
                  <a:srgbClr val="8B5CF6"/>
                </a:solidFill>
                <a:latin typeface="Inter Bold"/>
              </a:rPr>
              <a:t>✅ + ASO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000" y="6953250"/>
            <a:ext cx="16002000" cy="8762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143000" y="6953250"/>
            <a:ext cx="16002000" cy="876299"/>
          </a:xfrm>
          <a:prstGeom prst="rect">
            <a:avLst/>
          </a:prstGeom>
          <a:noFill/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1371600" y="7143750"/>
            <a:ext cx="495300" cy="495299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1965960" y="70885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1">
                <a:solidFill>
                  <a:srgbClr val="000000"/>
                </a:solidFill>
                <a:latin typeface="Inter Black"/>
              </a:rPr>
              <a:t>TERRANETES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65960" y="7355205"/>
            <a:ext cx="12382500" cy="28575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Your Terraform, under Kubernetes control. Policy-gated, Git-tracked, no rewrite required. The pragmatic choice.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763873" y="7215659"/>
            <a:ext cx="1062991" cy="25717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5720060" y="7238182"/>
            <a:ext cx="47625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150">
                <a:solidFill>
                  <a:srgbClr val="FFFFFF"/>
                </a:solidFill>
                <a:latin typeface="Inter ExtraBold"/>
              </a:rPr>
              <a:t>MEDIUM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672435" y="7497972"/>
            <a:ext cx="1143000" cy="1333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spc="75" dirty="0">
                <a:solidFill>
                  <a:srgbClr val="10B981"/>
                </a:solidFill>
                <a:latin typeface="Inter Bold"/>
              </a:rPr>
              <a:t>✅ AZURE NATIVE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143000" y="7964804"/>
            <a:ext cx="16002000" cy="876298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Oval 43"/>
          <p:cNvSpPr/>
          <p:nvPr/>
        </p:nvSpPr>
        <p:spPr>
          <a:xfrm>
            <a:off x="1371599" y="8155303"/>
            <a:ext cx="495299" cy="495299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965960" y="8300082"/>
            <a:ext cx="8572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ARGO CD — DELIVERS ALL OF THE ABOVE THROUGH GITOPS</a:t>
            </a:r>
          </a:p>
        </p:txBody>
      </p:sp>
      <p:pic>
        <p:nvPicPr>
          <p:cNvPr id="48" name="Graphic 47">
            <a:extLst>
              <a:ext uri="{FF2B5EF4-FFF2-40B4-BE49-F238E27FC236}">
                <a16:creationId xmlns:a16="http://schemas.microsoft.com/office/drawing/2014/main" id="{5953578D-111B-949F-8A6A-C859F49CEEA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1" r="62917"/>
          <a:stretch>
            <a:fillRect/>
          </a:stretch>
        </p:blipFill>
        <p:spPr>
          <a:xfrm>
            <a:off x="1470003" y="8219556"/>
            <a:ext cx="298490" cy="366792"/>
          </a:xfrm>
          <a:prstGeom prst="rect">
            <a:avLst/>
          </a:prstGeom>
        </p:spPr>
      </p:pic>
      <p:pic>
        <p:nvPicPr>
          <p:cNvPr id="49" name="Graphic 48">
            <a:extLst>
              <a:ext uri="{FF2B5EF4-FFF2-40B4-BE49-F238E27FC236}">
                <a16:creationId xmlns:a16="http://schemas.microsoft.com/office/drawing/2014/main" id="{9F03B20E-CA6D-F514-3365-5CD42B30E9E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9364"/>
          <a:stretch>
            <a:fillRect/>
          </a:stretch>
        </p:blipFill>
        <p:spPr>
          <a:xfrm>
            <a:off x="1530714" y="5346924"/>
            <a:ext cx="177068" cy="35514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E2B9447-AA48-296F-8034-5F6E77A653C4}"/>
              </a:ext>
            </a:extLst>
          </p:cNvPr>
          <p:cNvSpPr txBox="1"/>
          <p:nvPr/>
        </p:nvSpPr>
        <p:spPr>
          <a:xfrm>
            <a:off x="1381123" y="6350317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b="1" spc="150" dirty="0">
                <a:solidFill>
                  <a:srgbClr val="FFFFFF"/>
                </a:solidFill>
                <a:latin typeface="Inter Bold"/>
              </a:rPr>
              <a:t>KRO</a:t>
            </a:r>
            <a:endParaRPr sz="1000" b="1" spc="150" dirty="0">
              <a:solidFill>
                <a:srgbClr val="FFFFFF"/>
              </a:solidFill>
              <a:latin typeface="Inter Bold"/>
            </a:endParaRPr>
          </a:p>
        </p:txBody>
      </p:sp>
      <p:pic>
        <p:nvPicPr>
          <p:cNvPr id="51" name="Graphic 50">
            <a:extLst>
              <a:ext uri="{FF2B5EF4-FFF2-40B4-BE49-F238E27FC236}">
                <a16:creationId xmlns:a16="http://schemas.microsoft.com/office/drawing/2014/main" id="{0E0F88B8-19F4-04D7-0505-D091C42BBA1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76961"/>
          <a:stretch>
            <a:fillRect/>
          </a:stretch>
        </p:blipFill>
        <p:spPr>
          <a:xfrm>
            <a:off x="1371599" y="7163165"/>
            <a:ext cx="410639" cy="456468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3B6D071A-8418-4BA4-D78D-450FFEFB2051}"/>
              </a:ext>
            </a:extLst>
          </p:cNvPr>
          <p:cNvSpPr txBox="1"/>
          <p:nvPr/>
        </p:nvSpPr>
        <p:spPr>
          <a:xfrm>
            <a:off x="1390648" y="4473892"/>
            <a:ext cx="476250" cy="1428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000" b="1" spc="150" dirty="0">
                <a:solidFill>
                  <a:srgbClr val="FFFFFF"/>
                </a:solidFill>
                <a:latin typeface="Inter Bold"/>
              </a:rPr>
              <a:t>ASO</a:t>
            </a:r>
            <a:endParaRPr sz="1000" b="1" spc="150" dirty="0">
              <a:solidFill>
                <a:srgbClr val="FFFFFF"/>
              </a:solidFill>
              <a:latin typeface="Inter Bold"/>
            </a:endParaRPr>
          </a:p>
        </p:txBody>
      </p:sp>
      <p:pic>
        <p:nvPicPr>
          <p:cNvPr id="20" name="Graphic 19">
            <a:extLst>
              <a:ext uri="{FF2B5EF4-FFF2-40B4-BE49-F238E27FC236}">
                <a16:creationId xmlns:a16="http://schemas.microsoft.com/office/drawing/2014/main" id="{9389157C-3EAB-BFE8-E413-0F7BA22F8C3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147310" y="1668780"/>
            <a:ext cx="14287500" cy="57150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500" b="1" dirty="0">
                <a:solidFill>
                  <a:srgbClr val="000000">
                    <a:alpha val="3000"/>
                  </a:srgbClr>
                </a:solidFill>
                <a:latin typeface="Inter Black"/>
              </a:rPr>
              <a:t>LAYERS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05 / DECISION FRAMEWORK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419350"/>
            <a:ext cx="15240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dirty="0">
                <a:solidFill>
                  <a:srgbClr val="000000"/>
                </a:solidFill>
                <a:latin typeface="Inter Black"/>
              </a:rPr>
              <a:t>NOT MUTUALLY EXCLUSIVE.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278505"/>
            <a:ext cx="12382500" cy="2571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50" b="0" spc="75">
                <a:solidFill>
                  <a:srgbClr val="AAAAAA"/>
                </a:solidFill>
                <a:latin typeface="Inter SemiBold"/>
              </a:rPr>
              <a:t>USE ONE. USE ALL FOUR. REAL PLATFORMS MIX AND MATCH.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0" y="5105400"/>
            <a:ext cx="14401800" cy="533400"/>
          </a:xfrm>
          <a:prstGeom prst="rect">
            <a:avLst/>
          </a:prstGeom>
          <a:solidFill>
            <a:srgbClr val="F0F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50787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DEVELOPER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42259" y="5135880"/>
            <a:ext cx="1402080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333333"/>
                </a:solidFill>
                <a:latin typeface="Inter SemiBold"/>
              </a:rPr>
              <a:t>Simple CR</a:t>
            </a:r>
            <a:r>
              <a:rPr lang="en-US" sz="1200" b="0" dirty="0">
                <a:solidFill>
                  <a:srgbClr val="333333"/>
                </a:solidFill>
                <a:latin typeface="Inter SemiBold"/>
              </a:rPr>
              <a:t>: </a:t>
            </a:r>
            <a:r>
              <a:rPr sz="1200" b="0" dirty="0">
                <a:solidFill>
                  <a:srgbClr val="333333"/>
                </a:solidFill>
                <a:latin typeface="Inter SemiBold"/>
              </a:rPr>
              <a:t>give me an </a:t>
            </a:r>
            <a:r>
              <a:rPr sz="1200" b="0" dirty="0" err="1">
                <a:solidFill>
                  <a:srgbClr val="333333"/>
                </a:solidFill>
                <a:latin typeface="Inter SemiBold"/>
              </a:rPr>
              <a:t>AppDatabase</a:t>
            </a:r>
            <a:r>
              <a:rPr sz="1200" b="0" dirty="0">
                <a:solidFill>
                  <a:srgbClr val="333333"/>
                </a:solidFill>
                <a:latin typeface="Inter SemiBold"/>
              </a:rPr>
              <a:t>  ·  One KRO </a:t>
            </a:r>
            <a:r>
              <a:rPr sz="1200" b="0" dirty="0" err="1">
                <a:solidFill>
                  <a:srgbClr val="333333"/>
                </a:solidFill>
                <a:latin typeface="Inter SemiBold"/>
              </a:rPr>
              <a:t>ResourceGroup</a:t>
            </a:r>
            <a:r>
              <a:rPr sz="1200" b="0" dirty="0">
                <a:solidFill>
                  <a:srgbClr val="333333"/>
                </a:solidFill>
                <a:latin typeface="Inter SemiBold"/>
              </a:rPr>
              <a:t>  ·  No YAML knowledge required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0" y="5715000"/>
            <a:ext cx="14401800" cy="647699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56883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PROVISIONING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95599" y="5829300"/>
            <a:ext cx="818717" cy="419100"/>
          </a:xfrm>
          <a:prstGeom prst="rect">
            <a:avLst/>
          </a:prstGeom>
          <a:solidFill>
            <a:srgbClr val="EB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2990850" y="5924550"/>
            <a:ext cx="228600" cy="2286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238066" y="5922016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0078D4"/>
                </a:solidFill>
                <a:latin typeface="Inter ExtraBold"/>
              </a:rPr>
              <a:t>ASO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829049" y="5829300"/>
            <a:ext cx="1743075" cy="4191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3919538" y="5924550"/>
            <a:ext cx="228600" cy="2286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118541" y="5922016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dirty="0" err="1">
                <a:solidFill>
                  <a:srgbClr val="EF4444"/>
                </a:solidFill>
                <a:latin typeface="Inter ExtraBold"/>
              </a:rPr>
              <a:t>CROSSPLANE</a:t>
            </a:r>
            <a:endParaRPr sz="1050" b="1" dirty="0">
              <a:solidFill>
                <a:srgbClr val="EF4444"/>
              </a:solidFill>
              <a:latin typeface="Inter ExtraBold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692356" y="5829300"/>
            <a:ext cx="818717" cy="419100"/>
          </a:xfrm>
          <a:prstGeom prst="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5783580" y="5924550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018946" y="5922016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B5CF6"/>
                </a:solidFill>
                <a:latin typeface="Inter ExtraBold"/>
              </a:rPr>
              <a:t>KRO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71310" y="5829300"/>
            <a:ext cx="1743075" cy="4191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Oval 27"/>
          <p:cNvSpPr/>
          <p:nvPr/>
        </p:nvSpPr>
        <p:spPr>
          <a:xfrm>
            <a:off x="6757035" y="5924550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985635" y="5922016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dirty="0" err="1">
                <a:solidFill>
                  <a:srgbClr val="10B981"/>
                </a:solidFill>
                <a:latin typeface="Inter ExtraBold"/>
              </a:rPr>
              <a:t>TERRANETES</a:t>
            </a:r>
            <a:endParaRPr sz="1050" b="1" dirty="0">
              <a:solidFill>
                <a:srgbClr val="10B981"/>
              </a:solidFill>
              <a:latin typeface="Inter ExtraBold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2743200" y="6438899"/>
            <a:ext cx="14401800" cy="609600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51560" y="64122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DELIVERY</a:t>
            </a:r>
          </a:p>
        </p:txBody>
      </p:sp>
      <p:sp>
        <p:nvSpPr>
          <p:cNvPr id="33" name="Oval 32"/>
          <p:cNvSpPr/>
          <p:nvPr/>
        </p:nvSpPr>
        <p:spPr>
          <a:xfrm>
            <a:off x="2933700" y="6591300"/>
            <a:ext cx="304800" cy="3048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3312796" y="6601777"/>
            <a:ext cx="133349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50" dirty="0">
                <a:solidFill>
                  <a:srgbClr val="FFFFFF"/>
                </a:solidFill>
                <a:latin typeface="Inter Bold"/>
              </a:rPr>
              <a:t>ARGO CD</a:t>
            </a:r>
            <a:r>
              <a:rPr lang="en-US" sz="1200" b="1" spc="150" dirty="0">
                <a:solidFill>
                  <a:srgbClr val="FFFFFF"/>
                </a:solidFill>
                <a:latin typeface="Inter Bold"/>
              </a:rPr>
              <a:t>: </a:t>
            </a:r>
            <a:r>
              <a:rPr sz="1200" b="1" spc="150" dirty="0">
                <a:solidFill>
                  <a:srgbClr val="FFFFFF"/>
                </a:solidFill>
                <a:latin typeface="Inter Bold"/>
              </a:rPr>
              <a:t> WATCHES GIT  ·  SYNCS TO KUBERNETES  ·  DELIVERS EVERYTHING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7124699"/>
            <a:ext cx="14401800" cy="485775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51560" y="7098030"/>
            <a:ext cx="1476375" cy="1238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25" b="1" spc="225">
                <a:solidFill>
                  <a:srgbClr val="AAAAAA"/>
                </a:solidFill>
                <a:latin typeface="Inter Bold"/>
              </a:rPr>
              <a:t>SOURCE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42259" y="7225664"/>
            <a:ext cx="2476499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75" dirty="0">
                <a:solidFill>
                  <a:srgbClr val="333333"/>
                </a:solidFill>
                <a:latin typeface="Inter ExtraBold"/>
              </a:rPr>
              <a:t>GIT REPOSITORY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33047" y="7225663"/>
            <a:ext cx="8572500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dirty="0">
                <a:solidFill>
                  <a:srgbClr val="888888"/>
                </a:solidFill>
                <a:latin typeface="Inter"/>
              </a:rPr>
              <a:t>single source of truth for all resource definitions</a:t>
            </a:r>
          </a:p>
        </p:txBody>
      </p:sp>
      <p:pic>
        <p:nvPicPr>
          <p:cNvPr id="46" name="Graphic 45">
            <a:extLst>
              <a:ext uri="{FF2B5EF4-FFF2-40B4-BE49-F238E27FC236}">
                <a16:creationId xmlns:a16="http://schemas.microsoft.com/office/drawing/2014/main" id="{9A9A69E9-5B0F-DCB1-ADD2-BD7F294F1AE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-1" r="62917"/>
          <a:stretch>
            <a:fillRect/>
          </a:stretch>
        </p:blipFill>
        <p:spPr>
          <a:xfrm>
            <a:off x="2990773" y="6620743"/>
            <a:ext cx="196239" cy="241143"/>
          </a:xfrm>
          <a:prstGeom prst="rect">
            <a:avLst/>
          </a:prstGeom>
        </p:spPr>
      </p:pic>
      <p:pic>
        <p:nvPicPr>
          <p:cNvPr id="47" name="Graphic 46">
            <a:extLst>
              <a:ext uri="{FF2B5EF4-FFF2-40B4-BE49-F238E27FC236}">
                <a16:creationId xmlns:a16="http://schemas.microsoft.com/office/drawing/2014/main" id="{B89E7DE4-AEFA-EF97-7C52-B202670D9AA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9364"/>
          <a:stretch>
            <a:fillRect/>
          </a:stretch>
        </p:blipFill>
        <p:spPr>
          <a:xfrm>
            <a:off x="-617525" y="4798406"/>
            <a:ext cx="90428" cy="181373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D5811232-2BA5-B7FA-3DDC-ED4D5B922A41}"/>
              </a:ext>
            </a:extLst>
          </p:cNvPr>
          <p:cNvSpPr txBox="1"/>
          <p:nvPr/>
        </p:nvSpPr>
        <p:spPr>
          <a:xfrm>
            <a:off x="5719263" y="5954159"/>
            <a:ext cx="452654" cy="135796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b="1" dirty="0">
                <a:solidFill>
                  <a:srgbClr val="FFFFFF"/>
                </a:solidFill>
                <a:latin typeface="Inter Bold"/>
              </a:rPr>
              <a:t>KRO</a:t>
            </a:r>
            <a:endParaRPr sz="600" b="1" dirty="0">
              <a:solidFill>
                <a:srgbClr val="FFFFFF"/>
              </a:solidFill>
              <a:latin typeface="Inter Bold"/>
            </a:endParaRPr>
          </a:p>
        </p:txBody>
      </p:sp>
      <p:pic>
        <p:nvPicPr>
          <p:cNvPr id="49" name="Graphic 48">
            <a:extLst>
              <a:ext uri="{FF2B5EF4-FFF2-40B4-BE49-F238E27FC236}">
                <a16:creationId xmlns:a16="http://schemas.microsoft.com/office/drawing/2014/main" id="{64E87992-8560-5142-3414-E134778861B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r="76961"/>
          <a:stretch>
            <a:fillRect/>
          </a:stretch>
        </p:blipFill>
        <p:spPr>
          <a:xfrm>
            <a:off x="6738906" y="5926130"/>
            <a:ext cx="209712" cy="233116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6C64BB5A-C0EB-01BB-5267-F29C7D1ECCCD}"/>
              </a:ext>
            </a:extLst>
          </p:cNvPr>
          <p:cNvSpPr txBox="1"/>
          <p:nvPr/>
        </p:nvSpPr>
        <p:spPr>
          <a:xfrm>
            <a:off x="2926404" y="5952797"/>
            <a:ext cx="452654" cy="135796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b="1" dirty="0">
                <a:solidFill>
                  <a:srgbClr val="FFFFFF"/>
                </a:solidFill>
                <a:latin typeface="Inter Bold"/>
              </a:rPr>
              <a:t>ASO</a:t>
            </a:r>
            <a:endParaRPr sz="600" b="1" dirty="0">
              <a:solidFill>
                <a:srgbClr val="FFFFFF"/>
              </a:solidFill>
              <a:latin typeface="Inter Bold"/>
            </a:endParaRPr>
          </a:p>
        </p:txBody>
      </p:sp>
      <p:pic>
        <p:nvPicPr>
          <p:cNvPr id="51" name="Graphic 50">
            <a:extLst>
              <a:ext uri="{FF2B5EF4-FFF2-40B4-BE49-F238E27FC236}">
                <a16:creationId xmlns:a16="http://schemas.microsoft.com/office/drawing/2014/main" id="{986DFAA1-C358-1847-82FD-46079599F75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9364"/>
          <a:stretch>
            <a:fillRect/>
          </a:stretch>
        </p:blipFill>
        <p:spPr>
          <a:xfrm>
            <a:off x="3985612" y="5959585"/>
            <a:ext cx="90428" cy="181373"/>
          </a:xfrm>
          <a:prstGeom prst="rect">
            <a:avLst/>
          </a:prstGeom>
        </p:spPr>
      </p:pic>
      <p:pic>
        <p:nvPicPr>
          <p:cNvPr id="17" name="Graphic 16">
            <a:extLst>
              <a:ext uri="{FF2B5EF4-FFF2-40B4-BE49-F238E27FC236}">
                <a16:creationId xmlns:a16="http://schemas.microsoft.com/office/drawing/2014/main" id="{17F15279-E8DD-03BA-A6B2-23CB5D933C9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814060" y="906780"/>
            <a:ext cx="13334999" cy="6667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BUILD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05 / DECISION FRAMEWORK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764280"/>
            <a:ext cx="16192499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>
                <a:solidFill>
                  <a:srgbClr val="FFFFFF"/>
                </a:solidFill>
                <a:latin typeface="Inter Black"/>
              </a:rPr>
              <a:t>LET’S BUILD.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5888356"/>
            <a:ext cx="15240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FOUR TOOLS. FOUR PROBLEMS. LIVE.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3231BC8-1024-0328-6A6A-18CD82E9EC78}"/>
              </a:ext>
            </a:extLst>
          </p:cNvPr>
          <p:cNvSpPr/>
          <p:nvPr/>
        </p:nvSpPr>
        <p:spPr>
          <a:xfrm>
            <a:off x="1165578" y="7098312"/>
            <a:ext cx="818717" cy="4191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56E7A0F-EDD6-C331-5059-652208640353}"/>
              </a:ext>
            </a:extLst>
          </p:cNvPr>
          <p:cNvSpPr/>
          <p:nvPr/>
        </p:nvSpPr>
        <p:spPr>
          <a:xfrm>
            <a:off x="1260829" y="7193562"/>
            <a:ext cx="228600" cy="2286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4A3E2E-9712-12EA-9225-4F12290E3EA5}"/>
              </a:ext>
            </a:extLst>
          </p:cNvPr>
          <p:cNvSpPr txBox="1"/>
          <p:nvPr/>
        </p:nvSpPr>
        <p:spPr>
          <a:xfrm>
            <a:off x="1508045" y="7191028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dirty="0">
                <a:solidFill>
                  <a:srgbClr val="0078D4"/>
                </a:solidFill>
                <a:latin typeface="Inter ExtraBold"/>
              </a:rPr>
              <a:t>ASO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359B19C-016F-411C-5A90-B9E210C32F0D}"/>
              </a:ext>
            </a:extLst>
          </p:cNvPr>
          <p:cNvSpPr/>
          <p:nvPr/>
        </p:nvSpPr>
        <p:spPr>
          <a:xfrm>
            <a:off x="2099028" y="7098312"/>
            <a:ext cx="1743075" cy="4191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115437F7-9882-BB68-053E-DE5BA798947F}"/>
              </a:ext>
            </a:extLst>
          </p:cNvPr>
          <p:cNvSpPr/>
          <p:nvPr/>
        </p:nvSpPr>
        <p:spPr>
          <a:xfrm>
            <a:off x="2189517" y="7193562"/>
            <a:ext cx="228600" cy="2286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A12CBA5-8381-3513-B532-F45716F7FF51}"/>
              </a:ext>
            </a:extLst>
          </p:cNvPr>
          <p:cNvSpPr txBox="1"/>
          <p:nvPr/>
        </p:nvSpPr>
        <p:spPr>
          <a:xfrm>
            <a:off x="2388520" y="7191028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dirty="0" err="1">
                <a:solidFill>
                  <a:srgbClr val="EF4444"/>
                </a:solidFill>
                <a:latin typeface="Inter ExtraBold"/>
              </a:rPr>
              <a:t>CROSSPLANE</a:t>
            </a:r>
            <a:endParaRPr sz="1050" b="1" dirty="0">
              <a:solidFill>
                <a:srgbClr val="EF4444"/>
              </a:solidFill>
              <a:latin typeface="Inter ExtraBold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7FEA38F-DAAF-233C-F097-7029D111BC39}"/>
              </a:ext>
            </a:extLst>
          </p:cNvPr>
          <p:cNvSpPr/>
          <p:nvPr/>
        </p:nvSpPr>
        <p:spPr>
          <a:xfrm>
            <a:off x="3962335" y="7098312"/>
            <a:ext cx="818717" cy="4191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7481E588-2625-AFCA-84F2-4B86922C7DD8}"/>
              </a:ext>
            </a:extLst>
          </p:cNvPr>
          <p:cNvSpPr/>
          <p:nvPr/>
        </p:nvSpPr>
        <p:spPr>
          <a:xfrm>
            <a:off x="4053559" y="7193562"/>
            <a:ext cx="228600" cy="228600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9A0E704-8FF9-3CFC-F089-64E1D3BA7462}"/>
              </a:ext>
            </a:extLst>
          </p:cNvPr>
          <p:cNvSpPr txBox="1"/>
          <p:nvPr/>
        </p:nvSpPr>
        <p:spPr>
          <a:xfrm>
            <a:off x="4288925" y="7191028"/>
            <a:ext cx="257175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8B5CF6"/>
                </a:solidFill>
                <a:latin typeface="Inter ExtraBold"/>
              </a:rPr>
              <a:t>KRO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DE1F39F0-9A68-BA4C-501F-8FC4D4A07DBE}"/>
              </a:ext>
            </a:extLst>
          </p:cNvPr>
          <p:cNvSpPr/>
          <p:nvPr/>
        </p:nvSpPr>
        <p:spPr>
          <a:xfrm>
            <a:off x="4941289" y="7098312"/>
            <a:ext cx="1743075" cy="4191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77B996F-C435-D71E-A509-43641095D4AF}"/>
              </a:ext>
            </a:extLst>
          </p:cNvPr>
          <p:cNvSpPr/>
          <p:nvPr/>
        </p:nvSpPr>
        <p:spPr>
          <a:xfrm>
            <a:off x="5027014" y="7193562"/>
            <a:ext cx="228600" cy="2286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EA6618D-70F4-308E-5EE8-27B0A7F55898}"/>
              </a:ext>
            </a:extLst>
          </p:cNvPr>
          <p:cNvSpPr txBox="1"/>
          <p:nvPr/>
        </p:nvSpPr>
        <p:spPr>
          <a:xfrm>
            <a:off x="5255614" y="7191028"/>
            <a:ext cx="857250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dirty="0" err="1">
                <a:solidFill>
                  <a:srgbClr val="10B981"/>
                </a:solidFill>
                <a:latin typeface="Inter ExtraBold"/>
              </a:rPr>
              <a:t>TERRANETES</a:t>
            </a:r>
            <a:endParaRPr sz="1050" b="1" dirty="0">
              <a:solidFill>
                <a:srgbClr val="10B981"/>
              </a:solidFill>
              <a:latin typeface="Inter ExtraBold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83AFCFB-9B17-7D15-5A2E-1BED40AB2C18}"/>
              </a:ext>
            </a:extLst>
          </p:cNvPr>
          <p:cNvSpPr txBox="1"/>
          <p:nvPr/>
        </p:nvSpPr>
        <p:spPr>
          <a:xfrm>
            <a:off x="3989242" y="7223171"/>
            <a:ext cx="452654" cy="135796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b="1" dirty="0">
                <a:solidFill>
                  <a:srgbClr val="FFFFFF"/>
                </a:solidFill>
                <a:latin typeface="Inter Bold"/>
              </a:rPr>
              <a:t>KRO</a:t>
            </a:r>
            <a:endParaRPr sz="600" b="1" dirty="0">
              <a:solidFill>
                <a:srgbClr val="FFFFFF"/>
              </a:solidFill>
              <a:latin typeface="Inter Bold"/>
            </a:endParaRPr>
          </a:p>
        </p:txBody>
      </p:sp>
      <p:pic>
        <p:nvPicPr>
          <p:cNvPr id="39" name="Graphic 38">
            <a:extLst>
              <a:ext uri="{FF2B5EF4-FFF2-40B4-BE49-F238E27FC236}">
                <a16:creationId xmlns:a16="http://schemas.microsoft.com/office/drawing/2014/main" id="{3232BA47-A261-6632-ED42-AC326A8EDF3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6961"/>
          <a:stretch>
            <a:fillRect/>
          </a:stretch>
        </p:blipFill>
        <p:spPr>
          <a:xfrm>
            <a:off x="5008885" y="7195142"/>
            <a:ext cx="209712" cy="233116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A624D72A-287D-53DC-956A-37153B320B16}"/>
              </a:ext>
            </a:extLst>
          </p:cNvPr>
          <p:cNvSpPr txBox="1"/>
          <p:nvPr/>
        </p:nvSpPr>
        <p:spPr>
          <a:xfrm>
            <a:off x="1196383" y="7221809"/>
            <a:ext cx="452654" cy="135796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600" b="1" dirty="0">
                <a:solidFill>
                  <a:srgbClr val="FFFFFF"/>
                </a:solidFill>
                <a:latin typeface="Inter Bold"/>
              </a:rPr>
              <a:t>ASO</a:t>
            </a:r>
            <a:endParaRPr sz="600" b="1" dirty="0">
              <a:solidFill>
                <a:srgbClr val="FFFFFF"/>
              </a:solidFill>
              <a:latin typeface="Inter Bold"/>
            </a:endParaRPr>
          </a:p>
        </p:txBody>
      </p:sp>
      <p:pic>
        <p:nvPicPr>
          <p:cNvPr id="41" name="Graphic 40">
            <a:extLst>
              <a:ext uri="{FF2B5EF4-FFF2-40B4-BE49-F238E27FC236}">
                <a16:creationId xmlns:a16="http://schemas.microsoft.com/office/drawing/2014/main" id="{2B35E3DF-9385-3917-8332-61F9852041F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89364"/>
          <a:stretch>
            <a:fillRect/>
          </a:stretch>
        </p:blipFill>
        <p:spPr>
          <a:xfrm>
            <a:off x="2255591" y="7228597"/>
            <a:ext cx="90428" cy="181373"/>
          </a:xfrm>
          <a:prstGeom prst="rect">
            <a:avLst/>
          </a:prstGeom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AF9F52E6-73A4-8F74-2466-6C2BB8E183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433060" y="2049780"/>
            <a:ext cx="9953625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ASO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06 / ASO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949862"/>
            <a:ext cx="16002000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 dirty="0">
                <a:solidFill>
                  <a:srgbClr val="FFFFFF"/>
                </a:solidFill>
                <a:latin typeface="Inter Black"/>
              </a:rPr>
              <a:t>ASO.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7088505"/>
            <a:ext cx="16002000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YOUR AZURE. YAML-DRIVEN.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47D7A7F9-C171-58C9-0646-F837946E3E5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06 / ASO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33670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 dirty="0">
                <a:solidFill>
                  <a:srgbClr val="FFFFFF"/>
                </a:solidFill>
                <a:latin typeface="Inter Black"/>
              </a:rPr>
              <a:t>WHAT WE'RE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621400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spc="150" dirty="0">
                <a:solidFill>
                  <a:schemeClr val="bg1">
                    <a:lumMod val="65000"/>
                  </a:schemeClr>
                </a:solidFill>
                <a:latin typeface="Inter SemiBold"/>
              </a:rPr>
              <a:t>GIT COMMIT  →  ARGO CD  →  ASO CONTROLLER  →  AZURE RESOURCE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5295897"/>
            <a:ext cx="3524250" cy="28575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3000" y="5295897"/>
            <a:ext cx="3524250" cy="4762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42060" y="5440677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225" dirty="0">
                <a:solidFill>
                  <a:srgbClr val="888888"/>
                </a:solidFill>
                <a:latin typeface="Inter Bold"/>
              </a:rPr>
              <a:t>GIT REPO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5848609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 err="1">
                <a:solidFill>
                  <a:srgbClr val="FFFFFF"/>
                </a:solidFill>
                <a:latin typeface="Inter ExtraBold"/>
              </a:rPr>
              <a:t>storageaccount.yaml</a:t>
            </a:r>
            <a:endParaRPr sz="2000" b="1" dirty="0">
              <a:solidFill>
                <a:srgbClr val="FFFFFF"/>
              </a:solidFill>
              <a:latin typeface="Inter ExtraBold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242060" y="6529518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chemeClr val="bg1">
                    <a:lumMod val="95000"/>
                  </a:schemeClr>
                </a:solidFill>
                <a:latin typeface="Inter"/>
              </a:rPr>
              <a:t>Developer commits a Kubernetes manifest to the main branch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05425" y="5295897"/>
            <a:ext cx="3524250" cy="28575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305425" y="5295897"/>
            <a:ext cx="3524250" cy="47624"/>
          </a:xfrm>
          <a:prstGeom prst="rect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404485" y="5440677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225">
                <a:solidFill>
                  <a:srgbClr val="EF7B4D"/>
                </a:solidFill>
                <a:latin typeface="Inter Bold"/>
              </a:rPr>
              <a:t>ARGO CD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04485" y="5848609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 ExtraBold"/>
              </a:rPr>
              <a:t>Detects &amp; deploys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04485" y="6529518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chemeClr val="bg1">
                    <a:lumMod val="95000"/>
                  </a:schemeClr>
                </a:solidFill>
                <a:latin typeface="Inter"/>
              </a:rPr>
              <a:t>Watches the Git repo and applies the manifest to the cluster on every push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67850" y="5295897"/>
            <a:ext cx="3524250" cy="28575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9467850" y="5295897"/>
            <a:ext cx="3524250" cy="47624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566909" y="5440677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225">
                <a:solidFill>
                  <a:srgbClr val="0078D4"/>
                </a:solidFill>
                <a:latin typeface="Inter Bold"/>
              </a:rPr>
              <a:t>ASO CONTROLLER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6909" y="5848609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 ExtraBold"/>
              </a:rPr>
              <a:t>Reads CRD, calls API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66909" y="6529518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chemeClr val="bg1">
                    <a:lumMod val="95000"/>
                  </a:schemeClr>
                </a:solidFill>
                <a:latin typeface="Inter"/>
              </a:rPr>
              <a:t>Azure Service Operator reconciles the StorageAccount CRD via Azure ARM API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3630275" y="5295897"/>
            <a:ext cx="3524250" cy="28575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13630275" y="5295897"/>
            <a:ext cx="3524250" cy="47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3729335" y="5440677"/>
            <a:ext cx="31432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225">
                <a:solidFill>
                  <a:srgbClr val="10B981"/>
                </a:solidFill>
                <a:latin typeface="Inter Bold"/>
              </a:rPr>
              <a:t>AZURE RESOURCE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29335" y="5848609"/>
            <a:ext cx="3143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 ExtraBold"/>
              </a:rPr>
              <a:t>Storage Account ready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29335" y="6529518"/>
            <a:ext cx="31432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chemeClr val="bg1">
                    <a:lumMod val="95000"/>
                  </a:schemeClr>
                </a:solidFill>
                <a:latin typeface="Inter"/>
              </a:rPr>
              <a:t>Azure Storage Account is provisioned and managed through the GitOps loop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66310" y="6517002"/>
            <a:ext cx="257175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old"/>
              </a:rPr>
              <a:t>→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28735" y="6517002"/>
            <a:ext cx="257175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chemeClr val="tx1">
                    <a:lumMod val="50000"/>
                    <a:lumOff val="50000"/>
                  </a:schemeClr>
                </a:solidFill>
                <a:latin typeface="Inter Bold"/>
              </a:rPr>
              <a:t>→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91160" y="6517002"/>
            <a:ext cx="257175" cy="3238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chemeClr val="tx1">
                    <a:lumMod val="50000"/>
                    <a:lumOff val="50000"/>
                  </a:schemeClr>
                </a:solidFill>
                <a:latin typeface="Inter Bold"/>
              </a:rPr>
              <a:t>→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8CEAB218-516A-9795-A0EB-2892336340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671060" y="716280"/>
            <a:ext cx="12506324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YAML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47625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06 / ASO ·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88055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APPLY YAML.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35830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GET AZURE.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6259830"/>
            <a:ext cx="160020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rgbClr val="444444"/>
                </a:solidFill>
                <a:latin typeface="Inter Black"/>
              </a:rPr>
              <a:t>NO TERRAFORM. NO BICEP.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7320915"/>
            <a:ext cx="2124075" cy="5334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1333500" y="7454264"/>
            <a:ext cx="266700" cy="2667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358749" y="7436552"/>
            <a:ext cx="11430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4010" y="7470951"/>
            <a:ext cx="14573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KUBECTL APPLY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14750" y="7320915"/>
            <a:ext cx="2162174" cy="5334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3905249" y="7454264"/>
            <a:ext cx="266700" cy="266700"/>
          </a:xfrm>
          <a:prstGeom prst="ellipse">
            <a:avLst/>
          </a:prstGeom>
          <a:solidFill>
            <a:srgbClr val="EF7B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923184" y="7429237"/>
            <a:ext cx="11430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75760" y="7470951"/>
            <a:ext cx="14954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Inter ExtraBold"/>
              </a:rPr>
              <a:t>ARGO CD SYNCS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24599" y="7320915"/>
            <a:ext cx="2886075" cy="5334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515100" y="7454264"/>
            <a:ext cx="266700" cy="2667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3033" y="7436552"/>
            <a:ext cx="11430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5610" y="7470951"/>
            <a:ext cx="2219325" cy="1809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AZURE RESOURCE READY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89935" y="7408545"/>
            <a:ext cx="219075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99784" y="7408545"/>
            <a:ext cx="219075" cy="2762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pic>
        <p:nvPicPr>
          <p:cNvPr id="25" name="Graphic 24">
            <a:extLst>
              <a:ext uri="{FF2B5EF4-FFF2-40B4-BE49-F238E27FC236}">
                <a16:creationId xmlns:a16="http://schemas.microsoft.com/office/drawing/2014/main" id="{AAC945CC-6B37-2417-9B8F-D8EA5418FEE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957310" y="-161925"/>
            <a:ext cx="916305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 dirty="0">
                <a:solidFill>
                  <a:srgbClr val="000000">
                    <a:alpha val="3000"/>
                  </a:srgbClr>
                </a:solidFill>
                <a:latin typeface="Inter Black"/>
              </a:rPr>
              <a:t>ASO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06 / ASO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88030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Inter Black"/>
              </a:rPr>
              <a:t>FAST. TRANSPARENT. COMPOSABLE.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50030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spc="75" dirty="0">
                <a:solidFill>
                  <a:srgbClr val="AAAAAA"/>
                </a:solidFill>
                <a:latin typeface="Inter SemiBold"/>
              </a:rPr>
              <a:t>THREE THINGS TO KNOW BEFORE YOU CHOOSE ASO.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933950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371600" y="5162550"/>
            <a:ext cx="342900" cy="3429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03597" y="5183117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03110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FAST TO START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32638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dirty="0">
                <a:solidFill>
                  <a:srgbClr val="666666"/>
                </a:solidFill>
                <a:latin typeface="Inter"/>
              </a:rPr>
              <a:t>Zero abstractions to design. Install ASO, configure workload identity, start provisioning.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6127432"/>
            <a:ext cx="16002000" cy="800100"/>
          </a:xfrm>
          <a:prstGeom prst="rect">
            <a:avLst/>
          </a:prstGeom>
          <a:solidFill>
            <a:srgbClr val="FFFFFF"/>
          </a:solidFill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371600" y="6356032"/>
            <a:ext cx="342900" cy="3429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94266" y="6376600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6224588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TRANSPARENT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519863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66666"/>
                </a:solidFill>
                <a:latin typeface="Inter"/>
              </a:rPr>
              <a:t>Developers see Azure resource types directly. A feature for Azure-native teams; a limitation when you want to hide the cloud layer.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279004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371600" y="7507604"/>
            <a:ext cx="342900" cy="3429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94266" y="7528171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dirty="0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7376159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COMPOSABLE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671434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666666"/>
                </a:solidFill>
                <a:latin typeface="Inter"/>
              </a:rPr>
              <a:t>Pairs naturally with KRO for higher-level developer APIs. ASO handles the Azure layer; KRO composes the experience.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347710"/>
            <a:ext cx="16002000" cy="49339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80160" y="8471535"/>
            <a:ext cx="348615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 dirty="0">
                <a:solidFill>
                  <a:srgbClr val="FFFFFF"/>
                </a:solidFill>
                <a:latin typeface="Inter Bold"/>
              </a:rPr>
              <a:t>WANT CLOUD-AGNOSTIC ABSTRACTIONS?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18710" y="8471535"/>
            <a:ext cx="2857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0" spc="75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→  </a:t>
            </a:r>
            <a:r>
              <a:rPr sz="1050" b="0" spc="75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CROSSPLANE</a:t>
            </a:r>
            <a:r>
              <a:rPr sz="1050" b="0" spc="75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 IS NEXT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3F1FDF66-4AC4-9F21-A9E7-392DD9E8986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147060" y="2049780"/>
            <a:ext cx="15830550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CROSS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07 / CROSSPLANE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954905"/>
            <a:ext cx="16002000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 dirty="0" err="1">
                <a:solidFill>
                  <a:srgbClr val="FFFFFF"/>
                </a:solidFill>
                <a:latin typeface="Inter Black"/>
              </a:rPr>
              <a:t>CROSSPLANE</a:t>
            </a:r>
            <a:r>
              <a:rPr sz="15000" b="1" dirty="0">
                <a:solidFill>
                  <a:srgbClr val="FFFFFF"/>
                </a:solidFill>
                <a:latin typeface="Inter Blac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7145655"/>
            <a:ext cx="16002000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YOU DESIGN THE API.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811A0A39-74C2-C849-D6AE-07AE5F1BC31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07 / CROSSPLANE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54704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WHAT WE'RE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223386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spc="150" dirty="0">
                <a:solidFill>
                  <a:schemeClr val="bg1">
                    <a:lumMod val="65000"/>
                  </a:schemeClr>
                </a:solidFill>
                <a:latin typeface="Inter SemiBold"/>
              </a:rPr>
              <a:t>DEVELOPER WRITES 10 LINES  →  </a:t>
            </a:r>
            <a:r>
              <a:rPr sz="2400" b="0" spc="150" dirty="0" err="1">
                <a:solidFill>
                  <a:schemeClr val="bg1">
                    <a:lumMod val="65000"/>
                  </a:schemeClr>
                </a:solidFill>
                <a:latin typeface="Inter SemiBold"/>
              </a:rPr>
              <a:t>CROSSPLANE</a:t>
            </a:r>
            <a:r>
              <a:rPr sz="2400" b="0" spc="150" dirty="0">
                <a:solidFill>
                  <a:schemeClr val="bg1">
                    <a:lumMod val="65000"/>
                  </a:schemeClr>
                </a:solidFill>
                <a:latin typeface="Inter SemiBold"/>
              </a:rPr>
              <a:t> PROVISIONS ACROSS TWO CLOUDS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5462585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3000" y="5462585"/>
            <a:ext cx="4857750" cy="4762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242060" y="5607365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225" dirty="0">
                <a:solidFill>
                  <a:srgbClr val="888888"/>
                </a:solidFill>
                <a:latin typeface="Inter Bold"/>
              </a:rPr>
              <a:t>DEVELOPER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6102806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 err="1">
                <a:solidFill>
                  <a:srgbClr val="FFFFFF"/>
                </a:solidFill>
                <a:latin typeface="Inter ExtraBold"/>
              </a:rPr>
              <a:t>AppTeam</a:t>
            </a:r>
            <a:r>
              <a:rPr sz="2000" b="1" dirty="0">
                <a:solidFill>
                  <a:srgbClr val="FFFFFF"/>
                </a:solidFill>
                <a:latin typeface="Inter ExtraBold"/>
              </a:rPr>
              <a:t> claim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6529304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chemeClr val="bg1">
                    <a:lumMod val="95000"/>
                  </a:schemeClr>
                </a:solidFill>
                <a:latin typeface="Inter"/>
              </a:rPr>
              <a:t>10 lines. </a:t>
            </a:r>
            <a:r>
              <a:rPr sz="2000" b="0" dirty="0" err="1">
                <a:solidFill>
                  <a:schemeClr val="bg1">
                    <a:lumMod val="95000"/>
                  </a:schemeClr>
                </a:solidFill>
                <a:latin typeface="Inter"/>
              </a:rPr>
              <a:t>teamName</a:t>
            </a:r>
            <a:r>
              <a:rPr sz="2000" b="0" dirty="0">
                <a:solidFill>
                  <a:schemeClr val="bg1">
                    <a:lumMod val="95000"/>
                  </a:schemeClr>
                </a:solidFill>
                <a:latin typeface="Inter"/>
              </a:rPr>
              <a:t> + </a:t>
            </a:r>
            <a:r>
              <a:rPr sz="2000" b="0" dirty="0" err="1">
                <a:solidFill>
                  <a:schemeClr val="bg1">
                    <a:lumMod val="95000"/>
                  </a:schemeClr>
                </a:solidFill>
                <a:latin typeface="Inter"/>
              </a:rPr>
              <a:t>githubOrg</a:t>
            </a:r>
            <a:r>
              <a:rPr sz="2000" b="0" dirty="0">
                <a:solidFill>
                  <a:schemeClr val="bg1">
                    <a:lumMod val="95000"/>
                  </a:schemeClr>
                </a:solidFill>
                <a:latin typeface="Inter"/>
              </a:rPr>
              <a:t>. No Azure fields. No region. No SKU.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38925" y="5462585"/>
            <a:ext cx="4857750" cy="2857500"/>
          </a:xfrm>
          <a:prstGeom prst="rect">
            <a:avLst/>
          </a:prstGeom>
          <a:solidFill>
            <a:srgbClr val="111111"/>
          </a:solidFill>
          <a:ln w="9525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638925" y="5462585"/>
            <a:ext cx="4857750" cy="4762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737984" y="5607365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225">
                <a:solidFill>
                  <a:srgbClr val="EF4444"/>
                </a:solidFill>
                <a:latin typeface="Inter Bold"/>
              </a:rPr>
              <a:t>CROSSPLANE COMPOSITION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7984" y="6102806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 ExtraBold"/>
              </a:rPr>
              <a:t>Platform team's API layer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7984" y="6529304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 err="1">
                <a:solidFill>
                  <a:schemeClr val="bg1">
                    <a:lumMod val="95000"/>
                  </a:schemeClr>
                </a:solidFill>
                <a:latin typeface="Inter"/>
              </a:rPr>
              <a:t>XRD</a:t>
            </a:r>
            <a:r>
              <a:rPr sz="2000" b="0" dirty="0">
                <a:solidFill>
                  <a:schemeClr val="bg1">
                    <a:lumMod val="95000"/>
                  </a:schemeClr>
                </a:solidFill>
                <a:latin typeface="Inter"/>
              </a:rPr>
              <a:t> defines the API. Composition encodes every platform opinion — naming, networking, tagging, backup.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34850" y="5462585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2134850" y="5462585"/>
            <a:ext cx="4857750" cy="47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12233910" y="5607365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225">
                <a:solidFill>
                  <a:srgbClr val="10B981"/>
                </a:solidFill>
                <a:latin typeface="Inter Bold"/>
              </a:rPr>
              <a:t>CLOUD RESOURCES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33910" y="6102806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FFFFFF"/>
                </a:solidFill>
                <a:latin typeface="Inter ExtraBold"/>
              </a:rPr>
              <a:t>3 from 1 claim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3910" y="6492668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chemeClr val="bg1">
                    <a:lumMod val="95000"/>
                  </a:schemeClr>
                </a:solidFill>
                <a:latin typeface="Inter"/>
              </a:rPr>
              <a:t>— Azure Resource Group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33910" y="6849033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chemeClr val="bg1">
                    <a:lumMod val="95000"/>
                  </a:schemeClr>
                </a:solidFill>
                <a:latin typeface="Inter"/>
              </a:rPr>
              <a:t>— Azure Storage Account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3910" y="7225402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9F7AEA"/>
                </a:solidFill>
                <a:latin typeface="Inter"/>
              </a:rPr>
              <a:t>— GitHub Repository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9810" y="6559865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5735" y="6559865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444444"/>
                </a:solidFill>
                <a:latin typeface="Inter Bold"/>
              </a:rPr>
              <a:t>→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FC363482-15C0-5100-4053-AF923487EAB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242560" y="716280"/>
            <a:ext cx="712470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API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07 / CROSSPLANE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488055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ONE CLAIM.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820546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 dirty="0">
                <a:solidFill>
                  <a:srgbClr val="FFFFFF"/>
                </a:solidFill>
                <a:latin typeface="Inter Black"/>
              </a:rPr>
              <a:t>THREE RESOURCES.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6330820"/>
            <a:ext cx="160020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AZURE + GITHUB. ZERO CLOUD KNOWLEDGE REQUIRED.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7431405"/>
            <a:ext cx="1895475" cy="533400"/>
          </a:xfrm>
          <a:prstGeom prst="roundRect">
            <a:avLst>
              <a:gd name="adj" fmla="val 0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276350" y="7564754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69356" y="7543630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7617" y="7558142"/>
            <a:ext cx="1238249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 err="1">
                <a:solidFill>
                  <a:srgbClr val="FFFFFF"/>
                </a:solidFill>
                <a:latin typeface="Inter ExtraBold"/>
              </a:rPr>
              <a:t>APPSTORAGE</a:t>
            </a:r>
            <a:endParaRPr sz="1200" b="1" dirty="0">
              <a:solidFill>
                <a:srgbClr val="FFFFFF"/>
              </a:solidFill>
              <a:latin typeface="Inter ExtraBold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3486150" y="7431405"/>
            <a:ext cx="1590675" cy="533400"/>
          </a:xfrm>
          <a:prstGeom prst="roundRect">
            <a:avLst>
              <a:gd name="adj" fmla="val 0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619499" y="7564754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612505" y="7543630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00767" y="7558142"/>
            <a:ext cx="95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 err="1">
                <a:solidFill>
                  <a:srgbClr val="FFFFFF"/>
                </a:solidFill>
                <a:latin typeface="Inter ExtraBold"/>
              </a:rPr>
              <a:t>APPTEAM</a:t>
            </a:r>
            <a:endParaRPr sz="1200" b="1" dirty="0">
              <a:solidFill>
                <a:srgbClr val="FFFFFF"/>
              </a:solidFill>
              <a:latin typeface="Inter ExtraBold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524499" y="7431405"/>
            <a:ext cx="2733674" cy="533400"/>
          </a:xfrm>
          <a:prstGeom prst="roundRect">
            <a:avLst>
              <a:gd name="adj" fmla="val 0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657850" y="7564754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27682" y="7543630"/>
            <a:ext cx="1714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Inter Bol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39117" y="7558142"/>
            <a:ext cx="20764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Inter ExtraBold"/>
              </a:rPr>
              <a:t>TWO </a:t>
            </a:r>
            <a:r>
              <a:rPr lang="en-US" sz="1200" b="1" dirty="0">
                <a:solidFill>
                  <a:srgbClr val="FFFFFF"/>
                </a:solidFill>
                <a:latin typeface="Inter ExtraBold"/>
              </a:rPr>
              <a:t>PROVIDERS</a:t>
            </a:r>
            <a:r>
              <a:rPr sz="1200" b="1" dirty="0">
                <a:solidFill>
                  <a:srgbClr val="FFFFFF"/>
                </a:solidFill>
                <a:latin typeface="Inter ExtraBold"/>
              </a:rPr>
              <a:t>. ONE API.</a:t>
            </a: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4E127724-A54B-1694-7E8F-F3C360E358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147060" y="848003"/>
            <a:ext cx="14582775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 dirty="0">
                <a:solidFill>
                  <a:srgbClr val="000000">
                    <a:alpha val="3000"/>
                  </a:srgbClr>
                </a:solidFill>
                <a:latin typeface="Inter Black"/>
              </a:rPr>
              <a:t>CROSS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07 / CROSSPLANE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09925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Inter Black"/>
              </a:rPr>
              <a:t>OWN YOUR ABSTRACTION.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959543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75" dirty="0">
                <a:solidFill>
                  <a:srgbClr val="AAAAAA"/>
                </a:solidFill>
                <a:latin typeface="Inter SemiBold"/>
              </a:rPr>
              <a:t>THREE THINGS </a:t>
            </a:r>
            <a:r>
              <a:rPr sz="1500" b="0" spc="75" dirty="0" err="1">
                <a:solidFill>
                  <a:srgbClr val="AAAAAA"/>
                </a:solidFill>
                <a:latin typeface="Inter SemiBold"/>
              </a:rPr>
              <a:t>CROSSPLANE</a:t>
            </a:r>
            <a:r>
              <a:rPr sz="1500" b="0" spc="75" dirty="0">
                <a:solidFill>
                  <a:srgbClr val="AAAAAA"/>
                </a:solidFill>
                <a:latin typeface="Inter SemiBold"/>
              </a:rPr>
              <a:t> CHANGES.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933672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371600" y="5162272"/>
            <a:ext cx="342900" cy="342900"/>
          </a:xfrm>
          <a:prstGeom prst="roundRect">
            <a:avLst>
              <a:gd name="adj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96086" y="5153026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030827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PLATFORM INVESTMENT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314951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666666"/>
                </a:solidFill>
                <a:latin typeface="Inter"/>
              </a:rPr>
              <a:t>Write Compositions once. Every team that joins gets the same experience, forever.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5935739"/>
            <a:ext cx="16002000" cy="800100"/>
          </a:xfrm>
          <a:prstGeom prst="rect">
            <a:avLst/>
          </a:prstGeom>
          <a:solidFill>
            <a:srgbClr val="FFFFFF"/>
          </a:solidFill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371600" y="6164339"/>
            <a:ext cx="342900" cy="342900"/>
          </a:xfrm>
          <a:prstGeom prst="roundRect">
            <a:avLst>
              <a:gd name="adj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84935" y="6155094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603289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CLOUD AGNOSTIC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317019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66666"/>
                </a:solidFill>
                <a:latin typeface="Inter"/>
              </a:rPr>
              <a:t>Today Azure. Swap the Composition. Developer manifest unchanged. That's genuine abstraction.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081557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371600" y="7310157"/>
            <a:ext cx="342900" cy="342900"/>
          </a:xfrm>
          <a:prstGeom prst="roundRect">
            <a:avLst>
              <a:gd name="adj" fmla="val 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84935" y="7300911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7178712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ENFORCES STANDARDS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462836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666666"/>
                </a:solidFill>
                <a:latin typeface="Inter"/>
              </a:rPr>
              <a:t>Backup, naming, tagging, networking baked into every Composition. Impossible for developers to get it wrong.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223524"/>
            <a:ext cx="16002000" cy="554355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80160" y="8386007"/>
            <a:ext cx="27432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spc="150">
                <a:solidFill>
                  <a:srgbClr val="FFFFFF"/>
                </a:solidFill>
                <a:latin typeface="Inter Bold"/>
              </a:rPr>
              <a:t>SMALL TEAM OR AZURE-NATIVE?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75760" y="8386007"/>
            <a:ext cx="19050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spc="75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→  KRO IS NEXT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61A3AEBF-814C-1F48-BF22-5D0A6DA926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385560" y="2049780"/>
            <a:ext cx="9925050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KRO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08 / KRO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143500"/>
            <a:ext cx="16002000" cy="1676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0" b="1" dirty="0">
                <a:solidFill>
                  <a:srgbClr val="FFFFFF"/>
                </a:solidFill>
                <a:latin typeface="Inter Black"/>
              </a:rPr>
              <a:t>KRO.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7372350"/>
            <a:ext cx="16002000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ONE CR. MANY RESOURCES.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2CB28D6-1B60-ABD6-A481-3E8B44455A8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08 / KRO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54704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WHAT WE'RE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268705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spc="150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DEVELOPER WRITES 3 FIELDS  →  KRO COMPOSES NAMESPACE + </a:t>
            </a:r>
            <a:r>
              <a:rPr sz="1600" b="0" spc="15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RBAC</a:t>
            </a:r>
            <a:r>
              <a:rPr sz="1600" b="0" spc="150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 + AZURE STORAGE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5606414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3000" y="5606414"/>
            <a:ext cx="4857750" cy="4762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1242060" y="5751194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225" dirty="0">
                <a:solidFill>
                  <a:srgbClr val="888888"/>
                </a:solidFill>
                <a:latin typeface="Inter Bold"/>
              </a:rPr>
              <a:t>DEVELOPER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6184714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 err="1">
                <a:solidFill>
                  <a:srgbClr val="FFFFFF"/>
                </a:solidFill>
                <a:latin typeface="Inter ExtraBold"/>
              </a:rPr>
              <a:t>MyApp</a:t>
            </a:r>
            <a:r>
              <a:rPr sz="2000" b="1" dirty="0">
                <a:solidFill>
                  <a:srgbClr val="FFFFFF"/>
                </a:solidFill>
                <a:latin typeface="Inter ExtraBold"/>
              </a:rPr>
              <a:t> instance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6681385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chemeClr val="bg1">
                    <a:lumMod val="95000"/>
                  </a:schemeClr>
                </a:solidFill>
                <a:latin typeface="Inter"/>
              </a:rPr>
              <a:t>3 fields. name + team + size. No Azure, no </a:t>
            </a:r>
            <a:r>
              <a:rPr sz="2000" b="0" dirty="0" err="1">
                <a:solidFill>
                  <a:schemeClr val="bg1">
                    <a:lumMod val="95000"/>
                  </a:schemeClr>
                </a:solidFill>
                <a:latin typeface="Inter"/>
              </a:rPr>
              <a:t>RBAC</a:t>
            </a:r>
            <a:r>
              <a:rPr sz="2000" b="0" dirty="0">
                <a:solidFill>
                  <a:schemeClr val="bg1">
                    <a:lumMod val="95000"/>
                  </a:schemeClr>
                </a:solidFill>
                <a:latin typeface="Inter"/>
              </a:rPr>
              <a:t>, no resource groups.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38925" y="5606414"/>
            <a:ext cx="4857750" cy="2857500"/>
          </a:xfrm>
          <a:prstGeom prst="rect">
            <a:avLst/>
          </a:prstGeom>
          <a:solidFill>
            <a:srgbClr val="111111"/>
          </a:solidFill>
          <a:ln w="9525">
            <a:solidFill>
              <a:srgbClr val="8B5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638925" y="5606414"/>
            <a:ext cx="4857750" cy="47624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6737984" y="5751194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225">
                <a:solidFill>
                  <a:srgbClr val="8B5CF6"/>
                </a:solidFill>
                <a:latin typeface="Inter Bold"/>
              </a:rPr>
              <a:t>KRO RESOURCEGRAPHDEF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7984" y="6184714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 ExtraBold"/>
              </a:rPr>
              <a:t>Platform team's template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7984" y="6681385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chemeClr val="bg1">
                    <a:lumMod val="95000"/>
                  </a:schemeClr>
                </a:solidFill>
                <a:latin typeface="Inter"/>
              </a:rPr>
              <a:t>Defines namespace, </a:t>
            </a:r>
            <a:r>
              <a:rPr sz="2000" b="0" dirty="0" err="1">
                <a:solidFill>
                  <a:schemeClr val="bg1">
                    <a:lumMod val="95000"/>
                  </a:schemeClr>
                </a:solidFill>
                <a:latin typeface="Inter"/>
              </a:rPr>
              <a:t>RoleBinding</a:t>
            </a:r>
            <a:r>
              <a:rPr sz="2000" b="0" dirty="0">
                <a:solidFill>
                  <a:schemeClr val="bg1">
                    <a:lumMod val="95000"/>
                  </a:schemeClr>
                </a:solidFill>
                <a:latin typeface="Inter"/>
              </a:rPr>
              <a:t>, and ASO </a:t>
            </a:r>
            <a:r>
              <a:rPr sz="2000" b="0" dirty="0" err="1">
                <a:solidFill>
                  <a:schemeClr val="bg1">
                    <a:lumMod val="95000"/>
                  </a:schemeClr>
                </a:solidFill>
                <a:latin typeface="Inter"/>
              </a:rPr>
              <a:t>StorageAccount</a:t>
            </a:r>
            <a:r>
              <a:rPr sz="2000" b="0" dirty="0">
                <a:solidFill>
                  <a:schemeClr val="bg1">
                    <a:lumMod val="95000"/>
                  </a:schemeClr>
                </a:solidFill>
                <a:latin typeface="Inter"/>
              </a:rPr>
              <a:t>. All consistently named and wired.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34850" y="5606414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2134850" y="5606414"/>
            <a:ext cx="4857750" cy="47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TextBox 20"/>
          <p:cNvSpPr txBox="1"/>
          <p:nvPr/>
        </p:nvSpPr>
        <p:spPr>
          <a:xfrm>
            <a:off x="12233910" y="5751194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225">
                <a:solidFill>
                  <a:srgbClr val="10B981"/>
                </a:solidFill>
                <a:latin typeface="Inter Bold"/>
              </a:rPr>
              <a:t>KUBERNETES + AZURE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33910" y="6184714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 ExtraBold"/>
              </a:rPr>
              <a:t>3 resources instantly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3910" y="6681385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chemeClr val="bg1">
                    <a:lumMod val="95000"/>
                  </a:schemeClr>
                </a:solidFill>
                <a:latin typeface="Inter"/>
              </a:rPr>
              <a:t>— Kubernetes Namespace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33910" y="7049827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chemeClr val="bg1">
                    <a:lumMod val="95000"/>
                  </a:schemeClr>
                </a:solidFill>
                <a:latin typeface="Inter"/>
              </a:rPr>
              <a:t>— Kubernetes </a:t>
            </a:r>
            <a:r>
              <a:rPr sz="2000" b="0" dirty="0" err="1">
                <a:solidFill>
                  <a:schemeClr val="bg1">
                    <a:lumMod val="95000"/>
                  </a:schemeClr>
                </a:solidFill>
                <a:latin typeface="Inter"/>
              </a:rPr>
              <a:t>RoleBinding</a:t>
            </a:r>
            <a:endParaRPr sz="2000" b="0" dirty="0">
              <a:solidFill>
                <a:schemeClr val="bg1">
                  <a:lumMod val="95000"/>
                </a:schemeClr>
              </a:solidFill>
              <a:latin typeface="Inter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12233910" y="7442983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0078D4"/>
                </a:solidFill>
                <a:latin typeface="Inter"/>
              </a:rPr>
              <a:t>— Azure Storage Account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33263" y="6703694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chemeClr val="tx1">
                    <a:lumMod val="50000"/>
                    <a:lumOff val="50000"/>
                  </a:schemeClr>
                </a:solidFill>
                <a:latin typeface="Inter Bold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629188" y="6703694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old"/>
              </a:rPr>
              <a:t>→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015D9C49-58EC-3B16-D4A5-4FD0B6884EF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242560" y="716280"/>
            <a:ext cx="8886825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RGD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08 / KRO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90888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 dirty="0">
                <a:solidFill>
                  <a:srgbClr val="FFFFFF"/>
                </a:solidFill>
                <a:latin typeface="Inter Black"/>
              </a:rPr>
              <a:t>THREE FIELDS.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35830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>
                <a:solidFill>
                  <a:srgbClr val="FFFFFF"/>
                </a:solidFill>
                <a:latin typeface="Inter Black"/>
              </a:rPr>
              <a:t>THREE RESOURCES.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6308408"/>
            <a:ext cx="160020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chemeClr val="bg1">
                    <a:lumMod val="95000"/>
                  </a:schemeClr>
                </a:solidFill>
                <a:latin typeface="Inter Black"/>
              </a:rPr>
              <a:t>NAMESPACE + </a:t>
            </a:r>
            <a:r>
              <a:rPr sz="2700" b="1" dirty="0" err="1">
                <a:solidFill>
                  <a:schemeClr val="bg1">
                    <a:lumMod val="95000"/>
                  </a:schemeClr>
                </a:solidFill>
                <a:latin typeface="Inter Black"/>
              </a:rPr>
              <a:t>RBAC</a:t>
            </a:r>
            <a:r>
              <a:rPr sz="2700" b="1" dirty="0">
                <a:solidFill>
                  <a:schemeClr val="bg1">
                    <a:lumMod val="95000"/>
                  </a:schemeClr>
                </a:solidFill>
                <a:latin typeface="Inter Black"/>
              </a:rPr>
              <a:t> + AZURE. ONE GIT COMMIT.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7431405"/>
            <a:ext cx="2066924" cy="533400"/>
          </a:xfrm>
          <a:prstGeom prst="roundRect">
            <a:avLst>
              <a:gd name="adj" fmla="val 0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276350" y="7564754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85705" y="7557278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Inter Bold"/>
              </a:rPr>
              <a:t>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67815" y="7570284"/>
            <a:ext cx="14097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Inter ExtraBold"/>
              </a:rPr>
              <a:t>PLATFORM RGD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7431405"/>
            <a:ext cx="2266950" cy="533400"/>
          </a:xfrm>
          <a:prstGeom prst="roundRect">
            <a:avLst>
              <a:gd name="adj" fmla="val 0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790950" y="7564754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800305" y="7557278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Inter Bold"/>
              </a:rPr>
              <a:t>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82415" y="7570284"/>
            <a:ext cx="16192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MYAPP INSTANCE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72225" y="7431405"/>
            <a:ext cx="2486025" cy="533400"/>
          </a:xfrm>
          <a:prstGeom prst="roundRect">
            <a:avLst>
              <a:gd name="adj" fmla="val 0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505575" y="7564754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91756" y="7557278"/>
            <a:ext cx="1714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>
                <a:solidFill>
                  <a:srgbClr val="FFFFFF"/>
                </a:solidFill>
                <a:latin typeface="Inter Bol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97040" y="7570284"/>
            <a:ext cx="18288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K8S + AZURE READY</a:t>
            </a: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7B5BBEA3-2112-8605-6CB0-A11482D6F5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19060" y="1859280"/>
            <a:ext cx="914400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000000">
                    <a:alpha val="3000"/>
                  </a:srgbClr>
                </a:solidFill>
                <a:latin typeface="Inter Black"/>
              </a:rPr>
              <a:t>KRO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3810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08 / KRO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84222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dirty="0">
                <a:solidFill>
                  <a:srgbClr val="000000"/>
                </a:solidFill>
                <a:latin typeface="Inter Black"/>
              </a:rPr>
              <a:t>COMPOSE WITHOUT COMPLEXITY.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009746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spc="75" dirty="0">
                <a:solidFill>
                  <a:srgbClr val="AAAAAA"/>
                </a:solidFill>
                <a:latin typeface="Inter SemiBold"/>
              </a:rPr>
              <a:t>THREE THINGS KRO GETS RIGHT.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5046345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371600" y="5274945"/>
            <a:ext cx="342900" cy="34290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09319" y="5289042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143500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FAST TO ADOPT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438775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The ResourceGraphDefinition format is straightforward. Write a template in an afternoon, not a sprint.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6075045"/>
            <a:ext cx="16002000" cy="800100"/>
          </a:xfrm>
          <a:prstGeom prst="rect">
            <a:avLst/>
          </a:prstGeom>
          <a:solidFill>
            <a:srgbClr val="FFFFFF"/>
          </a:solidFill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371600" y="6303645"/>
            <a:ext cx="342900" cy="34290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97127" y="6305551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6172201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TRANSPARENT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467476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Composition, not abstraction. You see exactly what was created. No magic provider layer.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179944"/>
            <a:ext cx="16002000" cy="800100"/>
          </a:xfrm>
          <a:prstGeom prst="rect">
            <a:avLst/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371600" y="7408544"/>
            <a:ext cx="342900" cy="342900"/>
          </a:xfrm>
          <a:prstGeom prst="roundRect">
            <a:avLst>
              <a:gd name="adj" fmla="val 0"/>
            </a:avLst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97127" y="7410449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7277099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PAIRS WITH ASO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572374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25" b="0">
                <a:solidFill>
                  <a:srgbClr val="666666"/>
                </a:solidFill>
                <a:latin typeface="Inter"/>
              </a:rPr>
              <a:t>KRO handles app assembly; ASO handles Azure provisioning. A complete story without needing Crossplane.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284843"/>
            <a:ext cx="16002000" cy="666749"/>
          </a:xfrm>
          <a:prstGeom prst="rect">
            <a:avLst/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80160" y="8526207"/>
            <a:ext cx="4695825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50">
                <a:solidFill>
                  <a:srgbClr val="FFFFFF"/>
                </a:solidFill>
                <a:latin typeface="Inter Bold"/>
              </a:rPr>
              <a:t>NEED FULL CLOUD ABSTRACTION OR MULTI-CLOUD?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71641" y="8526207"/>
            <a:ext cx="3238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spc="75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→  </a:t>
            </a:r>
            <a:r>
              <a:rPr sz="1200" b="0" spc="75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CROSSPLANE</a:t>
            </a:r>
            <a:r>
              <a:rPr sz="1200" b="0" spc="75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 HANDLES THAT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37C44269-D223-3A93-7923-A57BD04B871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337560" y="2049780"/>
            <a:ext cx="15392399" cy="57626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 dirty="0">
                <a:solidFill>
                  <a:srgbClr val="FFFFFF">
                    <a:alpha val="5000"/>
                  </a:srgbClr>
                </a:solidFill>
                <a:latin typeface="Inter Black"/>
              </a:rPr>
              <a:t>TERRA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09 / TERRANETES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669155"/>
            <a:ext cx="16002000" cy="15049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 dirty="0" err="1">
                <a:solidFill>
                  <a:srgbClr val="FFFFFF"/>
                </a:solidFill>
                <a:latin typeface="Inter Black"/>
              </a:rPr>
              <a:t>TERRANETES</a:t>
            </a:r>
            <a:r>
              <a:rPr sz="13500" b="1" dirty="0">
                <a:solidFill>
                  <a:srgbClr val="FFFFFF"/>
                </a:solidFill>
                <a:latin typeface="Inter Blac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6669405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dirty="0">
                <a:solidFill>
                  <a:schemeClr val="bg1">
                    <a:lumMod val="95000"/>
                  </a:schemeClr>
                </a:solidFill>
                <a:latin typeface="Inter Black"/>
              </a:rPr>
              <a:t>YOUR TERRAFORM. OUR CONTROL PLANE.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3991F2FB-32A5-AA0B-A366-DA60D27F792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09 / TERRANETES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354704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WHAT WE'RE BUILDING.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4240528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spc="15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CLOUDRESOURCE</a:t>
            </a:r>
            <a:r>
              <a:rPr sz="2000" b="0" spc="150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 CR  →  </a:t>
            </a:r>
            <a:r>
              <a:rPr sz="2000" b="0" spc="150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OPENTOFU</a:t>
            </a:r>
            <a:r>
              <a:rPr sz="2000" b="0" spc="150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 JOB  →  AZURE + GITHUB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5874456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43000" y="5874456"/>
            <a:ext cx="4857750" cy="5715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1242060" y="6028761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225" dirty="0">
                <a:solidFill>
                  <a:srgbClr val="999999"/>
                </a:solidFill>
                <a:latin typeface="Inter Bold"/>
              </a:rPr>
              <a:t>DEVELOPER CR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6537778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 ExtraBold"/>
              </a:rPr>
              <a:t>CloudResource config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7104304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chemeClr val="bg1">
                    <a:lumMod val="95000"/>
                  </a:schemeClr>
                </a:solidFill>
                <a:latin typeface="Inter"/>
              </a:rPr>
              <a:t>Points to a Terraform module in Git with variable values. No HCL needed from the developer.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38925" y="5874456"/>
            <a:ext cx="4857750" cy="2857500"/>
          </a:xfrm>
          <a:prstGeom prst="rect">
            <a:avLst/>
          </a:prstGeom>
          <a:solidFill>
            <a:srgbClr val="111111"/>
          </a:solidFill>
          <a:ln w="9525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638925" y="5874456"/>
            <a:ext cx="4857750" cy="571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6737984" y="6028761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225">
                <a:solidFill>
                  <a:srgbClr val="10B981"/>
                </a:solidFill>
                <a:latin typeface="Inter Bold"/>
              </a:rPr>
              <a:t>TERRANETES CONTROLLER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7984" y="6537778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 ExtraBold"/>
              </a:rPr>
              <a:t>Runs OpenTofu as a Job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7984" y="7104304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chemeClr val="bg1">
                    <a:lumMod val="95000"/>
                  </a:schemeClr>
                </a:solidFill>
                <a:latin typeface="Inter"/>
              </a:rPr>
              <a:t>1000+ Terraform providers. Policy gate before apply. State in Kubernetes Secrets.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34850" y="5874456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2134850" y="5874456"/>
            <a:ext cx="4857750" cy="5715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TextBox 20"/>
          <p:cNvSpPr txBox="1"/>
          <p:nvPr/>
        </p:nvSpPr>
        <p:spPr>
          <a:xfrm>
            <a:off x="12233910" y="6028761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225">
                <a:solidFill>
                  <a:srgbClr val="10B981"/>
                </a:solidFill>
                <a:latin typeface="Inter Bold"/>
              </a:rPr>
              <a:t>CLOUD RESOURCES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33910" y="6537778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FFFFFF"/>
                </a:solidFill>
                <a:latin typeface="Inter ExtraBold"/>
              </a:rPr>
              <a:t>2 from 1 claim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3910" y="7009054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0078D4"/>
                </a:solidFill>
                <a:latin typeface="Inter"/>
              </a:rPr>
              <a:t>— Azure Resource Group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33910" y="7471228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rgbClr val="9F7AEA"/>
                </a:solidFill>
                <a:latin typeface="Inter"/>
              </a:rPr>
              <a:t>— GitHub Repository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2506" y="6971736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chemeClr val="bg1">
                    <a:lumMod val="95000"/>
                  </a:schemeClr>
                </a:solidFill>
                <a:latin typeface="Inter Bold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78431" y="6971736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800" b="1" dirty="0">
                <a:solidFill>
                  <a:schemeClr val="bg1">
                    <a:lumMod val="95000"/>
                  </a:schemeClr>
                </a:solidFill>
                <a:latin typeface="Inter Bold"/>
              </a:rPr>
              <a:t>→</a:t>
            </a:r>
          </a:p>
        </p:txBody>
      </p:sp>
      <p:pic>
        <p:nvPicPr>
          <p:cNvPr id="27" name="Graphic 26">
            <a:extLst>
              <a:ext uri="{FF2B5EF4-FFF2-40B4-BE49-F238E27FC236}">
                <a16:creationId xmlns:a16="http://schemas.microsoft.com/office/drawing/2014/main" id="{0BAB9DEF-D18E-B72B-C263-716F0BBDD4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671060" y="716280"/>
            <a:ext cx="1129665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>
                <a:solidFill>
                  <a:srgbClr val="FFFFFF">
                    <a:alpha val="5000"/>
                  </a:srgbClr>
                </a:solidFill>
                <a:latin typeface="Inter Black"/>
              </a:rPr>
              <a:t>TOFU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09 / TERRANETES  · 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290888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 dirty="0">
                <a:solidFill>
                  <a:srgbClr val="FFFFFF"/>
                </a:solidFill>
                <a:latin typeface="Inter Black"/>
              </a:rPr>
              <a:t>YOUR MODULES.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4735830"/>
            <a:ext cx="16002000" cy="117157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0" b="1" dirty="0">
                <a:solidFill>
                  <a:srgbClr val="FFFFFF"/>
                </a:solidFill>
                <a:latin typeface="Inter Black"/>
              </a:rPr>
              <a:t>OUR CONTROL.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6311743"/>
            <a:ext cx="16002000" cy="4762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1000+ PROVIDERS. NO REWRITE. KUBERNETES-NATIVE.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7744777"/>
            <a:ext cx="2762249" cy="533400"/>
          </a:xfrm>
          <a:prstGeom prst="roundRect">
            <a:avLst>
              <a:gd name="adj" fmla="val 21428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276350" y="7878126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223909" y="7891890"/>
            <a:ext cx="190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Inter Bold"/>
              </a:rPr>
              <a:t>CR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46860" y="7870126"/>
            <a:ext cx="2105024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 err="1">
                <a:solidFill>
                  <a:srgbClr val="FFFFFF"/>
                </a:solidFill>
                <a:latin typeface="Inter ExtraBold"/>
              </a:rPr>
              <a:t>CLOUDRESOURCE</a:t>
            </a:r>
            <a:r>
              <a:rPr sz="1200" b="1" dirty="0">
                <a:solidFill>
                  <a:srgbClr val="FFFFFF"/>
                </a:solidFill>
                <a:latin typeface="Inter ExtraBold"/>
              </a:rPr>
              <a:t> YAML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2924" y="7744777"/>
            <a:ext cx="2552700" cy="533400"/>
          </a:xfrm>
          <a:prstGeom prst="roundRect">
            <a:avLst>
              <a:gd name="adj" fmla="val 21428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486275" y="7878126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443359" y="7891890"/>
            <a:ext cx="190499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dirty="0">
                <a:solidFill>
                  <a:srgbClr val="FFFFFF"/>
                </a:solidFill>
                <a:latin typeface="Inter Bold"/>
              </a:rPr>
              <a:t>TF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6784" y="7870126"/>
            <a:ext cx="1895475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dirty="0" err="1">
                <a:solidFill>
                  <a:srgbClr val="FFFFFF"/>
                </a:solidFill>
                <a:latin typeface="Inter ExtraBold"/>
              </a:rPr>
              <a:t>OPENTOFU</a:t>
            </a:r>
            <a:r>
              <a:rPr sz="1200" b="1" dirty="0">
                <a:solidFill>
                  <a:srgbClr val="FFFFFF"/>
                </a:solidFill>
                <a:latin typeface="Inter ExtraBold"/>
              </a:rPr>
              <a:t> JOB RUNS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53300" y="7744777"/>
            <a:ext cx="2781300" cy="533400"/>
          </a:xfrm>
          <a:prstGeom prst="roundRect">
            <a:avLst>
              <a:gd name="adj" fmla="val 21428"/>
            </a:avLst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486650" y="7878126"/>
            <a:ext cx="266700" cy="266700"/>
          </a:xfrm>
          <a:prstGeom prst="roundRect">
            <a:avLst>
              <a:gd name="adj" fmla="val 42857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42835" y="7866012"/>
            <a:ext cx="1714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dirty="0">
                <a:solidFill>
                  <a:srgbClr val="FFFFFF"/>
                </a:solidFill>
                <a:latin typeface="Inter Bold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57159" y="7870126"/>
            <a:ext cx="2124075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Inter ExtraBold"/>
              </a:rPr>
              <a:t>AZURE + GITHUB READY</a:t>
            </a: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E9900EDB-AD87-E5E0-3D78-BA4F347877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TextBox 4"/>
          <p:cNvSpPr txBox="1"/>
          <p:nvPr/>
        </p:nvSpPr>
        <p:spPr>
          <a:xfrm>
            <a:off x="3337560" y="1859280"/>
            <a:ext cx="14173200" cy="5305425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1400" b="1" dirty="0">
                <a:solidFill>
                  <a:srgbClr val="000000">
                    <a:alpha val="3000"/>
                  </a:srgbClr>
                </a:solidFill>
                <a:latin typeface="Inter Black"/>
              </a:rPr>
              <a:t>TERRA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5715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spc="300">
                <a:solidFill>
                  <a:srgbClr val="888888"/>
                </a:solidFill>
                <a:latin typeface="Inter SemiBold"/>
              </a:rPr>
              <a:t>09 / TERRANETES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92704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000000"/>
                </a:solidFill>
                <a:latin typeface="Inter Black"/>
              </a:rPr>
              <a:t>MEET TEAMS WHERE THEY ARE.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453259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0" spc="75" dirty="0">
                <a:solidFill>
                  <a:srgbClr val="AAAAAA"/>
                </a:solidFill>
                <a:latin typeface="Inter SemiBold"/>
              </a:rPr>
              <a:t>THREE THINGS </a:t>
            </a:r>
            <a:r>
              <a:rPr sz="2400" b="0" spc="75" dirty="0" err="1">
                <a:solidFill>
                  <a:srgbClr val="AAAAAA"/>
                </a:solidFill>
                <a:latin typeface="Inter SemiBold"/>
              </a:rPr>
              <a:t>TERRANETES</a:t>
            </a:r>
            <a:r>
              <a:rPr sz="2400" b="0" spc="75" dirty="0">
                <a:solidFill>
                  <a:srgbClr val="AAAAAA"/>
                </a:solidFill>
                <a:latin typeface="Inter SemiBold"/>
              </a:rPr>
              <a:t> GETS RIGHT.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926852"/>
            <a:ext cx="16002000" cy="8001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1371600" y="5155452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1394874" y="5157357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5024007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Inter ExtraBold"/>
              </a:rPr>
              <a:t>NO REWRITE REQUIRED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319282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444444"/>
                </a:solidFill>
                <a:latin typeface="Inter"/>
              </a:rPr>
              <a:t>Existing Terraform modules work as-is. Teams keep writing HCL. The platform wraps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5953414"/>
            <a:ext cx="16002000" cy="80010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Rectangle 15"/>
          <p:cNvSpPr/>
          <p:nvPr/>
        </p:nvSpPr>
        <p:spPr>
          <a:xfrm>
            <a:off x="1371600" y="6182014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TextBox 16"/>
          <p:cNvSpPr txBox="1"/>
          <p:nvPr/>
        </p:nvSpPr>
        <p:spPr>
          <a:xfrm>
            <a:off x="1384935" y="6173981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 dirty="0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6050570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Inter ExtraBold"/>
              </a:rPr>
              <a:t>POLICY GATES BUILT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345845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 dirty="0">
                <a:solidFill>
                  <a:srgbClr val="444444"/>
                </a:solidFill>
                <a:latin typeface="Inter"/>
              </a:rPr>
              <a:t>Require approval before any apply. Restrict modules. Enforce cost controls in Kubernetes, not CI scripts.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999539"/>
            <a:ext cx="16002000" cy="800100"/>
          </a:xfrm>
          <a:prstGeom prst="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Rectangle 20"/>
          <p:cNvSpPr/>
          <p:nvPr/>
        </p:nvSpPr>
        <p:spPr>
          <a:xfrm>
            <a:off x="1371600" y="7228139"/>
            <a:ext cx="342900" cy="342900"/>
          </a:xfrm>
          <a:prstGeom prst="roundRect">
            <a:avLst>
              <a:gd name="adj" fmla="val 33333"/>
            </a:avLst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2" name="TextBox 21"/>
          <p:cNvSpPr txBox="1"/>
          <p:nvPr/>
        </p:nvSpPr>
        <p:spPr>
          <a:xfrm>
            <a:off x="1384935" y="722010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7096694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Inter ExtraBold"/>
              </a:rPr>
              <a:t>GRADUAL MIGRATION PATH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391969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600" b="0" dirty="0">
                <a:solidFill>
                  <a:srgbClr val="444444"/>
                </a:solidFill>
                <a:latin typeface="Inter"/>
              </a:rPr>
              <a:t>Easier start</a:t>
            </a:r>
            <a:r>
              <a:rPr sz="1600" b="0" dirty="0">
                <a:solidFill>
                  <a:srgbClr val="444444"/>
                </a:solidFill>
                <a:latin typeface="Inter"/>
              </a:rPr>
              <a:t>. Migrate specific resources to ASO or </a:t>
            </a:r>
            <a:r>
              <a:rPr sz="1600" b="0" dirty="0" err="1">
                <a:solidFill>
                  <a:srgbClr val="444444"/>
                </a:solidFill>
                <a:latin typeface="Inter"/>
              </a:rPr>
              <a:t>Crossplane</a:t>
            </a:r>
            <a:r>
              <a:rPr sz="1600" b="0" dirty="0">
                <a:solidFill>
                  <a:srgbClr val="444444"/>
                </a:solidFill>
                <a:latin typeface="Inter"/>
              </a:rPr>
              <a:t> as they mature</a:t>
            </a:r>
            <a:r>
              <a:rPr lang="en-US" sz="1600" b="0" dirty="0">
                <a:solidFill>
                  <a:srgbClr val="444444"/>
                </a:solidFill>
                <a:latin typeface="Inter"/>
              </a:rPr>
              <a:t>,</a:t>
            </a:r>
            <a:r>
              <a:rPr sz="1600" b="0" dirty="0">
                <a:solidFill>
                  <a:srgbClr val="444444"/>
                </a:solidFill>
                <a:latin typeface="Inter"/>
              </a:rPr>
              <a:t> driven by real need.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86202"/>
            <a:ext cx="16002000" cy="657225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 dirty="0"/>
          </a:p>
        </p:txBody>
      </p:sp>
      <p:sp>
        <p:nvSpPr>
          <p:cNvPr id="26" name="TextBox 25"/>
          <p:cNvSpPr txBox="1"/>
          <p:nvPr/>
        </p:nvSpPr>
        <p:spPr>
          <a:xfrm>
            <a:off x="1276350" y="8307346"/>
            <a:ext cx="2238375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50" dirty="0">
                <a:solidFill>
                  <a:srgbClr val="FFFFFF"/>
                </a:solidFill>
                <a:latin typeface="Inter Bold"/>
              </a:rPr>
              <a:t>NO EXISTING TERRAFORM?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12452" y="8307346"/>
            <a:ext cx="4762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spc="75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→  START DIRECTLY WITH ASO OR </a:t>
            </a:r>
            <a:r>
              <a:rPr sz="1200" b="0" spc="75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CROSSPLANE</a:t>
            </a:r>
            <a:endParaRPr sz="1200" b="0" spc="75" dirty="0">
              <a:solidFill>
                <a:schemeClr val="tx1">
                  <a:lumMod val="50000"/>
                  <a:lumOff val="50000"/>
                </a:schemeClr>
              </a:solidFill>
              <a:latin typeface="Inter SemiBold"/>
            </a:endParaRP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FBFB9607-5531-6FB0-192F-056FFF0B18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575560" y="2049780"/>
            <a:ext cx="13334999" cy="6095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500" b="1" dirty="0">
                <a:solidFill>
                  <a:srgbClr val="FFFFFF">
                    <a:alpha val="5000"/>
                  </a:srgbClr>
                </a:solidFill>
                <a:latin typeface="Inter Black"/>
              </a:rPr>
              <a:t>YOURS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10 / SOVEREIGNTY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4810124"/>
            <a:ext cx="16002000" cy="15049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0" b="1" dirty="0">
                <a:solidFill>
                  <a:srgbClr val="FFFFFF"/>
                </a:solidFill>
                <a:latin typeface="Inter Black"/>
              </a:rPr>
              <a:t>YOUR API.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6810374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YOUR STATE. YOUR AUDIT TRAIL.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C504812A-230E-5F58-CAE9-03C1FC13D22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210800"/>
            <a:ext cx="1905000" cy="76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338560" y="497205"/>
            <a:ext cx="6858000" cy="6095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4500" b="1" dirty="0">
                <a:solidFill>
                  <a:srgbClr val="000000">
                    <a:alpha val="3000"/>
                  </a:srgbClr>
                </a:solidFill>
                <a:latin typeface="Inter Black"/>
              </a:rPr>
              <a:t>AI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8888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888888"/>
                </a:solidFill>
                <a:latin typeface="Inter SemiBold"/>
              </a:rPr>
              <a:t>10 / AI +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592704"/>
            <a:ext cx="16002000" cy="5524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000000"/>
                </a:solidFill>
                <a:latin typeface="Inter Black"/>
              </a:rPr>
              <a:t>AI WRITES THE YAML.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3486150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spc="75" dirty="0">
                <a:solidFill>
                  <a:srgbClr val="AAAAAA"/>
                </a:solidFill>
                <a:latin typeface="Inter SemiBold"/>
              </a:rPr>
              <a:t>THE PLATFORM DECIDES WHAT RUNS.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43000" y="4758690"/>
            <a:ext cx="16002000" cy="800100"/>
          </a:xfrm>
          <a:prstGeom prst="roundRect">
            <a:avLst>
              <a:gd name="adj" fmla="val 0"/>
            </a:avLst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371600" y="4987290"/>
            <a:ext cx="342900" cy="342900"/>
          </a:xfrm>
          <a:prstGeom prst="roundRect">
            <a:avLst>
              <a:gd name="adj" fmla="val 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393248" y="4989195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 Bold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13560" y="4855845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AI ACCELERATES VELOCITY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13560" y="5151120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666666"/>
                </a:solidFill>
                <a:latin typeface="Inter"/>
              </a:rPr>
              <a:t>Developers generate more infrastructure requests, faster. Platforms built for ticket queues will break under that load.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43000" y="5793104"/>
            <a:ext cx="16002000" cy="800100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>
            <a:solidFill>
              <a:srgbClr val="F0F0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371600" y="6021704"/>
            <a:ext cx="342900" cy="342900"/>
          </a:xfrm>
          <a:prstGeom prst="roundRect">
            <a:avLst>
              <a:gd name="adj" fmla="val 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393248" y="6023610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 Bol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13560" y="5890260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PLATFORMS NEED GUARDRAILS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13560" y="6185535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666666"/>
                </a:solidFill>
                <a:latin typeface="Inter"/>
              </a:rPr>
              <a:t>Self-service CRs. Automatic policy gates. GitOps audit trails. Scales linearly with developer velocity.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827518"/>
            <a:ext cx="16002000" cy="800100"/>
          </a:xfrm>
          <a:prstGeom prst="roundRect">
            <a:avLst>
              <a:gd name="adj" fmla="val 0"/>
            </a:avLst>
          </a:prstGeom>
          <a:solidFill>
            <a:srgbClr val="F8F8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371600" y="7056118"/>
            <a:ext cx="342900" cy="342900"/>
          </a:xfrm>
          <a:prstGeom prst="roundRect">
            <a:avLst>
              <a:gd name="adj" fmla="val 0"/>
            </a:avLst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1393248" y="7058023"/>
            <a:ext cx="15240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1">
                <a:solidFill>
                  <a:srgbClr val="FFFFFF"/>
                </a:solidFill>
                <a:latin typeface="Inter Bol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13560" y="6924673"/>
            <a:ext cx="13906499" cy="2095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000000"/>
                </a:solidFill>
                <a:latin typeface="Inter ExtraBold"/>
              </a:rPr>
              <a:t>AI BUILDS THE PLATFORM TOO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13560" y="7219948"/>
            <a:ext cx="13906499" cy="3048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dirty="0">
                <a:solidFill>
                  <a:srgbClr val="666666"/>
                </a:solidFill>
                <a:latin typeface="Inter"/>
              </a:rPr>
              <a:t>Crossplane Compositions, KRO </a:t>
            </a:r>
            <a:r>
              <a:rPr sz="1400" b="0" dirty="0" err="1">
                <a:solidFill>
                  <a:srgbClr val="666666"/>
                </a:solidFill>
                <a:latin typeface="Inter"/>
              </a:rPr>
              <a:t>ResourceGroups</a:t>
            </a:r>
            <a:r>
              <a:rPr sz="1400" b="0" dirty="0">
                <a:solidFill>
                  <a:srgbClr val="666666"/>
                </a:solidFill>
                <a:latin typeface="Inter"/>
              </a:rPr>
              <a:t>, </a:t>
            </a:r>
            <a:r>
              <a:rPr sz="1400" b="0" dirty="0" err="1">
                <a:solidFill>
                  <a:srgbClr val="666666"/>
                </a:solidFill>
                <a:latin typeface="Inter"/>
              </a:rPr>
              <a:t>Terranetes</a:t>
            </a:r>
            <a:r>
              <a:rPr sz="1400" b="0" dirty="0">
                <a:solidFill>
                  <a:srgbClr val="666666"/>
                </a:solidFill>
                <a:latin typeface="Inter"/>
              </a:rPr>
              <a:t> policies</a:t>
            </a:r>
            <a:r>
              <a:rPr lang="en-US" sz="1400" b="0" dirty="0">
                <a:solidFill>
                  <a:srgbClr val="666666"/>
                </a:solidFill>
                <a:latin typeface="Inter"/>
              </a:rPr>
              <a:t>,</a:t>
            </a:r>
            <a:r>
              <a:rPr sz="1400" b="0" dirty="0">
                <a:solidFill>
                  <a:srgbClr val="666666"/>
                </a:solidFill>
                <a:latin typeface="Inter"/>
              </a:rPr>
              <a:t> well-structured schemas AI is very good at generating.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7856220"/>
            <a:ext cx="16002000" cy="571500"/>
          </a:xfrm>
          <a:prstGeom prst="roundRect">
            <a:avLst>
              <a:gd name="adj" fmla="val 0"/>
            </a:avLst>
          </a:prstGeom>
          <a:solidFill>
            <a:srgbClr val="0D0D0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80160" y="8033210"/>
            <a:ext cx="3238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spc="150">
                <a:solidFill>
                  <a:srgbClr val="FFFFFF"/>
                </a:solidFill>
                <a:latin typeface="Inter Bold"/>
              </a:rPr>
              <a:t>THE BOTTLENECK ISN'T THE DEVELOPER.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52951" y="8033210"/>
            <a:ext cx="4762500" cy="1619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spc="75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→  IT'S A PLATFORM THAT DOESN'T SCALE</a:t>
            </a:r>
          </a:p>
        </p:txBody>
      </p:sp>
      <p:pic>
        <p:nvPicPr>
          <p:cNvPr id="28" name="Graphic 27">
            <a:extLst>
              <a:ext uri="{FF2B5EF4-FFF2-40B4-BE49-F238E27FC236}">
                <a16:creationId xmlns:a16="http://schemas.microsoft.com/office/drawing/2014/main" id="{F31CB2EF-4C61-4630-3FFA-AB455EA8423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143000" y="1143000"/>
            <a:ext cx="133350" cy="1333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337310" y="1049655"/>
            <a:ext cx="6667499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spc="300">
                <a:solidFill>
                  <a:srgbClr val="FFFFFF"/>
                </a:solidFill>
                <a:latin typeface="Inter SemiBold"/>
              </a:rPr>
              <a:t>11 / THE WHOLE PICTURE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717621"/>
            <a:ext cx="16002000" cy="619124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FFFFFF"/>
                </a:solidFill>
                <a:latin typeface="Inter Black"/>
              </a:rPr>
              <a:t>THE COMPLETE STACK.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3628211"/>
            <a:ext cx="16002000" cy="2286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spc="150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GIT  →  ARGO CD  →  KUBERNETES API  →  </a:t>
            </a:r>
            <a:r>
              <a:rPr lang="en-US" sz="2000" b="0" spc="150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4</a:t>
            </a:r>
            <a:r>
              <a:rPr sz="2000" b="0" spc="150" dirty="0">
                <a:solidFill>
                  <a:schemeClr val="tx1">
                    <a:lumMod val="50000"/>
                    <a:lumOff val="50000"/>
                  </a:schemeClr>
                </a:solidFill>
                <a:latin typeface="Inter SemiBold"/>
              </a:rPr>
              <a:t> TOOLS  →  AZURE</a:t>
            </a:r>
          </a:p>
        </p:txBody>
      </p:sp>
      <p:sp>
        <p:nvSpPr>
          <p:cNvPr id="9" name="Rectangle 8"/>
          <p:cNvSpPr/>
          <p:nvPr/>
        </p:nvSpPr>
        <p:spPr>
          <a:xfrm>
            <a:off x="1143000" y="4932184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1143000" y="4932184"/>
            <a:ext cx="4857750" cy="47624"/>
          </a:xfrm>
          <a:prstGeom prst="rect">
            <a:avLst/>
          </a:prstGeom>
          <a:solidFill>
            <a:srgbClr val="5555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1242060" y="5076964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225" dirty="0">
                <a:solidFill>
                  <a:srgbClr val="888888"/>
                </a:solidFill>
                <a:latin typeface="Inter Bold"/>
              </a:rPr>
              <a:t>SOURCE OF TRUTH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2060" y="5545587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FFFFFF"/>
                </a:solidFill>
                <a:latin typeface="Inter ExtraBold"/>
              </a:rPr>
              <a:t>Git + Argo CD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42060" y="6042796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chemeClr val="bg1"/>
                </a:solidFill>
                <a:latin typeface="Inter"/>
              </a:rPr>
              <a:t>Every intent starts as a commit. Argo CD continuously reconciles the cluster to match the Git state.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38925" y="4932184"/>
            <a:ext cx="4857750" cy="2857500"/>
          </a:xfrm>
          <a:prstGeom prst="rect">
            <a:avLst/>
          </a:prstGeom>
          <a:solidFill>
            <a:srgbClr val="111111"/>
          </a:solidFill>
          <a:ln w="9525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6638925" y="4932184"/>
            <a:ext cx="4857750" cy="47624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6737984" y="5076964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225" dirty="0">
                <a:solidFill>
                  <a:srgbClr val="6366F1"/>
                </a:solidFill>
                <a:latin typeface="Inter Bold"/>
              </a:rPr>
              <a:t>THE CONTROL PLANE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37984" y="5545587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Inter ExtraBold"/>
              </a:rPr>
              <a:t>Kubernetes API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7984" y="6042796"/>
            <a:ext cx="4476750" cy="1904999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dirty="0">
                <a:solidFill>
                  <a:schemeClr val="bg1"/>
                </a:solidFill>
                <a:latin typeface="Inter"/>
              </a:rPr>
              <a:t>The unified entry point for every team, tool, and automation. One API. One audit trail. Yours.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134850" y="4932184"/>
            <a:ext cx="4857750" cy="28575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Rectangle 19"/>
          <p:cNvSpPr/>
          <p:nvPr/>
        </p:nvSpPr>
        <p:spPr>
          <a:xfrm>
            <a:off x="12134850" y="4932184"/>
            <a:ext cx="4857750" cy="4762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1" name="TextBox 20"/>
          <p:cNvSpPr txBox="1"/>
          <p:nvPr/>
        </p:nvSpPr>
        <p:spPr>
          <a:xfrm>
            <a:off x="12233910" y="5076964"/>
            <a:ext cx="4476750" cy="1524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spc="225">
                <a:solidFill>
                  <a:srgbClr val="10B981"/>
                </a:solidFill>
                <a:latin typeface="Inter Bold"/>
              </a:rPr>
              <a:t>THE PROVISIONERS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233910" y="5545587"/>
            <a:ext cx="447675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rgbClr val="FFFFFF"/>
                </a:solidFill>
                <a:latin typeface="Inter ExtraBold"/>
              </a:rPr>
              <a:t>Four tools. One Azure.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233910" y="5983698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0078D4"/>
                </a:solidFill>
                <a:latin typeface="Inter"/>
              </a:rPr>
              <a:t>— ASO  ·  direct Azure 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233910" y="6286440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b="0" dirty="0">
                <a:solidFill>
                  <a:srgbClr val="EF4444"/>
                </a:solidFill>
                <a:latin typeface="Inter"/>
              </a:rPr>
              <a:t>— </a:t>
            </a:r>
            <a:r>
              <a:rPr b="0" dirty="0" err="1">
                <a:solidFill>
                  <a:srgbClr val="EF4444"/>
                </a:solidFill>
                <a:latin typeface="Inter"/>
              </a:rPr>
              <a:t>Crossplane</a:t>
            </a:r>
            <a:r>
              <a:rPr b="0" dirty="0">
                <a:solidFill>
                  <a:srgbClr val="EF4444"/>
                </a:solidFill>
                <a:latin typeface="Inter"/>
              </a:rPr>
              <a:t>  ·  platform abstractions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233910" y="6900156"/>
            <a:ext cx="4476750" cy="190499"/>
          </a:xfrm>
          <a:prstGeom prst="rect">
            <a:avLst/>
          </a:prstGeom>
          <a:noFill/>
        </p:spPr>
        <p:txBody>
          <a:bodyPr wrap="none"/>
          <a:lstStyle/>
          <a:p>
            <a:r>
              <a:rPr b="0" dirty="0">
                <a:solidFill>
                  <a:srgbClr val="10B981"/>
                </a:solidFill>
                <a:latin typeface="Inter" panose="02000503000000020004" pitchFamily="2" charset="0"/>
                <a:ea typeface="Inter" panose="02000503000000020004" pitchFamily="2" charset="0"/>
              </a:rPr>
              <a:t>— </a:t>
            </a:r>
            <a:r>
              <a:rPr lang="en-US" b="0" dirty="0" err="1">
                <a:solidFill>
                  <a:srgbClr val="10B981"/>
                </a:solidFill>
                <a:latin typeface="Inter" panose="02000503000000020004" pitchFamily="2" charset="0"/>
                <a:ea typeface="Inter" panose="02000503000000020004" pitchFamily="2" charset="0"/>
              </a:rPr>
              <a:t>Terranetes</a:t>
            </a:r>
            <a:r>
              <a:rPr lang="en-US" b="0" dirty="0">
                <a:solidFill>
                  <a:srgbClr val="10B981"/>
                </a:solidFill>
                <a:latin typeface="Inter" panose="02000503000000020004" pitchFamily="2" charset="0"/>
                <a:ea typeface="Inter" panose="02000503000000020004" pitchFamily="2" charset="0"/>
              </a:rPr>
              <a:t> </a:t>
            </a:r>
            <a:r>
              <a:rPr lang="en-US" dirty="0">
                <a:solidFill>
                  <a:srgbClr val="10B981"/>
                </a:solidFill>
                <a:latin typeface="Inter" panose="02000503000000020004" pitchFamily="2" charset="0"/>
                <a:ea typeface="Inter" panose="02000503000000020004" pitchFamily="2" charset="0"/>
              </a:rPr>
              <a:t> ·  Migration Path </a:t>
            </a:r>
            <a:br>
              <a:rPr lang="en-US" dirty="0">
                <a:solidFill>
                  <a:srgbClr val="10B981"/>
                </a:solidFill>
                <a:latin typeface="Inter" panose="02000503000000020004" pitchFamily="2" charset="0"/>
                <a:ea typeface="Inter" panose="02000503000000020004" pitchFamily="2" charset="0"/>
              </a:rPr>
            </a:br>
            <a:r>
              <a:rPr lang="en-US" dirty="0">
                <a:solidFill>
                  <a:srgbClr val="10B981"/>
                </a:solidFill>
                <a:latin typeface="Inter" panose="02000503000000020004" pitchFamily="2" charset="0"/>
                <a:ea typeface="Inter" panose="02000503000000020004" pitchFamily="2" charset="0"/>
              </a:rPr>
              <a:t>                            for existing platforms</a:t>
            </a:r>
            <a:endParaRPr b="0" dirty="0">
              <a:solidFill>
                <a:srgbClr val="10B981"/>
              </a:solidFill>
              <a:latin typeface="Inter" panose="02000503000000020004" pitchFamily="2" charset="0"/>
              <a:ea typeface="Inter" panose="02000503000000020004" pitchFamily="2" charset="0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6099810" y="6029464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Inter Bold"/>
              </a:rPr>
              <a:t>→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595735" y="6029464"/>
            <a:ext cx="285750" cy="28575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chemeClr val="tx1">
                    <a:lumMod val="50000"/>
                    <a:lumOff val="50000"/>
                  </a:schemeClr>
                </a:solidFill>
                <a:latin typeface="Inter Bold"/>
              </a:rPr>
              <a:t>→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0674DD4-2A31-0C20-106C-FBA106132056}"/>
              </a:ext>
            </a:extLst>
          </p:cNvPr>
          <p:cNvSpPr txBox="1"/>
          <p:nvPr/>
        </p:nvSpPr>
        <p:spPr>
          <a:xfrm>
            <a:off x="12220575" y="6595357"/>
            <a:ext cx="4476750" cy="190499"/>
          </a:xfrm>
          <a:prstGeom prst="rect">
            <a:avLst/>
          </a:prstGeom>
          <a:noFill/>
        </p:spPr>
        <p:txBody>
          <a:bodyPr wrap="none"/>
          <a:lstStyle>
            <a:defPPr>
              <a:defRPr lang="en-US"/>
            </a:defPPr>
            <a:lvl1pPr>
              <a:defRPr sz="1600" b="0">
                <a:solidFill>
                  <a:srgbClr val="8B5CF6"/>
                </a:solidFill>
                <a:latin typeface="Inter"/>
              </a:defRPr>
            </a:lvl1pPr>
          </a:lstStyle>
          <a:p>
            <a:r>
              <a:rPr sz="1800" dirty="0"/>
              <a:t>— </a:t>
            </a:r>
            <a:r>
              <a:rPr lang="en-US" sz="1800" dirty="0"/>
              <a:t>KRO  ·  Orchestrations </a:t>
            </a:r>
            <a:endParaRPr sz="1800" dirty="0"/>
          </a:p>
        </p:txBody>
      </p:sp>
      <p:pic>
        <p:nvPicPr>
          <p:cNvPr id="29" name="Graphic 28">
            <a:extLst>
              <a:ext uri="{FF2B5EF4-FFF2-40B4-BE49-F238E27FC236}">
                <a16:creationId xmlns:a16="http://schemas.microsoft.com/office/drawing/2014/main" id="{716DA159-5015-FF75-32EF-AE60389FF9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6611600" y="9504603"/>
            <a:ext cx="1257300" cy="310777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8288000" cy="10287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6200" cy="10287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16383000" y="10096500"/>
            <a:ext cx="1905000" cy="76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16954500" y="1523999"/>
            <a:ext cx="133350" cy="13335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7335500" y="1523999"/>
            <a:ext cx="133350" cy="133350"/>
          </a:xfrm>
          <a:prstGeom prst="ellipse">
            <a:avLst/>
          </a:prstGeom>
          <a:solidFill>
            <a:srgbClr val="FFFFFF">
              <a:alpha val="4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17716500" y="1523999"/>
            <a:ext cx="133350" cy="133350"/>
          </a:xfrm>
          <a:prstGeom prst="ellipse">
            <a:avLst/>
          </a:prstGeom>
          <a:solidFill>
            <a:srgbClr val="FFFFFF">
              <a:alpha val="20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067175" y="845712"/>
            <a:ext cx="13525500" cy="609599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37500" b="1" dirty="0">
                <a:solidFill>
                  <a:srgbClr val="FFFFFF">
                    <a:alpha val="5000"/>
                  </a:srgbClr>
                </a:solidFill>
                <a:latin typeface="Inter Black"/>
              </a:rPr>
              <a:t>PLATFORM</a:t>
            </a:r>
            <a:endParaRPr sz="37500" b="1" dirty="0">
              <a:solidFill>
                <a:srgbClr val="FFFFFF">
                  <a:alpha val="5000"/>
                </a:srgbClr>
              </a:solidFill>
              <a:latin typeface="Inter Black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51560" y="1109182"/>
            <a:ext cx="16002000" cy="1333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000" b="1" dirty="0">
                <a:solidFill>
                  <a:srgbClr val="FFFFFF"/>
                </a:solidFill>
                <a:latin typeface="Inter Black"/>
              </a:rPr>
              <a:t>SELF SERVICE.</a:t>
            </a:r>
            <a:endParaRPr sz="12000" b="1" dirty="0">
              <a:solidFill>
                <a:srgbClr val="FFFFFF"/>
              </a:solidFill>
              <a:latin typeface="Inter Black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51560" y="6248875"/>
            <a:ext cx="16002000" cy="7239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6300" b="1" dirty="0">
                <a:solidFill>
                  <a:schemeClr val="bg1">
                    <a:lumMod val="65000"/>
                  </a:schemeClr>
                </a:solidFill>
                <a:latin typeface="Inter Black"/>
              </a:rPr>
              <a:t>THANK YOU.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28C7C0A-FF45-CD25-88F8-B12DCE2B6D80}"/>
              </a:ext>
            </a:extLst>
          </p:cNvPr>
          <p:cNvSpPr txBox="1"/>
          <p:nvPr/>
        </p:nvSpPr>
        <p:spPr>
          <a:xfrm>
            <a:off x="1051560" y="2718906"/>
            <a:ext cx="16002000" cy="1333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000" b="1" dirty="0" err="1">
                <a:solidFill>
                  <a:srgbClr val="FFFFFF"/>
                </a:solidFill>
                <a:latin typeface="Inter Black"/>
              </a:rPr>
              <a:t>GITOPS</a:t>
            </a:r>
            <a:r>
              <a:rPr lang="en-US" sz="12000" b="1" dirty="0">
                <a:solidFill>
                  <a:srgbClr val="FFFFFF"/>
                </a:solidFill>
                <a:latin typeface="Inter Black"/>
              </a:rPr>
              <a:t>.</a:t>
            </a:r>
            <a:endParaRPr sz="12000" b="1" dirty="0">
              <a:solidFill>
                <a:srgbClr val="FFFFFF"/>
              </a:solidFill>
              <a:latin typeface="Inter Black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BA11505-8E64-4EE2-C9DD-4E678979DA63}"/>
              </a:ext>
            </a:extLst>
          </p:cNvPr>
          <p:cNvSpPr txBox="1"/>
          <p:nvPr/>
        </p:nvSpPr>
        <p:spPr>
          <a:xfrm>
            <a:off x="1051560" y="4444837"/>
            <a:ext cx="16002000" cy="13335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2000" b="1" dirty="0">
                <a:solidFill>
                  <a:srgbClr val="FFFFFF"/>
                </a:solidFill>
                <a:latin typeface="Inter Black"/>
              </a:rPr>
              <a:t>GOLDEN PATHS.</a:t>
            </a:r>
            <a:endParaRPr sz="12000" b="1" dirty="0">
              <a:solidFill>
                <a:srgbClr val="FFFFFF"/>
              </a:solidFill>
              <a:latin typeface="Inter Black"/>
            </a:endParaRP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4F7A216-E72E-4D9A-4FD6-73CC7269A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5035" y="5143500"/>
            <a:ext cx="4492943" cy="4492943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6BA6335B-B85C-2CEA-90E7-97DB3C1851DE}"/>
              </a:ext>
            </a:extLst>
          </p:cNvPr>
          <p:cNvSpPr/>
          <p:nvPr/>
        </p:nvSpPr>
        <p:spPr>
          <a:xfrm>
            <a:off x="1143000" y="8031137"/>
            <a:ext cx="761999" cy="381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5D9B801-B42B-4684-E501-472A209D3190}"/>
              </a:ext>
            </a:extLst>
          </p:cNvPr>
          <p:cNvSpPr txBox="1"/>
          <p:nvPr/>
        </p:nvSpPr>
        <p:spPr>
          <a:xfrm>
            <a:off x="1051560" y="8090192"/>
            <a:ext cx="8572500" cy="438149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50" b="1" dirty="0">
                <a:solidFill>
                  <a:srgbClr val="FFFFFF"/>
                </a:solidFill>
                <a:latin typeface="Inter ExtraBold"/>
              </a:rPr>
              <a:t>Geert van der Cruijsen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4C79080-C93D-7507-9B4B-9458B1C2D8F7}"/>
              </a:ext>
            </a:extLst>
          </p:cNvPr>
          <p:cNvSpPr txBox="1"/>
          <p:nvPr/>
        </p:nvSpPr>
        <p:spPr>
          <a:xfrm>
            <a:off x="1051560" y="8566442"/>
            <a:ext cx="8572500" cy="266700"/>
          </a:xfrm>
          <a:prstGeom prst="rect">
            <a:avLst/>
          </a:prstGeom>
          <a:noFill/>
        </p:spPr>
        <p:txBody>
          <a:bodyPr wrap="none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 spc="75" dirty="0">
                <a:solidFill>
                  <a:srgbClr val="888888"/>
                </a:solidFill>
                <a:latin typeface="Inter"/>
              </a:rPr>
              <a:t>CEO &amp; Co-founder · Zure NL</a:t>
            </a:r>
          </a:p>
        </p:txBody>
      </p:sp>
      <p:sp>
        <p:nvSpPr>
          <p:cNvPr id="20" name="Title 1">
            <a:extLst>
              <a:ext uri="{FF2B5EF4-FFF2-40B4-BE49-F238E27FC236}">
                <a16:creationId xmlns:a16="http://schemas.microsoft.com/office/drawing/2014/main" id="{ACDA2A31-66AF-2693-6E9A-5EC750CC7B6E}"/>
              </a:ext>
            </a:extLst>
          </p:cNvPr>
          <p:cNvSpPr txBox="1">
            <a:spLocks/>
          </p:cNvSpPr>
          <p:nvPr/>
        </p:nvSpPr>
        <p:spPr>
          <a:xfrm rot="21288925">
            <a:off x="6609897" y="8442303"/>
            <a:ext cx="2032788" cy="189483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noProof="0" dirty="0">
                <a:solidFill>
                  <a:schemeClr val="bg1"/>
                </a:solidFill>
                <a:latin typeface="Bradley Hand ITC" panose="020F0502020204030204" pitchFamily="34" charset="0"/>
                <a:cs typeface="Bradley Hand ITC" panose="020F0502020204030204" pitchFamily="34" charset="0"/>
              </a:rPr>
              <a:t>Or connect </a:t>
            </a:r>
          </a:p>
          <a:p>
            <a:r>
              <a:rPr lang="en-US" sz="2000" noProof="0" dirty="0">
                <a:solidFill>
                  <a:schemeClr val="bg1"/>
                </a:solidFill>
                <a:latin typeface="Bradley Hand ITC" panose="020F0502020204030204" pitchFamily="34" charset="0"/>
                <a:cs typeface="Bradley Hand ITC" panose="020F0502020204030204" pitchFamily="34" charset="0"/>
              </a:rPr>
              <a:t>on LinkedIn</a:t>
            </a:r>
          </a:p>
        </p:txBody>
      </p:sp>
      <p:sp>
        <p:nvSpPr>
          <p:cNvPr id="21" name="Title 1">
            <a:extLst>
              <a:ext uri="{FF2B5EF4-FFF2-40B4-BE49-F238E27FC236}">
                <a16:creationId xmlns:a16="http://schemas.microsoft.com/office/drawing/2014/main" id="{99C8EE0D-7D79-90ED-0FB7-DB55DD6FD997}"/>
              </a:ext>
            </a:extLst>
          </p:cNvPr>
          <p:cNvSpPr txBox="1">
            <a:spLocks/>
          </p:cNvSpPr>
          <p:nvPr/>
        </p:nvSpPr>
        <p:spPr>
          <a:xfrm rot="669477">
            <a:off x="5943897" y="7680826"/>
            <a:ext cx="2032788" cy="1894839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noProof="0" dirty="0">
                <a:solidFill>
                  <a:schemeClr val="bg1"/>
                </a:solidFill>
                <a:latin typeface="Bradley Hand ITC" panose="020F0502020204030204" pitchFamily="34" charset="0"/>
                <a:cs typeface="Bradley Hand ITC" panose="020F0502020204030204" pitchFamily="34" charset="0"/>
              </a:rPr>
              <a:t>Let’s Chat</a:t>
            </a:r>
          </a:p>
          <a:p>
            <a:r>
              <a:rPr lang="en-US" sz="2000" noProof="0" dirty="0">
                <a:solidFill>
                  <a:schemeClr val="bg1"/>
                </a:solidFill>
                <a:latin typeface="Bradley Hand ITC" panose="020F0502020204030204" pitchFamily="34" charset="0"/>
                <a:cs typeface="Bradley Hand ITC" panose="020F0502020204030204" pitchFamily="34" charset="0"/>
              </a:rPr>
              <a:t>afterwards!</a:t>
            </a:r>
          </a:p>
        </p:txBody>
      </p:sp>
      <p:sp>
        <p:nvSpPr>
          <p:cNvPr id="22" name="Arc 21">
            <a:extLst>
              <a:ext uri="{FF2B5EF4-FFF2-40B4-BE49-F238E27FC236}">
                <a16:creationId xmlns:a16="http://schemas.microsoft.com/office/drawing/2014/main" id="{70F2B793-6553-06E5-F11C-4D87E2ECF86E}"/>
              </a:ext>
            </a:extLst>
          </p:cNvPr>
          <p:cNvSpPr/>
          <p:nvPr/>
        </p:nvSpPr>
        <p:spPr>
          <a:xfrm rot="7232209">
            <a:off x="5526461" y="7689634"/>
            <a:ext cx="768192" cy="721105"/>
          </a:xfrm>
          <a:custGeom>
            <a:avLst/>
            <a:gdLst>
              <a:gd name="csX0" fmla="*/ 384096 w 768192"/>
              <a:gd name="csY0" fmla="*/ 0 h 721105"/>
              <a:gd name="csX1" fmla="*/ 768192 w 768192"/>
              <a:gd name="csY1" fmla="*/ 360553 h 721105"/>
              <a:gd name="csX2" fmla="*/ 384096 w 768192"/>
              <a:gd name="csY2" fmla="*/ 360553 h 721105"/>
              <a:gd name="csX3" fmla="*/ 384096 w 768192"/>
              <a:gd name="csY3" fmla="*/ 0 h 721105"/>
              <a:gd name="csX0" fmla="*/ 384096 w 768192"/>
              <a:gd name="csY0" fmla="*/ 0 h 721105"/>
              <a:gd name="csX1" fmla="*/ 768192 w 768192"/>
              <a:gd name="csY1" fmla="*/ 360553 h 7211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192" h="721105" stroke="0" extrusionOk="0">
                <a:moveTo>
                  <a:pt x="384096" y="0"/>
                </a:moveTo>
                <a:cubicBezTo>
                  <a:pt x="589064" y="-4418"/>
                  <a:pt x="751454" y="167707"/>
                  <a:pt x="768192" y="360553"/>
                </a:cubicBezTo>
                <a:cubicBezTo>
                  <a:pt x="613079" y="341821"/>
                  <a:pt x="491421" y="346426"/>
                  <a:pt x="384096" y="360553"/>
                </a:cubicBezTo>
                <a:cubicBezTo>
                  <a:pt x="401233" y="254345"/>
                  <a:pt x="383513" y="88372"/>
                  <a:pt x="384096" y="0"/>
                </a:cubicBezTo>
                <a:close/>
              </a:path>
              <a:path w="768192" h="721105" fill="none" extrusionOk="0">
                <a:moveTo>
                  <a:pt x="384096" y="0"/>
                </a:moveTo>
                <a:cubicBezTo>
                  <a:pt x="615924" y="-40539"/>
                  <a:pt x="720043" y="154052"/>
                  <a:pt x="768192" y="360553"/>
                </a:cubicBezTo>
              </a:path>
              <a:path w="768192" h="721105" fill="none" stroke="0" extrusionOk="0">
                <a:moveTo>
                  <a:pt x="384096" y="0"/>
                </a:moveTo>
                <a:cubicBezTo>
                  <a:pt x="640140" y="20982"/>
                  <a:pt x="791497" y="164190"/>
                  <a:pt x="768192" y="360553"/>
                </a:cubicBezTo>
              </a:path>
            </a:pathLst>
          </a:custGeom>
          <a:ln w="12700">
            <a:solidFill>
              <a:schemeClr val="bg1"/>
            </a:solidFill>
            <a:extLst>
              <a:ext uri="{C807C97D-BFC1-408E-A445-0C87EB9F89A2}">
                <ask:lineSketchStyleProps xmlns:ask="http://schemas.microsoft.com/office/drawing/2018/sketchyshapes" sd="1219033472">
                  <a:prstGeom prst="arc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>
              <a:solidFill>
                <a:schemeClr val="bg1"/>
              </a:solidFill>
            </a:endParaRPr>
          </a:p>
        </p:txBody>
      </p:sp>
      <p:pic>
        <p:nvPicPr>
          <p:cNvPr id="23" name="Graphic 22">
            <a:extLst>
              <a:ext uri="{FF2B5EF4-FFF2-40B4-BE49-F238E27FC236}">
                <a16:creationId xmlns:a16="http://schemas.microsoft.com/office/drawing/2014/main" id="{59A746A4-95B1-BE99-0974-EC35B155AB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51560" y="9179167"/>
            <a:ext cx="2541270" cy="628146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500"/>
                            </p:stCondLst>
                            <p:childTnLst>
                              <p:par>
                                <p:cTn id="1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2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2689</TotalTime>
  <Words>1901</Words>
  <Application>Microsoft Macintosh PowerPoint</Application>
  <PresentationFormat>Custom</PresentationFormat>
  <Paragraphs>497</Paragraphs>
  <Slides>48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9" baseType="lpstr">
      <vt:lpstr>Aptos</vt:lpstr>
      <vt:lpstr>Arial</vt:lpstr>
      <vt:lpstr>Bradley Hand ITC</vt:lpstr>
      <vt:lpstr>Calibri</vt:lpstr>
      <vt:lpstr>Inter</vt:lpstr>
      <vt:lpstr>Inter Black</vt:lpstr>
      <vt:lpstr>Inter Bold</vt:lpstr>
      <vt:lpstr>Inter ExtraBold</vt:lpstr>
      <vt:lpstr>Inter Medium</vt:lpstr>
      <vt:lpstr>Inter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Geert van der Cruijsen</cp:lastModifiedBy>
  <cp:revision>17</cp:revision>
  <dcterms:created xsi:type="dcterms:W3CDTF">2013-01-27T09:14:16Z</dcterms:created>
  <dcterms:modified xsi:type="dcterms:W3CDTF">2026-05-13T11:19:24Z</dcterms:modified>
  <cp:category/>
</cp:coreProperties>
</file>